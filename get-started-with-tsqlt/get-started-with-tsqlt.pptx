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  <p:sldMasterId id="2147483677" r:id="rId3"/>
  </p:sldMasterIdLst>
  <p:sldIdLst>
    <p:sldId id="260" r:id="rId4"/>
    <p:sldId id="261" r:id="rId5"/>
    <p:sldId id="281" r:id="rId6"/>
    <p:sldId id="256" r:id="rId7"/>
    <p:sldId id="257" r:id="rId8"/>
    <p:sldId id="262" r:id="rId9"/>
    <p:sldId id="266" r:id="rId10"/>
    <p:sldId id="267" r:id="rId11"/>
    <p:sldId id="268" r:id="rId12"/>
    <p:sldId id="276" r:id="rId13"/>
    <p:sldId id="277" r:id="rId14"/>
    <p:sldId id="279" r:id="rId15"/>
    <p:sldId id="278" r:id="rId16"/>
    <p:sldId id="280" r:id="rId17"/>
    <p:sldId id="275" r:id="rId18"/>
  </p:sldIdLst>
  <p:sldSz cx="12192000" cy="6858000"/>
  <p:notesSz cx="6858000" cy="9144000"/>
  <p:defaultTextStyle>
    <a:defPPr>
      <a:defRPr lang="LID4096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FC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88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08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" Type="http://schemas.openxmlformats.org/officeDocument/2006/relationships/slideMaster" Target="slideMasters/slideMaster3.xml"/><Relationship Id="rId21" Type="http://schemas.openxmlformats.org/officeDocument/2006/relationships/theme" Target="theme/theme1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10" Type="http://schemas.openxmlformats.org/officeDocument/2006/relationships/slide" Target="slides/slide7.xml"/><Relationship Id="rId19" Type="http://schemas.openxmlformats.org/officeDocument/2006/relationships/presProps" Target="pres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686A58-E3F0-3C8A-881A-849FAAAD45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FFDA6E-CE45-423A-BB5B-3E8AB8A24D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771425-148B-2A1D-3615-C44C837CE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9F9ED-2410-4CD1-B5CD-D275AA293E22}" type="datetimeFigureOut">
              <a:rPr lang="LID4096" smtClean="0"/>
              <a:t>09/06/2025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4CAB39-CBF7-5D45-B6F4-BD293D0DD2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79D177-8BBA-8E9E-9608-0BF5556FAB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A4F4BA-9ECE-4834-A1C0-C8A764EAE6AA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787251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3E3A9F-9EF6-E7FB-29A9-EEEA3D2020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EA7EAC-5F2F-8116-CB78-F0AD50592D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A0CE85-1915-01DF-EA86-573A408564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9F9ED-2410-4CD1-B5CD-D275AA293E22}" type="datetimeFigureOut">
              <a:rPr lang="LID4096" smtClean="0"/>
              <a:t>09/06/2025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E7D053-A688-2EDC-256A-CB825EFEE5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5BC8BB-E97C-D98F-9986-BB0D33C36B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A4F4BA-9ECE-4834-A1C0-C8A764EAE6AA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9250003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668191-2D06-5F08-B4A1-354DCCF701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70FAB5-754C-84D7-94E6-9AB3B163AF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2131B7-2BD9-5A2F-91BB-BF96FFB951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9F9ED-2410-4CD1-B5CD-D275AA293E22}" type="datetimeFigureOut">
              <a:rPr lang="LID4096" smtClean="0"/>
              <a:t>09/06/2025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60D639-6C18-47C4-D912-7D1689E53B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A7D33F-7410-572D-04FB-4A7618DA91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A4F4BA-9ECE-4834-A1C0-C8A764EAE6AA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8183062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C2CFC-5269-E54C-873B-B7B7703BC9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C2E675-2389-8C66-23CB-63044824FC4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4EED60-0175-C1CA-F971-131D7C620D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7680E6-D332-C2DE-C229-554D60299B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9F9ED-2410-4CD1-B5CD-D275AA293E22}" type="datetimeFigureOut">
              <a:rPr lang="LID4096" smtClean="0"/>
              <a:t>09/06/2025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0EFC58-47EC-F83A-AC0E-61E28053B3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7E1E1E-8835-8B75-B6FA-03E9320929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A4F4BA-9ECE-4834-A1C0-C8A764EAE6AA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6970342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EB2C89-999E-B67E-638D-A83B5012D4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D18CBF-4287-318B-F601-8715F29C77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69D72E-8694-BF73-A771-F399250E51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0999BB1-2089-2649-04BD-A334E9B3443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C0E7F5F-2FA6-BF28-D148-32F34A8A890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0FA4CD-20F6-A7C9-E943-DEB9AC2334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9F9ED-2410-4CD1-B5CD-D275AA293E22}" type="datetimeFigureOut">
              <a:rPr lang="LID4096" smtClean="0"/>
              <a:t>09/06/2025</a:t>
            </a:fld>
            <a:endParaRPr lang="LID4096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68E906B-2C0D-8009-0882-E84E2C4AEA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4B9D283-0476-2EFC-E62C-11EF465DFE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A4F4BA-9ECE-4834-A1C0-C8A764EAE6AA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6491844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B8CA06-58A8-8963-D581-739E771283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98C6D5E-F6F9-886F-0981-787452929B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9F9ED-2410-4CD1-B5CD-D275AA293E22}" type="datetimeFigureOut">
              <a:rPr lang="LID4096" smtClean="0"/>
              <a:t>09/06/2025</a:t>
            </a:fld>
            <a:endParaRPr lang="LID4096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2E0F769-1E99-3825-04F1-C57A61815B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A5C823-A0D8-D788-E8E9-82C80BFEDC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A4F4BA-9ECE-4834-A1C0-C8A764EAE6AA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152517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236B0BD-4357-4D54-E9A6-DF754A3DE0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9F9ED-2410-4CD1-B5CD-D275AA293E22}" type="datetimeFigureOut">
              <a:rPr lang="LID4096" smtClean="0"/>
              <a:t>09/06/2025</a:t>
            </a:fld>
            <a:endParaRPr lang="LID4096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B371A78-B0BD-15FD-03AA-A05B6070EB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291E6B-165A-128D-4CCB-408D35B66C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A4F4BA-9ECE-4834-A1C0-C8A764EAE6AA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5689814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C9AB3D-2286-6FF1-632A-14EE4DC055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67F29C-D47E-B2D7-7415-2A8838D4EF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59392D-9404-0BD8-D242-E1E19D36D6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BA76F5-2255-9CF7-8F82-9131BD4B81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9F9ED-2410-4CD1-B5CD-D275AA293E22}" type="datetimeFigureOut">
              <a:rPr lang="LID4096" smtClean="0"/>
              <a:t>09/06/2025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92E221-32FC-140F-742C-26DA520987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CFDDD0-AAB5-1049-7B08-5239B46184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A4F4BA-9ECE-4834-A1C0-C8A764EAE6AA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7963349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FC9C1C-5FE0-E180-1897-4FD278331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BE3449-9F82-091A-D787-9BCC4CC5AA5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925B18-4F20-316B-6262-A6957E103B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0697CE-6801-92D3-197D-1579CD8017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9F9ED-2410-4CD1-B5CD-D275AA293E22}" type="datetimeFigureOut">
              <a:rPr lang="LID4096" smtClean="0"/>
              <a:t>09/06/2025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BD6206-FBEA-A984-0210-6C238BFEA4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29243C-1DAA-FB38-3215-E9EA5F844F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A4F4BA-9ECE-4834-A1C0-C8A764EAE6AA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1564453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CF9D6B-05EA-9CC4-AC84-09F5E63401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5E1A6E5-2284-09CF-3343-75CA87B3A0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C76383-DC31-C9F2-9FBD-A288C854CA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9F9ED-2410-4CD1-B5CD-D275AA293E22}" type="datetimeFigureOut">
              <a:rPr lang="LID4096" smtClean="0"/>
              <a:t>09/06/2025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820484-B58C-3F56-BF1A-29CC155CAB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C416E2-FC07-1FD6-31CC-1E05E2F044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A4F4BA-9ECE-4834-A1C0-C8A764EAE6AA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5695398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FEF9FA1-1D44-9514-E5D3-C0D54E4AD3E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3793E8B-41C5-2A01-1DD5-7AA9C79F32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5E87A9-E716-CB04-95A9-FD8B33DE9C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9F9ED-2410-4CD1-B5CD-D275AA293E22}" type="datetimeFigureOut">
              <a:rPr lang="LID4096" smtClean="0"/>
              <a:t>09/06/2025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96FCE7-6368-C762-C73A-FEFD52875D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AF784D-8FA1-65B2-E0F2-BE1DA87B5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A4F4BA-9ECE-4834-A1C0-C8A764EAE6AA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68786028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Rubrik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sv-SE"/>
              <a:t>Klicka här för att ändra mall för rubrikformat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sv-SE"/>
              <a:t>Klicka här för att ändra mall för underrubrikformat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/>
              <a:pPr/>
              <a:t>9/6/2025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/>
              <a:pPr/>
              <a:t>‹#›</a:t>
            </a:fld>
            <a:endParaRPr lang="en-US"/>
          </a:p>
        </p:txBody>
      </p:sp>
      <p:pic>
        <p:nvPicPr>
          <p:cNvPr id="18" name="Bild 17">
            <a:extLst>
              <a:ext uri="{FF2B5EF4-FFF2-40B4-BE49-F238E27FC236}">
                <a16:creationId xmlns:a16="http://schemas.microsoft.com/office/drawing/2014/main" id="{42BCFCD7-74CB-442B-9206-4BBDA1D162E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747593" y="4100975"/>
            <a:ext cx="2736965" cy="2736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398895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Rubrik och innehå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sv-SE"/>
              <a:t>Klicka här för att ändra mall för rubrikformat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/>
              <a:pPr/>
              <a:t>9/6/2025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799378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vsnittsrub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sv-SE"/>
              <a:t>Klicka här för att ändra mall för rubrikformat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/>
              <a:pPr/>
              <a:t>9/6/2025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93771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vå de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mall för rubrikformat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/>
              <a:t>9/6/2025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930304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Jämföre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sv-SE"/>
              <a:t>Klicka här för att ändra mall för rubrikformat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/>
              <a:pPr/>
              <a:t>9/6/2025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841990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Endast rub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sv-SE"/>
              <a:t>Klicka här för att ändra mall för rubrikformat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/>
              <a:pPr/>
              <a:t>9/6/2025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444204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/>
              <a:pPr/>
              <a:t>9/6/2025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248831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ext med bild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sv-SE"/>
              <a:t>Klicka här för att ändra mall för rubrikformat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/>
              <a:t>9/6/2025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681400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ed bild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sv-SE"/>
              <a:t>Klicka här för att ändra mall för rubrikformat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sv-SE"/>
              <a:t>Klicka på ikonen för att lägga till en bild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/>
              <a:pPr/>
              <a:t>9/6/2025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247751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och bild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sv-SE"/>
              <a:t>Klicka här för att ändra mall för rubrikformat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/>
              <a:pPr/>
              <a:t>9/6/2025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53239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 med beskriv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sv-SE"/>
              <a:t>Klicka här för att ändra mall för rubrikformat</a:t>
            </a:r>
            <a:endParaRPr lang="en-US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/>
              <a:pPr/>
              <a:t>9/6/2025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7546879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nko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sv-SE"/>
              <a:t>Klicka här för att ändra mall för rubrikformat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/>
              <a:pPr/>
              <a:t>9/6/2025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851378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nkort för ci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sv-SE"/>
              <a:t>Klicka här för att ändra mall för rubrikformat</a:t>
            </a:r>
            <a:endParaRPr lang="en-US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/>
              <a:pPr/>
              <a:t>9/6/2025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19587975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ant eller fals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sv-SE"/>
              <a:t>Klicka här för att ändra mall för rubrikformat</a:t>
            </a:r>
            <a:endParaRPr lang="en-US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/>
              <a:pPr/>
              <a:t>9/6/2025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308067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Rubrik och lodrä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mall för rubrikformat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/>
              <a:t>9/6/2025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382232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rät rubrik oc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sv-SE"/>
              <a:t>Klicka här för att ändra mall för rubrikformat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/>
              <a:pPr/>
              <a:t>9/6/2025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943431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Rubrik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70F57A4A-2A27-8BB2-4968-5831827389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Underrubrik 2">
            <a:extLst>
              <a:ext uri="{FF2B5EF4-FFF2-40B4-BE49-F238E27FC236}">
                <a16:creationId xmlns:a16="http://schemas.microsoft.com/office/drawing/2014/main" id="{F1EDA261-0E9A-6736-8D3D-B061B35EB5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sv-SE"/>
              <a:t>Klicka här för att ändra mall för underrubrikformat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780902CB-ECCB-AD3F-705E-39FB05B3B3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17FB60-BF3C-4081-9AB7-A4E16EDB9E9D}" type="datetimeFigureOut">
              <a:rPr lang="sv-SE" smtClean="0"/>
              <a:t>2025-09-06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969BC4B8-57BC-E27C-7230-C79EFD9877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9262F283-B0A9-EEBF-BA8C-D2421E6F0B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855755-DE42-431D-889F-A55AD89DA05D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26997572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Rubrik och innehå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777340CB-E5B4-E328-16B5-399CD0E1D7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BD11EF37-ECC1-14DB-FDF8-438962DF97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33A45318-C0E0-28BD-FF04-071EF7A562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17FB60-BF3C-4081-9AB7-A4E16EDB9E9D}" type="datetimeFigureOut">
              <a:rPr lang="sv-SE" smtClean="0"/>
              <a:t>2025-09-06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E82F8C4E-BAF1-689A-F752-0905D2ABA9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CFE13C01-0573-8874-37F0-084AE1CBA1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855755-DE42-431D-889F-A55AD89DA05D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99071032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vsnittsrub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7991EB17-7972-3FE1-2EE1-6476E1317E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Platshållare för text 2">
            <a:extLst>
              <a:ext uri="{FF2B5EF4-FFF2-40B4-BE49-F238E27FC236}">
                <a16:creationId xmlns:a16="http://schemas.microsoft.com/office/drawing/2014/main" id="{DCA7D8AF-572F-6164-371F-78340D6375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071B93D9-E653-E244-1802-D7F855E662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17FB60-BF3C-4081-9AB7-A4E16EDB9E9D}" type="datetimeFigureOut">
              <a:rPr lang="sv-SE" smtClean="0"/>
              <a:t>2025-09-06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CBB48C1C-DB1D-E3C8-69E5-8A8B55B7F6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8BCF13BA-77D0-9041-2E4D-60046AAEF1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855755-DE42-431D-889F-A55AD89DA05D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8578700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vå de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F89A8ECF-F381-AA25-13C6-87AFDA1535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0FFFD47C-DBBA-C696-EDC3-903E173F023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4" name="Platshållare för innehåll 3">
            <a:extLst>
              <a:ext uri="{FF2B5EF4-FFF2-40B4-BE49-F238E27FC236}">
                <a16:creationId xmlns:a16="http://schemas.microsoft.com/office/drawing/2014/main" id="{ABB67142-6563-6166-1A86-07C5F7ED41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5" name="Platshållare för datum 4">
            <a:extLst>
              <a:ext uri="{FF2B5EF4-FFF2-40B4-BE49-F238E27FC236}">
                <a16:creationId xmlns:a16="http://schemas.microsoft.com/office/drawing/2014/main" id="{5C6E62CC-77E1-1AAF-961C-E299820DC5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17FB60-BF3C-4081-9AB7-A4E16EDB9E9D}" type="datetimeFigureOut">
              <a:rPr lang="sv-SE" smtClean="0"/>
              <a:t>2025-09-06</a:t>
            </a:fld>
            <a:endParaRPr lang="sv-SE"/>
          </a:p>
        </p:txBody>
      </p:sp>
      <p:sp>
        <p:nvSpPr>
          <p:cNvPr id="6" name="Platshållare för sidfot 5">
            <a:extLst>
              <a:ext uri="{FF2B5EF4-FFF2-40B4-BE49-F238E27FC236}">
                <a16:creationId xmlns:a16="http://schemas.microsoft.com/office/drawing/2014/main" id="{54BB5857-01B6-0C30-D064-A1BE5C4B5A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Platshållare för bildnummer 6">
            <a:extLst>
              <a:ext uri="{FF2B5EF4-FFF2-40B4-BE49-F238E27FC236}">
                <a16:creationId xmlns:a16="http://schemas.microsoft.com/office/drawing/2014/main" id="{B6C1C410-DB3E-D9E6-2D23-4E225596F3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855755-DE42-431D-889F-A55AD89DA05D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90906273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Jämföre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DB717EE5-DCF7-E6F8-717A-75786E247C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Platshållare för text 2">
            <a:extLst>
              <a:ext uri="{FF2B5EF4-FFF2-40B4-BE49-F238E27FC236}">
                <a16:creationId xmlns:a16="http://schemas.microsoft.com/office/drawing/2014/main" id="{6BDA7E72-0A20-E116-3084-7FF472483C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4" name="Platshållare för innehåll 3">
            <a:extLst>
              <a:ext uri="{FF2B5EF4-FFF2-40B4-BE49-F238E27FC236}">
                <a16:creationId xmlns:a16="http://schemas.microsoft.com/office/drawing/2014/main" id="{6B12EBD6-6362-DD1C-7308-4F1EC10757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5" name="Platshållare för text 4">
            <a:extLst>
              <a:ext uri="{FF2B5EF4-FFF2-40B4-BE49-F238E27FC236}">
                <a16:creationId xmlns:a16="http://schemas.microsoft.com/office/drawing/2014/main" id="{E4B8DE60-1CA3-ACFD-A5AE-10C7AF46D21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6" name="Platshållare för innehåll 5">
            <a:extLst>
              <a:ext uri="{FF2B5EF4-FFF2-40B4-BE49-F238E27FC236}">
                <a16:creationId xmlns:a16="http://schemas.microsoft.com/office/drawing/2014/main" id="{697CDA45-0419-5273-3B74-E7C105C21E9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7" name="Platshållare för datum 6">
            <a:extLst>
              <a:ext uri="{FF2B5EF4-FFF2-40B4-BE49-F238E27FC236}">
                <a16:creationId xmlns:a16="http://schemas.microsoft.com/office/drawing/2014/main" id="{F9602FBE-A3DE-91A3-9244-F5ACD8BB5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17FB60-BF3C-4081-9AB7-A4E16EDB9E9D}" type="datetimeFigureOut">
              <a:rPr lang="sv-SE" smtClean="0"/>
              <a:t>2025-09-06</a:t>
            </a:fld>
            <a:endParaRPr lang="sv-SE"/>
          </a:p>
        </p:txBody>
      </p:sp>
      <p:sp>
        <p:nvSpPr>
          <p:cNvPr id="8" name="Platshållare för sidfot 7">
            <a:extLst>
              <a:ext uri="{FF2B5EF4-FFF2-40B4-BE49-F238E27FC236}">
                <a16:creationId xmlns:a16="http://schemas.microsoft.com/office/drawing/2014/main" id="{3FEB56B8-F1EA-1F7D-5380-5B4BED6883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9" name="Platshållare för bildnummer 8">
            <a:extLst>
              <a:ext uri="{FF2B5EF4-FFF2-40B4-BE49-F238E27FC236}">
                <a16:creationId xmlns:a16="http://schemas.microsoft.com/office/drawing/2014/main" id="{2AD709DC-8201-1FD9-AB2A-64EAA68FB8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855755-DE42-431D-889F-A55AD89DA05D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414051441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Endast rub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E990354C-0BFA-E43E-F4F1-3D999BD926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Platshållare för datum 2">
            <a:extLst>
              <a:ext uri="{FF2B5EF4-FFF2-40B4-BE49-F238E27FC236}">
                <a16:creationId xmlns:a16="http://schemas.microsoft.com/office/drawing/2014/main" id="{F8F25C5D-D569-F9D6-729B-0F438F0A2E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17FB60-BF3C-4081-9AB7-A4E16EDB9E9D}" type="datetimeFigureOut">
              <a:rPr lang="sv-SE" smtClean="0"/>
              <a:t>2025-09-06</a:t>
            </a:fld>
            <a:endParaRPr lang="sv-SE"/>
          </a:p>
        </p:txBody>
      </p:sp>
      <p:sp>
        <p:nvSpPr>
          <p:cNvPr id="4" name="Platshållare för sidfot 3">
            <a:extLst>
              <a:ext uri="{FF2B5EF4-FFF2-40B4-BE49-F238E27FC236}">
                <a16:creationId xmlns:a16="http://schemas.microsoft.com/office/drawing/2014/main" id="{5D66E877-9743-6BF1-B941-CC8FC019CA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5" name="Platshållare för bildnummer 4">
            <a:extLst>
              <a:ext uri="{FF2B5EF4-FFF2-40B4-BE49-F238E27FC236}">
                <a16:creationId xmlns:a16="http://schemas.microsoft.com/office/drawing/2014/main" id="{528F4523-2B5F-F6C6-944B-B6E4451874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855755-DE42-431D-889F-A55AD89DA05D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9434382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datum 1">
            <a:extLst>
              <a:ext uri="{FF2B5EF4-FFF2-40B4-BE49-F238E27FC236}">
                <a16:creationId xmlns:a16="http://schemas.microsoft.com/office/drawing/2014/main" id="{47E44435-7B9D-92AF-540B-DFC25DB7C1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17FB60-BF3C-4081-9AB7-A4E16EDB9E9D}" type="datetimeFigureOut">
              <a:rPr lang="sv-SE" smtClean="0"/>
              <a:t>2025-09-06</a:t>
            </a:fld>
            <a:endParaRPr lang="sv-SE"/>
          </a:p>
        </p:txBody>
      </p:sp>
      <p:sp>
        <p:nvSpPr>
          <p:cNvPr id="3" name="Platshållare för sidfot 2">
            <a:extLst>
              <a:ext uri="{FF2B5EF4-FFF2-40B4-BE49-F238E27FC236}">
                <a16:creationId xmlns:a16="http://schemas.microsoft.com/office/drawing/2014/main" id="{C2D619BC-80F6-0B93-AE02-521AC667DF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Platshållare för bildnummer 3">
            <a:extLst>
              <a:ext uri="{FF2B5EF4-FFF2-40B4-BE49-F238E27FC236}">
                <a16:creationId xmlns:a16="http://schemas.microsoft.com/office/drawing/2014/main" id="{17A19141-7B28-A91F-E0F2-721C2B0B2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855755-DE42-431D-889F-A55AD89DA05D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48906242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ext med bild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BD0A5C3D-F3DE-D632-FE6E-AA2C97F5D7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80D88D97-3BAF-CCEF-20DA-09623CB119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4" name="Platshållare för text 3">
            <a:extLst>
              <a:ext uri="{FF2B5EF4-FFF2-40B4-BE49-F238E27FC236}">
                <a16:creationId xmlns:a16="http://schemas.microsoft.com/office/drawing/2014/main" id="{9D540503-2F21-9662-0F03-8C85B4DAB3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5" name="Platshållare för datum 4">
            <a:extLst>
              <a:ext uri="{FF2B5EF4-FFF2-40B4-BE49-F238E27FC236}">
                <a16:creationId xmlns:a16="http://schemas.microsoft.com/office/drawing/2014/main" id="{AB659DB2-0CF8-7E7D-61BB-8F6697BD1C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17FB60-BF3C-4081-9AB7-A4E16EDB9E9D}" type="datetimeFigureOut">
              <a:rPr lang="sv-SE" smtClean="0"/>
              <a:t>2025-09-06</a:t>
            </a:fld>
            <a:endParaRPr lang="sv-SE"/>
          </a:p>
        </p:txBody>
      </p:sp>
      <p:sp>
        <p:nvSpPr>
          <p:cNvPr id="6" name="Platshållare för sidfot 5">
            <a:extLst>
              <a:ext uri="{FF2B5EF4-FFF2-40B4-BE49-F238E27FC236}">
                <a16:creationId xmlns:a16="http://schemas.microsoft.com/office/drawing/2014/main" id="{6480EB28-7284-89B9-05F4-2A0F49ADF0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Platshållare för bildnummer 6">
            <a:extLst>
              <a:ext uri="{FF2B5EF4-FFF2-40B4-BE49-F238E27FC236}">
                <a16:creationId xmlns:a16="http://schemas.microsoft.com/office/drawing/2014/main" id="{A55CC8C1-23D1-5DEA-E42F-364BD20CA7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855755-DE42-431D-889F-A55AD89DA05D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86221989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ed bild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B539B344-57E8-3046-171C-F66FD05F8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Platshållare för bild 2">
            <a:extLst>
              <a:ext uri="{FF2B5EF4-FFF2-40B4-BE49-F238E27FC236}">
                <a16:creationId xmlns:a16="http://schemas.microsoft.com/office/drawing/2014/main" id="{F06E8EDE-2B1A-BDBE-42A8-F55101F9E60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sv-SE"/>
          </a:p>
        </p:txBody>
      </p:sp>
      <p:sp>
        <p:nvSpPr>
          <p:cNvPr id="4" name="Platshållare för text 3">
            <a:extLst>
              <a:ext uri="{FF2B5EF4-FFF2-40B4-BE49-F238E27FC236}">
                <a16:creationId xmlns:a16="http://schemas.microsoft.com/office/drawing/2014/main" id="{DCE2C55D-13A4-3B25-7509-33725EE952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5" name="Platshållare för datum 4">
            <a:extLst>
              <a:ext uri="{FF2B5EF4-FFF2-40B4-BE49-F238E27FC236}">
                <a16:creationId xmlns:a16="http://schemas.microsoft.com/office/drawing/2014/main" id="{77EF3AE5-6248-DC88-0A95-7F712A51C6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17FB60-BF3C-4081-9AB7-A4E16EDB9E9D}" type="datetimeFigureOut">
              <a:rPr lang="sv-SE" smtClean="0"/>
              <a:t>2025-09-06</a:t>
            </a:fld>
            <a:endParaRPr lang="sv-SE"/>
          </a:p>
        </p:txBody>
      </p:sp>
      <p:sp>
        <p:nvSpPr>
          <p:cNvPr id="6" name="Platshållare för sidfot 5">
            <a:extLst>
              <a:ext uri="{FF2B5EF4-FFF2-40B4-BE49-F238E27FC236}">
                <a16:creationId xmlns:a16="http://schemas.microsoft.com/office/drawing/2014/main" id="{4E80E32F-5C4A-3B9B-50E0-D346B1907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Platshållare för bildnummer 6">
            <a:extLst>
              <a:ext uri="{FF2B5EF4-FFF2-40B4-BE49-F238E27FC236}">
                <a16:creationId xmlns:a16="http://schemas.microsoft.com/office/drawing/2014/main" id="{2C568CDA-6612-12B1-068D-3E883809CF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855755-DE42-431D-889F-A55AD89DA05D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552832468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Rubrik och lodrä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15AE3191-222D-83E2-E1F5-3C641E7E6B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Platshållare för lodrät text 2">
            <a:extLst>
              <a:ext uri="{FF2B5EF4-FFF2-40B4-BE49-F238E27FC236}">
                <a16:creationId xmlns:a16="http://schemas.microsoft.com/office/drawing/2014/main" id="{9E746675-E2E4-C15D-0DA3-95514BEE59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05500CE9-98C0-5825-56C5-0AE950B5E1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17FB60-BF3C-4081-9AB7-A4E16EDB9E9D}" type="datetimeFigureOut">
              <a:rPr lang="sv-SE" smtClean="0"/>
              <a:t>2025-09-06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F89E4652-60C9-6D7C-2678-71E8B6E0BC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ECC05122-8521-0657-0183-A65D51EA5B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855755-DE42-431D-889F-A55AD89DA05D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845514440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rät rubrik oc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drät rubrik 1">
            <a:extLst>
              <a:ext uri="{FF2B5EF4-FFF2-40B4-BE49-F238E27FC236}">
                <a16:creationId xmlns:a16="http://schemas.microsoft.com/office/drawing/2014/main" id="{CD737527-71CF-CE01-F372-9EE08C365C9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Platshållare för lodrät text 2">
            <a:extLst>
              <a:ext uri="{FF2B5EF4-FFF2-40B4-BE49-F238E27FC236}">
                <a16:creationId xmlns:a16="http://schemas.microsoft.com/office/drawing/2014/main" id="{5054B8F6-CF76-9E0C-B9D1-AB487901F1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76FB98AA-FE35-BA41-B745-8AF50D5B62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17FB60-BF3C-4081-9AB7-A4E16EDB9E9D}" type="datetimeFigureOut">
              <a:rPr lang="sv-SE" smtClean="0"/>
              <a:t>2025-09-06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7147481E-EFA0-5604-EA0B-4CD223F6C5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DF467474-F9BF-AFC9-793A-819ED4F4BB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855755-DE42-431D-889F-A55AD89DA05D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0707780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1.xml"/><Relationship Id="rId19" Type="http://schemas.openxmlformats.org/officeDocument/2006/relationships/image" Target="../media/image2.svg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5.xml"/><Relationship Id="rId3" Type="http://schemas.openxmlformats.org/officeDocument/2006/relationships/slideLayout" Target="../slideLayouts/slideLayout30.xml"/><Relationship Id="rId7" Type="http://schemas.openxmlformats.org/officeDocument/2006/relationships/slideLayout" Target="../slideLayouts/slideLayout34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9.xml"/><Relationship Id="rId1" Type="http://schemas.openxmlformats.org/officeDocument/2006/relationships/slideLayout" Target="../slideLayouts/slideLayout28.xml"/><Relationship Id="rId6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8.xml"/><Relationship Id="rId5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7.xml"/><Relationship Id="rId4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E61E12D-A286-B6C1-E107-F4B0D8D035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756572-87B7-2902-0728-41AFF9EE15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ACB777-553E-4D23-C7D4-9D8059D401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89F9ED-2410-4CD1-B5CD-D275AA293E22}" type="datetimeFigureOut">
              <a:rPr lang="LID4096" smtClean="0"/>
              <a:t>09/06/2025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4F4DEB-D6F8-9412-F14C-EEEAB909D4C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470F63-2481-6091-985C-7523AEF10E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A4F4BA-9ECE-4834-A1C0-C8A764EAE6AA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1135426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LID4096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5">
                <a:lumMod val="5000"/>
                <a:lumOff val="95000"/>
              </a:schemeClr>
            </a:gs>
            <a:gs pos="100000">
              <a:srgbClr val="FFCCCC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sv-SE"/>
              <a:t>Klicka här för att ändra mall för rubrikformat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/>
              <a:pPr/>
              <a:t>9/6/2025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/>
              <a:pPr/>
              <a:t>‹#›</a:t>
            </a:fld>
            <a:endParaRPr lang="en-US"/>
          </a:p>
        </p:txBody>
      </p:sp>
      <p:pic>
        <p:nvPicPr>
          <p:cNvPr id="9" name="Bild 8">
            <a:extLst>
              <a:ext uri="{FF2B5EF4-FFF2-40B4-BE49-F238E27FC236}">
                <a16:creationId xmlns:a16="http://schemas.microsoft.com/office/drawing/2014/main" id="{40A61AF8-6CA2-4DC0-AB0C-54B2BDCB308E}"/>
              </a:ext>
            </a:extLst>
          </p:cNvPr>
          <p:cNvPicPr>
            <a:picLocks noChangeAspect="1"/>
          </p:cNvPicPr>
          <p:nvPr userDrawn="1"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10634870" y="4988252"/>
            <a:ext cx="1849688" cy="1849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76377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Roboto Light" panose="02000000000000000000" pitchFamily="2" charset="0"/>
          <a:ea typeface="Roboto Light" panose="02000000000000000000" pitchFamily="2" charset="0"/>
          <a:cs typeface="Roboto Light" panose="02000000000000000000" pitchFamily="2" charset="0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Source Sans Pro" panose="020B0503030403020204" pitchFamily="34" charset="0"/>
          <a:ea typeface="Source Sans Pro" panose="020B0503030403020204" pitchFamily="34" charset="0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Source Sans Pro" panose="020B0503030403020204" pitchFamily="34" charset="0"/>
          <a:ea typeface="Source Sans Pro" panose="020B0503030403020204" pitchFamily="34" charset="0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Source Sans Pro" panose="020B0503030403020204" pitchFamily="34" charset="0"/>
          <a:ea typeface="Source Sans Pro" panose="020B0503030403020204" pitchFamily="34" charset="0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Source Sans Pro" panose="020B0503030403020204" pitchFamily="34" charset="0"/>
          <a:ea typeface="Source Sans Pro" panose="020B0503030403020204" pitchFamily="34" charset="0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Source Sans Pro" panose="020B0503030403020204" pitchFamily="34" charset="0"/>
          <a:ea typeface="Source Sans Pro" panose="020B0503030403020204" pitchFamily="34" charset="0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rubrik 1">
            <a:extLst>
              <a:ext uri="{FF2B5EF4-FFF2-40B4-BE49-F238E27FC236}">
                <a16:creationId xmlns:a16="http://schemas.microsoft.com/office/drawing/2014/main" id="{857F1F53-6748-451A-718E-F6EA308F4D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Platshållare för text 2">
            <a:extLst>
              <a:ext uri="{FF2B5EF4-FFF2-40B4-BE49-F238E27FC236}">
                <a16:creationId xmlns:a16="http://schemas.microsoft.com/office/drawing/2014/main" id="{A90C4885-EAC9-6492-A642-F02C23518A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63F0E55A-0598-5F95-661D-9D844D9113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17FB60-BF3C-4081-9AB7-A4E16EDB9E9D}" type="datetimeFigureOut">
              <a:rPr lang="sv-SE" smtClean="0"/>
              <a:t>2025-09-06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F7C21EE0-170C-18B8-07C0-D077124395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sv-SE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D92E3172-FA6F-677C-3254-E602B0FE11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855755-DE42-431D-889F-A55AD89DA05D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1295275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v-S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8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9EEC31-E066-4E62-BAAB-C170893FFE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2257" y="1838476"/>
            <a:ext cx="10668000" cy="1646302"/>
          </a:xfrm>
        </p:spPr>
        <p:txBody>
          <a:bodyPr/>
          <a:lstStyle/>
          <a:p>
            <a:r>
              <a:rPr lang="en-US" sz="3200" dirty="0"/>
              <a:t>Get Started With </a:t>
            </a:r>
            <a:r>
              <a:rPr lang="en-US" sz="3200" dirty="0" err="1"/>
              <a:t>tSQLt</a:t>
            </a:r>
            <a:endParaRPr lang="en-US" sz="32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9B0E28-205D-4B8D-B72F-75D77CF2161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Magnus Ahlkvist</a:t>
            </a:r>
          </a:p>
          <a:p>
            <a:r>
              <a:rPr lang="en-US" dirty="0"/>
              <a:t>He/Him</a:t>
            </a:r>
          </a:p>
        </p:txBody>
      </p:sp>
      <p:pic>
        <p:nvPicPr>
          <p:cNvPr id="5" name="Picture 4" descr="A picture containing person, looking, cellphone, phone&#10;&#10;Description automatically generated">
            <a:extLst>
              <a:ext uri="{FF2B5EF4-FFF2-40B4-BE49-F238E27FC236}">
                <a16:creationId xmlns:a16="http://schemas.microsoft.com/office/drawing/2014/main" id="{099A75BC-ED83-4232-8CE1-447DBDA9BC2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0596"/>
          <a:stretch/>
        </p:blipFill>
        <p:spPr>
          <a:xfrm>
            <a:off x="0" y="0"/>
            <a:ext cx="426991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71881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70C438DB-20F7-4B34-8E2C-4BF45E7293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Session </a:t>
            </a:r>
            <a:r>
              <a:rPr lang="sv-SE" dirty="0" err="1"/>
              <a:t>contents</a:t>
            </a:r>
            <a:endParaRPr lang="sv-SE" dirty="0"/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3308BB25-8932-48AF-AEB6-FF932D5D49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1800" dirty="0">
                <a:solidFill>
                  <a:schemeClr val="accent2"/>
                </a:solidFill>
              </a:rPr>
              <a:t>What is a unit test?</a:t>
            </a:r>
          </a:p>
          <a:p>
            <a:r>
              <a:rPr lang="en-IN" dirty="0">
                <a:solidFill>
                  <a:schemeClr val="accent2"/>
                </a:solidFill>
              </a:rPr>
              <a:t>Why should I care?</a:t>
            </a:r>
          </a:p>
          <a:p>
            <a:r>
              <a:rPr lang="en-IN" sz="1800" dirty="0">
                <a:solidFill>
                  <a:schemeClr val="accent2"/>
                </a:solidFill>
              </a:rPr>
              <a:t>What is </a:t>
            </a:r>
            <a:r>
              <a:rPr lang="en-IN" sz="1800" dirty="0" err="1">
                <a:solidFill>
                  <a:schemeClr val="accent2"/>
                </a:solidFill>
              </a:rPr>
              <a:t>tSQLt</a:t>
            </a:r>
            <a:r>
              <a:rPr lang="en-IN" sz="1800" dirty="0">
                <a:solidFill>
                  <a:schemeClr val="accent2"/>
                </a:solidFill>
              </a:rPr>
              <a:t>?</a:t>
            </a:r>
          </a:p>
          <a:p>
            <a:r>
              <a:rPr lang="en-IN" dirty="0">
                <a:solidFill>
                  <a:schemeClr val="accent2"/>
                </a:solidFill>
              </a:rPr>
              <a:t>How do I use </a:t>
            </a:r>
            <a:r>
              <a:rPr lang="en-IN" dirty="0" err="1">
                <a:solidFill>
                  <a:schemeClr val="accent2"/>
                </a:solidFill>
              </a:rPr>
              <a:t>tSQLt</a:t>
            </a:r>
            <a:r>
              <a:rPr lang="en-IN" dirty="0">
                <a:solidFill>
                  <a:schemeClr val="accent2"/>
                </a:solidFill>
              </a:rPr>
              <a:t>?</a:t>
            </a:r>
          </a:p>
          <a:p>
            <a:pPr lvl="1"/>
            <a:r>
              <a:rPr lang="en-IN" dirty="0">
                <a:solidFill>
                  <a:schemeClr val="accent2"/>
                </a:solidFill>
              </a:rPr>
              <a:t>DEMO</a:t>
            </a:r>
          </a:p>
          <a:p>
            <a:endParaRPr lang="en-IN" sz="1800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5913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18E71A-CC80-C630-75CE-AFC222C8A0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 anchor="t">
            <a:normAutofit/>
          </a:bodyPr>
          <a:lstStyle/>
          <a:p>
            <a:r>
              <a:rPr lang="en-GB" dirty="0"/>
              <a:t>Every time you attend an event without visiting the sponsors…</a:t>
            </a:r>
            <a:endParaRPr lang="LID4096" dirty="0"/>
          </a:p>
        </p:txBody>
      </p:sp>
      <p:pic>
        <p:nvPicPr>
          <p:cNvPr id="1026" name="Picture 2" descr="Sad kitten stock photo. Image of spoil, meow, breed ...">
            <a:extLst>
              <a:ext uri="{FF2B5EF4-FFF2-40B4-BE49-F238E27FC236}">
                <a16:creationId xmlns:a16="http://schemas.microsoft.com/office/drawing/2014/main" id="{DBA47FCF-40F5-4DF5-F7D7-243DB2B28D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3124" y="1930400"/>
            <a:ext cx="2105088" cy="30609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1D7CD4C3-7109-36C2-F90E-B8B3BF3D3611}"/>
              </a:ext>
            </a:extLst>
          </p:cNvPr>
          <p:cNvSpPr txBox="1">
            <a:spLocks/>
          </p:cNvSpPr>
          <p:nvPr/>
        </p:nvSpPr>
        <p:spPr>
          <a:xfrm>
            <a:off x="677334" y="5217763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GB" dirty="0"/>
              <a:t>…a kitten is killed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19715550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ruta 3">
            <a:extLst>
              <a:ext uri="{FF2B5EF4-FFF2-40B4-BE49-F238E27FC236}">
                <a16:creationId xmlns:a16="http://schemas.microsoft.com/office/drawing/2014/main" id="{7B6ECFC8-D962-81BC-8CD8-9E0404E25B1B}"/>
              </a:ext>
            </a:extLst>
          </p:cNvPr>
          <p:cNvSpPr txBox="1"/>
          <p:nvPr/>
        </p:nvSpPr>
        <p:spPr>
          <a:xfrm>
            <a:off x="0" y="366420"/>
            <a:ext cx="1219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v-SE" sz="4800" b="0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Data </a:t>
            </a:r>
            <a:r>
              <a:rPr kumimoji="0" lang="sv-SE" sz="4800" b="0" i="0" u="none" strike="noStrike" kern="1200" cap="none" spc="0" normalizeH="0" baseline="0" noProof="0" dirty="0" err="1">
                <a:ln>
                  <a:noFill/>
                </a:ln>
                <a:solidFill>
                  <a:srgbClr val="4472C4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Saturday</a:t>
            </a:r>
            <a:r>
              <a:rPr kumimoji="0" lang="sv-SE" sz="4800" b="0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Gothenburg 2025</a:t>
            </a:r>
          </a:p>
        </p:txBody>
      </p:sp>
      <p:sp>
        <p:nvSpPr>
          <p:cNvPr id="5" name="textruta 4">
            <a:extLst>
              <a:ext uri="{FF2B5EF4-FFF2-40B4-BE49-F238E27FC236}">
                <a16:creationId xmlns:a16="http://schemas.microsoft.com/office/drawing/2014/main" id="{4DEFE1A2-D309-13ED-8FEF-45BF7CFE4747}"/>
              </a:ext>
            </a:extLst>
          </p:cNvPr>
          <p:cNvSpPr txBox="1"/>
          <p:nvPr/>
        </p:nvSpPr>
        <p:spPr>
          <a:xfrm>
            <a:off x="0" y="1197417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v-SE" sz="3600" b="0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Sponsors</a:t>
            </a:r>
          </a:p>
        </p:txBody>
      </p:sp>
      <p:pic>
        <p:nvPicPr>
          <p:cNvPr id="3" name="Bildobjekt 2">
            <a:extLst>
              <a:ext uri="{FF2B5EF4-FFF2-40B4-BE49-F238E27FC236}">
                <a16:creationId xmlns:a16="http://schemas.microsoft.com/office/drawing/2014/main" id="{25D87688-2C1D-CC29-07BE-0E9F33D776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93271" y="2011777"/>
            <a:ext cx="2847038" cy="2447453"/>
          </a:xfrm>
          <a:prstGeom prst="rect">
            <a:avLst/>
          </a:prstGeom>
        </p:spPr>
      </p:pic>
      <p:pic>
        <p:nvPicPr>
          <p:cNvPr id="7" name="Bildobjekt 6">
            <a:extLst>
              <a:ext uri="{FF2B5EF4-FFF2-40B4-BE49-F238E27FC236}">
                <a16:creationId xmlns:a16="http://schemas.microsoft.com/office/drawing/2014/main" id="{66C0E78F-5E57-44E8-1A2D-E435DDB36C1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0389" y="3107484"/>
            <a:ext cx="1464479" cy="1642407"/>
          </a:xfrm>
          <a:prstGeom prst="rect">
            <a:avLst/>
          </a:prstGeom>
        </p:spPr>
      </p:pic>
      <p:sp>
        <p:nvSpPr>
          <p:cNvPr id="14" name="textruta 13">
            <a:extLst>
              <a:ext uri="{FF2B5EF4-FFF2-40B4-BE49-F238E27FC236}">
                <a16:creationId xmlns:a16="http://schemas.microsoft.com/office/drawing/2014/main" id="{43BFEBBE-BC81-EE8B-9C5A-85333ED88EC4}"/>
              </a:ext>
            </a:extLst>
          </p:cNvPr>
          <p:cNvSpPr txBox="1"/>
          <p:nvPr/>
        </p:nvSpPr>
        <p:spPr>
          <a:xfrm>
            <a:off x="5458464" y="3793671"/>
            <a:ext cx="24009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v-SE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 </a:t>
            </a:r>
            <a:r>
              <a:rPr kumimoji="0" lang="sv-SE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after</a:t>
            </a:r>
            <a:r>
              <a:rPr kumimoji="0" lang="sv-SE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-party sponsor</a:t>
            </a:r>
          </a:p>
        </p:txBody>
      </p:sp>
      <p:pic>
        <p:nvPicPr>
          <p:cNvPr id="11" name="Bildobjekt 10">
            <a:extLst>
              <a:ext uri="{FF2B5EF4-FFF2-40B4-BE49-F238E27FC236}">
                <a16:creationId xmlns:a16="http://schemas.microsoft.com/office/drawing/2014/main" id="{63CC983B-87A9-E1A1-DCB8-D2EC93CAAC2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6336" y="6214734"/>
            <a:ext cx="1664079" cy="457304"/>
          </a:xfrm>
          <a:prstGeom prst="rect">
            <a:avLst/>
          </a:prstGeom>
        </p:spPr>
      </p:pic>
      <p:pic>
        <p:nvPicPr>
          <p:cNvPr id="12" name="Bildobjekt 11" descr="En bild som visar svart, mörker&#10;&#10;Automatiskt genererad beskrivning">
            <a:extLst>
              <a:ext uri="{FF2B5EF4-FFF2-40B4-BE49-F238E27FC236}">
                <a16:creationId xmlns:a16="http://schemas.microsoft.com/office/drawing/2014/main" id="{095F5C9C-4F9C-985A-DA14-6DD6AC5F858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962" y="2763931"/>
            <a:ext cx="4045212" cy="1330137"/>
          </a:xfrm>
          <a:prstGeom prst="rect">
            <a:avLst/>
          </a:prstGeom>
        </p:spPr>
      </p:pic>
      <p:pic>
        <p:nvPicPr>
          <p:cNvPr id="16" name="Bild 15">
            <a:extLst>
              <a:ext uri="{FF2B5EF4-FFF2-40B4-BE49-F238E27FC236}">
                <a16:creationId xmlns:a16="http://schemas.microsoft.com/office/drawing/2014/main" id="{F7720950-5BCF-4931-E663-312FBD0AF67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252357" y="4967968"/>
            <a:ext cx="3200400" cy="1200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71153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 err="1"/>
              <a:t>About</a:t>
            </a:r>
            <a:r>
              <a:rPr lang="sv-SE" dirty="0"/>
              <a:t> Magnus</a:t>
            </a:r>
          </a:p>
        </p:txBody>
      </p:sp>
      <p:sp>
        <p:nvSpPr>
          <p:cNvPr id="3" name="Platshållare för innehåll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sv-SE" dirty="0"/>
              <a:t>SQL Server </a:t>
            </a:r>
            <a:r>
              <a:rPr lang="sv-SE" dirty="0" err="1"/>
              <a:t>consultant</a:t>
            </a:r>
            <a:r>
              <a:rPr lang="sv-SE" dirty="0"/>
              <a:t> </a:t>
            </a:r>
            <a:r>
              <a:rPr lang="sv-SE" dirty="0" err="1"/>
              <a:t>Transmokopter</a:t>
            </a:r>
            <a:r>
              <a:rPr lang="sv-SE" dirty="0"/>
              <a:t> SQL AB</a:t>
            </a:r>
          </a:p>
          <a:p>
            <a:r>
              <a:rPr lang="sv-SE" dirty="0"/>
              <a:t>Data Platform MVP</a:t>
            </a:r>
          </a:p>
          <a:p>
            <a:r>
              <a:rPr lang="sv-SE" dirty="0"/>
              <a:t>Social media: @transmokopter</a:t>
            </a:r>
          </a:p>
          <a:p>
            <a:r>
              <a:rPr lang="sv-SE" dirty="0"/>
              <a:t>E-mail: magnus@transmokopter.se</a:t>
            </a:r>
          </a:p>
        </p:txBody>
      </p:sp>
      <p:pic>
        <p:nvPicPr>
          <p:cNvPr id="3074" name="Picture 2" descr="It's SQL Friday">
            <a:extLst>
              <a:ext uri="{FF2B5EF4-FFF2-40B4-BE49-F238E27FC236}">
                <a16:creationId xmlns:a16="http://schemas.microsoft.com/office/drawing/2014/main" id="{55C1E9F1-1FC2-A8A4-2E27-8848A1CD7A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42553" y="816638"/>
            <a:ext cx="2857500" cy="2228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>
            <a:extLst>
              <a:ext uri="{FF2B5EF4-FFF2-40B4-BE49-F238E27FC236}">
                <a16:creationId xmlns:a16="http://schemas.microsoft.com/office/drawing/2014/main" id="{49FB2397-446C-E023-AC9C-4F7894C1DD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42553" y="3429000"/>
            <a:ext cx="1724025" cy="704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6832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C0ABE2-36CA-C8B9-6789-17B8F006C7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 err="1"/>
              <a:t>What</a:t>
            </a:r>
            <a:r>
              <a:rPr lang="sv-SE" dirty="0"/>
              <a:t> is a </a:t>
            </a:r>
            <a:r>
              <a:rPr lang="sv-SE" dirty="0" err="1"/>
              <a:t>unit</a:t>
            </a:r>
            <a:r>
              <a:rPr lang="sv-SE" dirty="0"/>
              <a:t> test?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761E14-6272-C96A-D06B-C232921551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Char char="-"/>
            </a:pPr>
            <a:r>
              <a:rPr lang="en-GB" dirty="0"/>
              <a:t>Test  a single </a:t>
            </a:r>
            <a:r>
              <a:rPr lang="en-GB" dirty="0" err="1"/>
              <a:t>single</a:t>
            </a:r>
            <a:r>
              <a:rPr lang="en-GB" dirty="0"/>
              <a:t> “unit of work”</a:t>
            </a:r>
          </a:p>
          <a:p>
            <a:pPr lvl="1">
              <a:buFontTx/>
              <a:buChar char="-"/>
            </a:pPr>
            <a:r>
              <a:rPr lang="en-GB" dirty="0"/>
              <a:t>A function or method</a:t>
            </a:r>
          </a:p>
          <a:p>
            <a:pPr lvl="1">
              <a:buFontTx/>
              <a:buChar char="-"/>
            </a:pPr>
            <a:r>
              <a:rPr lang="en-GB" dirty="0"/>
              <a:t>A stored procedure</a:t>
            </a:r>
          </a:p>
          <a:p>
            <a:pPr lvl="1">
              <a:buFontTx/>
              <a:buChar char="-"/>
            </a:pPr>
            <a:r>
              <a:rPr lang="en-GB" dirty="0"/>
              <a:t>The schema of a table</a:t>
            </a:r>
          </a:p>
          <a:p>
            <a:pPr lvl="1">
              <a:buFontTx/>
              <a:buChar char="-"/>
            </a:pPr>
            <a:r>
              <a:rPr lang="en-GB" dirty="0"/>
              <a:t>A column constraint</a:t>
            </a:r>
          </a:p>
          <a:p>
            <a:pPr>
              <a:buFontTx/>
              <a:buChar char="-"/>
            </a:pPr>
            <a:r>
              <a:rPr lang="en-GB" dirty="0"/>
              <a:t>Don’t test anything else</a:t>
            </a:r>
          </a:p>
          <a:p>
            <a:pPr lvl="1">
              <a:buFontTx/>
              <a:buChar char="-"/>
            </a:pPr>
            <a:r>
              <a:rPr lang="en-GB" dirty="0"/>
              <a:t>External dependencies</a:t>
            </a:r>
          </a:p>
          <a:p>
            <a:pPr lvl="1">
              <a:buFontTx/>
              <a:buChar char="-"/>
            </a:pPr>
            <a:r>
              <a:rPr lang="en-GB" dirty="0"/>
              <a:t>Another unit of work</a:t>
            </a:r>
          </a:p>
          <a:p>
            <a:pPr lvl="1">
              <a:buFontTx/>
              <a:buChar char="-"/>
            </a:pPr>
            <a:r>
              <a:rPr lang="en-GB" dirty="0"/>
              <a:t>Not every test should be an integration test!</a:t>
            </a:r>
          </a:p>
        </p:txBody>
      </p:sp>
    </p:spTree>
    <p:extLst>
      <p:ext uri="{BB962C8B-B14F-4D97-AF65-F5344CB8AC3E}">
        <p14:creationId xmlns:p14="http://schemas.microsoft.com/office/powerpoint/2010/main" val="37095610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C515B2-B502-7D47-93D3-64DA9B5F09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Why should I care (about unit testing)?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261D60-07B0-846A-C7FE-7034E0E293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v-SE" dirty="0" err="1"/>
              <a:t>Unit</a:t>
            </a:r>
            <a:r>
              <a:rPr lang="sv-SE" dirty="0"/>
              <a:t> </a:t>
            </a:r>
            <a:r>
              <a:rPr lang="sv-SE" dirty="0" err="1"/>
              <a:t>testing</a:t>
            </a:r>
            <a:r>
              <a:rPr lang="sv-SE" dirty="0"/>
              <a:t> =&gt; </a:t>
            </a:r>
            <a:r>
              <a:rPr lang="sv-SE" dirty="0" err="1"/>
              <a:t>Mock</a:t>
            </a:r>
            <a:r>
              <a:rPr lang="sv-SE" dirty="0"/>
              <a:t> </a:t>
            </a:r>
            <a:r>
              <a:rPr lang="sv-SE" dirty="0" err="1"/>
              <a:t>external</a:t>
            </a:r>
            <a:r>
              <a:rPr lang="sv-SE" dirty="0"/>
              <a:t> </a:t>
            </a:r>
            <a:r>
              <a:rPr lang="sv-SE" dirty="0" err="1"/>
              <a:t>dependencies</a:t>
            </a:r>
            <a:endParaRPr lang="sv-SE" dirty="0"/>
          </a:p>
          <a:p>
            <a:r>
              <a:rPr lang="sv-SE" dirty="0" err="1"/>
              <a:t>Database</a:t>
            </a:r>
            <a:r>
              <a:rPr lang="sv-SE" dirty="0"/>
              <a:t> is an </a:t>
            </a:r>
            <a:r>
              <a:rPr lang="sv-SE" dirty="0" err="1"/>
              <a:t>external</a:t>
            </a:r>
            <a:r>
              <a:rPr lang="sv-SE" dirty="0"/>
              <a:t> </a:t>
            </a:r>
            <a:r>
              <a:rPr lang="sv-SE" dirty="0" err="1"/>
              <a:t>dependency</a:t>
            </a:r>
            <a:r>
              <a:rPr lang="sv-SE" dirty="0"/>
              <a:t> to the C# </a:t>
            </a:r>
            <a:r>
              <a:rPr lang="sv-SE" dirty="0" err="1"/>
              <a:t>code</a:t>
            </a:r>
            <a:r>
              <a:rPr lang="sv-SE" dirty="0"/>
              <a:t>.</a:t>
            </a:r>
          </a:p>
          <a:p>
            <a:r>
              <a:rPr lang="sv-SE" dirty="0" err="1"/>
              <a:t>Who</a:t>
            </a:r>
            <a:r>
              <a:rPr lang="sv-SE" dirty="0"/>
              <a:t> </a:t>
            </a:r>
            <a:r>
              <a:rPr lang="sv-SE" dirty="0" err="1"/>
              <a:t>will</a:t>
            </a:r>
            <a:r>
              <a:rPr lang="sv-SE" dirty="0"/>
              <a:t> </a:t>
            </a:r>
            <a:r>
              <a:rPr lang="sv-SE" dirty="0" err="1"/>
              <a:t>then</a:t>
            </a:r>
            <a:r>
              <a:rPr lang="sv-SE" dirty="0"/>
              <a:t> </a:t>
            </a:r>
            <a:r>
              <a:rPr lang="sv-SE" dirty="0" err="1"/>
              <a:t>unit</a:t>
            </a:r>
            <a:r>
              <a:rPr lang="sv-SE" dirty="0"/>
              <a:t> test the </a:t>
            </a:r>
            <a:r>
              <a:rPr lang="sv-SE" dirty="0" err="1"/>
              <a:t>database</a:t>
            </a:r>
            <a:r>
              <a:rPr lang="sv-SE" dirty="0"/>
              <a:t> </a:t>
            </a:r>
            <a:r>
              <a:rPr lang="sv-SE" dirty="0" err="1"/>
              <a:t>code</a:t>
            </a:r>
            <a:r>
              <a:rPr lang="sv-SE" dirty="0"/>
              <a:t>?</a:t>
            </a:r>
          </a:p>
          <a:p>
            <a:pPr lvl="1"/>
            <a:r>
              <a:rPr lang="sv-SE" dirty="0"/>
              <a:t>YOU </a:t>
            </a:r>
            <a:r>
              <a:rPr lang="sv-SE" dirty="0" err="1"/>
              <a:t>will</a:t>
            </a:r>
            <a:r>
              <a:rPr lang="sv-SE" dirty="0"/>
              <a:t>. Or </a:t>
            </a:r>
            <a:r>
              <a:rPr lang="sv-SE" dirty="0" err="1"/>
              <a:t>You</a:t>
            </a:r>
            <a:r>
              <a:rPr lang="sv-SE" dirty="0"/>
              <a:t> </a:t>
            </a:r>
            <a:r>
              <a:rPr lang="sv-SE" dirty="0" err="1"/>
              <a:t>should</a:t>
            </a:r>
            <a:r>
              <a:rPr lang="sv-SE" dirty="0"/>
              <a:t>.</a:t>
            </a:r>
          </a:p>
          <a:p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29971361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4E078C-BA94-EBB5-892E-8D75B50C24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How to unit test database code?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FA598C-9D16-9B0F-1195-B0F10F8C8C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v-SE" dirty="0"/>
              <a:t>Same </a:t>
            </a:r>
            <a:r>
              <a:rPr lang="sv-SE" dirty="0" err="1"/>
              <a:t>basics</a:t>
            </a:r>
            <a:r>
              <a:rPr lang="sv-SE" dirty="0"/>
              <a:t> as C#, Java or </a:t>
            </a:r>
            <a:r>
              <a:rPr lang="sv-SE" dirty="0" err="1"/>
              <a:t>any</a:t>
            </a:r>
            <a:r>
              <a:rPr lang="sv-SE" dirty="0"/>
              <a:t> </a:t>
            </a:r>
            <a:r>
              <a:rPr lang="sv-SE" dirty="0" err="1"/>
              <a:t>other</a:t>
            </a:r>
            <a:r>
              <a:rPr lang="sv-SE" dirty="0"/>
              <a:t> </a:t>
            </a:r>
            <a:r>
              <a:rPr lang="sv-SE" dirty="0" err="1"/>
              <a:t>code’s</a:t>
            </a:r>
            <a:r>
              <a:rPr lang="sv-SE" dirty="0"/>
              <a:t> </a:t>
            </a:r>
            <a:r>
              <a:rPr lang="sv-SE" dirty="0" err="1"/>
              <a:t>unit</a:t>
            </a:r>
            <a:r>
              <a:rPr lang="sv-SE" dirty="0"/>
              <a:t> tests.</a:t>
            </a:r>
          </a:p>
          <a:p>
            <a:r>
              <a:rPr lang="sv-SE" dirty="0"/>
              <a:t>Test </a:t>
            </a:r>
            <a:r>
              <a:rPr lang="sv-SE" dirty="0" err="1"/>
              <a:t>single</a:t>
            </a:r>
            <a:r>
              <a:rPr lang="sv-SE" dirty="0"/>
              <a:t> </a:t>
            </a:r>
            <a:r>
              <a:rPr lang="sv-SE" dirty="0" err="1"/>
              <a:t>units</a:t>
            </a:r>
            <a:r>
              <a:rPr lang="sv-SE" dirty="0"/>
              <a:t> </a:t>
            </a:r>
            <a:r>
              <a:rPr lang="sv-SE" dirty="0" err="1"/>
              <a:t>of</a:t>
            </a:r>
            <a:r>
              <a:rPr lang="sv-SE" dirty="0"/>
              <a:t> </a:t>
            </a:r>
            <a:r>
              <a:rPr lang="sv-SE" dirty="0" err="1"/>
              <a:t>work</a:t>
            </a:r>
            <a:endParaRPr lang="sv-SE" dirty="0"/>
          </a:p>
          <a:p>
            <a:r>
              <a:rPr lang="sv-SE" dirty="0" err="1"/>
              <a:t>Don’t</a:t>
            </a:r>
            <a:r>
              <a:rPr lang="sv-SE" dirty="0"/>
              <a:t> </a:t>
            </a:r>
            <a:r>
              <a:rPr lang="sv-SE" dirty="0" err="1"/>
              <a:t>rely</a:t>
            </a:r>
            <a:r>
              <a:rPr lang="sv-SE" dirty="0"/>
              <a:t> on </a:t>
            </a:r>
            <a:r>
              <a:rPr lang="sv-SE" dirty="0" err="1"/>
              <a:t>other</a:t>
            </a:r>
            <a:r>
              <a:rPr lang="sv-SE" dirty="0"/>
              <a:t> services or </a:t>
            </a:r>
            <a:r>
              <a:rPr lang="sv-SE" dirty="0" err="1"/>
              <a:t>objects</a:t>
            </a:r>
            <a:endParaRPr lang="sv-SE" dirty="0"/>
          </a:p>
          <a:p>
            <a:r>
              <a:rPr lang="sv-SE" b="1" dirty="0" err="1"/>
              <a:t>Don’t</a:t>
            </a:r>
            <a:r>
              <a:rPr lang="sv-SE" b="1" dirty="0"/>
              <a:t> </a:t>
            </a:r>
            <a:r>
              <a:rPr lang="sv-SE" b="1" dirty="0" err="1"/>
              <a:t>rely</a:t>
            </a:r>
            <a:r>
              <a:rPr lang="sv-SE" b="1" dirty="0"/>
              <a:t> on data</a:t>
            </a:r>
          </a:p>
          <a:p>
            <a:pPr lvl="1"/>
            <a:r>
              <a:rPr lang="sv-SE" dirty="0" err="1"/>
              <a:t>Create</a:t>
            </a:r>
            <a:r>
              <a:rPr lang="sv-SE" dirty="0"/>
              <a:t> </a:t>
            </a:r>
            <a:r>
              <a:rPr lang="sv-SE" dirty="0" err="1"/>
              <a:t>your</a:t>
            </a:r>
            <a:r>
              <a:rPr lang="sv-SE" dirty="0"/>
              <a:t> </a:t>
            </a:r>
            <a:r>
              <a:rPr lang="sv-SE" dirty="0" err="1"/>
              <a:t>own</a:t>
            </a:r>
            <a:r>
              <a:rPr lang="sv-SE" dirty="0"/>
              <a:t> test data inside the test</a:t>
            </a:r>
          </a:p>
          <a:p>
            <a:pPr lvl="1"/>
            <a:r>
              <a:rPr lang="sv-SE" dirty="0" err="1"/>
              <a:t>Remove</a:t>
            </a:r>
            <a:r>
              <a:rPr lang="sv-SE" dirty="0"/>
              <a:t> the test data </a:t>
            </a:r>
            <a:r>
              <a:rPr lang="sv-SE" dirty="0" err="1"/>
              <a:t>once</a:t>
            </a:r>
            <a:r>
              <a:rPr lang="sv-SE" dirty="0"/>
              <a:t> </a:t>
            </a:r>
            <a:r>
              <a:rPr lang="sv-SE" dirty="0" err="1"/>
              <a:t>your</a:t>
            </a:r>
            <a:r>
              <a:rPr lang="sv-SE" dirty="0"/>
              <a:t> test is </a:t>
            </a:r>
            <a:r>
              <a:rPr lang="sv-SE" dirty="0" err="1"/>
              <a:t>completed</a:t>
            </a:r>
            <a:endParaRPr lang="sv-SE" dirty="0"/>
          </a:p>
          <a:p>
            <a:pPr lvl="1"/>
            <a:r>
              <a:rPr lang="sv-SE" dirty="0" err="1"/>
              <a:t>Don’t</a:t>
            </a:r>
            <a:r>
              <a:rPr lang="sv-SE" dirty="0"/>
              <a:t> </a:t>
            </a:r>
            <a:r>
              <a:rPr lang="sv-SE" dirty="0" err="1"/>
              <a:t>destroy</a:t>
            </a:r>
            <a:r>
              <a:rPr lang="sv-SE" dirty="0"/>
              <a:t> </a:t>
            </a:r>
            <a:r>
              <a:rPr lang="sv-SE" dirty="0" err="1"/>
              <a:t>existing</a:t>
            </a:r>
            <a:r>
              <a:rPr lang="sv-SE" dirty="0"/>
              <a:t> data</a:t>
            </a:r>
          </a:p>
          <a:p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16940823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14B756-570C-85C0-8828-66EACEFB95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Unit Testing Technology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D79E9E-16CA-791A-8184-7E5C981914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v-SE" dirty="0" err="1"/>
              <a:t>tSQLt</a:t>
            </a:r>
            <a:endParaRPr lang="sv-SE" dirty="0"/>
          </a:p>
          <a:p>
            <a:pPr lvl="1"/>
            <a:r>
              <a:rPr lang="sv-SE" dirty="0"/>
              <a:t>Tests </a:t>
            </a:r>
            <a:r>
              <a:rPr lang="sv-SE" dirty="0" err="1"/>
              <a:t>are</a:t>
            </a:r>
            <a:r>
              <a:rPr lang="sv-SE" dirty="0"/>
              <a:t> inside the </a:t>
            </a:r>
            <a:r>
              <a:rPr lang="sv-SE" dirty="0" err="1"/>
              <a:t>database</a:t>
            </a:r>
            <a:endParaRPr lang="sv-SE" dirty="0"/>
          </a:p>
          <a:p>
            <a:pPr lvl="1"/>
            <a:r>
              <a:rPr lang="sv-SE" dirty="0"/>
              <a:t>Supports </a:t>
            </a:r>
            <a:r>
              <a:rPr lang="sv-SE" dirty="0" err="1"/>
              <a:t>mocks</a:t>
            </a:r>
            <a:r>
              <a:rPr lang="sv-SE" dirty="0"/>
              <a:t> </a:t>
            </a:r>
            <a:r>
              <a:rPr lang="sv-SE" dirty="0" err="1"/>
              <a:t>with</a:t>
            </a:r>
            <a:r>
              <a:rPr lang="sv-SE" dirty="0"/>
              <a:t> </a:t>
            </a:r>
            <a:r>
              <a:rPr lang="sv-SE" dirty="0" err="1"/>
              <a:t>eg</a:t>
            </a:r>
            <a:r>
              <a:rPr lang="sv-SE" dirty="0"/>
              <a:t> </a:t>
            </a:r>
            <a:r>
              <a:rPr lang="sv-SE" dirty="0" err="1"/>
              <a:t>FakeTable</a:t>
            </a:r>
            <a:r>
              <a:rPr lang="sv-SE" dirty="0"/>
              <a:t>, </a:t>
            </a:r>
            <a:r>
              <a:rPr lang="sv-SE" dirty="0" err="1"/>
              <a:t>SpyProcedure</a:t>
            </a:r>
            <a:r>
              <a:rPr lang="sv-SE" dirty="0"/>
              <a:t> </a:t>
            </a:r>
            <a:r>
              <a:rPr lang="sv-SE" dirty="0" err="1"/>
              <a:t>etc</a:t>
            </a:r>
            <a:endParaRPr lang="sv-SE" dirty="0"/>
          </a:p>
          <a:p>
            <a:pPr lvl="1"/>
            <a:endParaRPr lang="sv-SE" dirty="0"/>
          </a:p>
          <a:p>
            <a:r>
              <a:rPr lang="sv-SE" dirty="0"/>
              <a:t>SSDT and Visual Studio test </a:t>
            </a:r>
            <a:r>
              <a:rPr lang="sv-SE" dirty="0" err="1"/>
              <a:t>projects</a:t>
            </a:r>
            <a:endParaRPr lang="sv-SE" dirty="0"/>
          </a:p>
          <a:p>
            <a:pPr lvl="1"/>
            <a:r>
              <a:rPr lang="sv-SE" dirty="0"/>
              <a:t>Tests </a:t>
            </a:r>
            <a:r>
              <a:rPr lang="sv-SE" dirty="0" err="1"/>
              <a:t>are</a:t>
            </a:r>
            <a:r>
              <a:rPr lang="sv-SE" dirty="0"/>
              <a:t> in Visual Studio </a:t>
            </a:r>
            <a:r>
              <a:rPr lang="sv-SE" dirty="0" err="1"/>
              <a:t>project</a:t>
            </a:r>
            <a:endParaRPr lang="sv-SE" dirty="0"/>
          </a:p>
          <a:p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36643666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13FEEF-7B0F-0E9B-C09C-CCA975AD4E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tSQLt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0AC110-89CA-C1F0-0730-47F73C816A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347472" indent="-347472">
              <a:buFont typeface="Arial" panose="020B0604020202020204" pitchFamily="34" charset="0"/>
              <a:buChar char="•"/>
            </a:pPr>
            <a:r>
              <a:rPr lang="en-SE" dirty="0"/>
              <a:t>🧪</a:t>
            </a:r>
            <a:r>
              <a:rPr lang="en-GB" sz="1800" dirty="0">
                <a:solidFill>
                  <a:srgbClr val="404040"/>
                </a:solidFill>
                <a:effectLst/>
                <a:latin typeface="Source Sans Pro" panose="020B0503030403020204" pitchFamily="34" charset="0"/>
              </a:rPr>
              <a:t>Native T-SQL Testing</a:t>
            </a:r>
          </a:p>
          <a:p>
            <a:pPr marL="740664" indent="-283464" algn="l" rtl="0" eaLnBrk="1" latinLnBrk="0" hangingPunct="1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rgbClr val="404040"/>
                </a:solidFill>
                <a:effectLst/>
                <a:latin typeface="Source Sans Pro" panose="020B0503030403020204" pitchFamily="34" charset="0"/>
              </a:rPr>
              <a:t>T-SQL developers create tests using a language they know well.</a:t>
            </a:r>
          </a:p>
          <a:p>
            <a:pPr marL="347472" indent="-347472">
              <a:buFont typeface="Arial" panose="020B0604020202020204" pitchFamily="34" charset="0"/>
              <a:buChar char="•"/>
            </a:pPr>
            <a:r>
              <a:rPr lang="en-SE" dirty="0"/>
              <a:t>🔄</a:t>
            </a:r>
            <a:r>
              <a:rPr lang="en-GB" sz="1800" dirty="0">
                <a:solidFill>
                  <a:srgbClr val="404040"/>
                </a:solidFill>
                <a:effectLst/>
                <a:latin typeface="Source Sans Pro" panose="020B0503030403020204" pitchFamily="34" charset="0"/>
              </a:rPr>
              <a:t>Transactional Isolation</a:t>
            </a:r>
          </a:p>
          <a:p>
            <a:pPr marL="740664" indent="-283464" algn="l" rtl="0" eaLnBrk="1" latinLnBrk="0" hangingPunct="1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rgbClr val="404040"/>
                </a:solidFill>
                <a:effectLst/>
                <a:latin typeface="Source Sans Pro" panose="020B0503030403020204" pitchFamily="34" charset="0"/>
              </a:rPr>
              <a:t>Each test executes within a transaction, ensuring existing data remains unaffected.</a:t>
            </a:r>
          </a:p>
          <a:p>
            <a:pPr marL="347472" indent="-347472">
              <a:buFont typeface="Arial" panose="020B0604020202020204" pitchFamily="34" charset="0"/>
              <a:buChar char="•"/>
            </a:pPr>
            <a:r>
              <a:rPr lang="en-SE" dirty="0"/>
              <a:t>🧱</a:t>
            </a:r>
            <a:r>
              <a:rPr lang="en-GB" sz="1800" dirty="0">
                <a:solidFill>
                  <a:srgbClr val="404040"/>
                </a:solidFill>
                <a:effectLst/>
                <a:latin typeface="Source Sans Pro" panose="020B0503030403020204" pitchFamily="34" charset="0"/>
              </a:rPr>
              <a:t>Mocking and Faking</a:t>
            </a:r>
          </a:p>
          <a:p>
            <a:pPr marL="740664" indent="-283464" algn="l" rtl="0" eaLnBrk="1" latinLnBrk="0" hangingPunct="1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rgbClr val="404040"/>
                </a:solidFill>
                <a:effectLst/>
                <a:latin typeface="Source Sans Pro" panose="020B0503030403020204" pitchFamily="34" charset="0"/>
              </a:rPr>
              <a:t>Tables, procedures, and views can be mocked or "faked" to isolate specific units of work.</a:t>
            </a:r>
          </a:p>
          <a:p>
            <a:pPr marL="347472" indent="-347472">
              <a:buFont typeface="Arial" panose="020B0604020202020204" pitchFamily="34" charset="0"/>
              <a:buChar char="•"/>
            </a:pPr>
            <a:r>
              <a:rPr lang="en-SE" dirty="0"/>
              <a:t>🗂️</a:t>
            </a:r>
            <a:r>
              <a:rPr lang="en-GB" sz="1800" dirty="0">
                <a:solidFill>
                  <a:srgbClr val="404040"/>
                </a:solidFill>
                <a:effectLst/>
                <a:latin typeface="Source Sans Pro" panose="020B0503030403020204" pitchFamily="34" charset="0"/>
              </a:rPr>
              <a:t>Organized Test Classes</a:t>
            </a:r>
          </a:p>
          <a:p>
            <a:pPr marL="740664" indent="-283464" algn="l" rtl="0" eaLnBrk="1" latinLnBrk="0" hangingPunct="1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rgbClr val="404040"/>
                </a:solidFill>
                <a:effectLst/>
                <a:latin typeface="Source Sans Pro" panose="020B0503030403020204" pitchFamily="34" charset="0"/>
              </a:rPr>
              <a:t>Tests are organized into classes (essentially schemas), such as </a:t>
            </a:r>
            <a:r>
              <a:rPr lang="en-GB" sz="1600" dirty="0" err="1">
                <a:solidFill>
                  <a:srgbClr val="404040"/>
                </a:solidFill>
                <a:effectLst/>
                <a:latin typeface="Source Sans Pro" panose="020B0503030403020204" pitchFamily="34" charset="0"/>
              </a:rPr>
              <a:t>TestSales</a:t>
            </a:r>
            <a:r>
              <a:rPr lang="en-GB" sz="1600" dirty="0">
                <a:solidFill>
                  <a:srgbClr val="404040"/>
                </a:solidFill>
                <a:effectLst/>
                <a:latin typeface="Source Sans Pro" panose="020B0503030403020204" pitchFamily="34" charset="0"/>
              </a:rPr>
              <a:t> for sales-related tests.</a:t>
            </a:r>
          </a:p>
          <a:p>
            <a:pPr marL="347472" indent="-347472">
              <a:buFont typeface="Arial" panose="020B0604020202020204" pitchFamily="34" charset="0"/>
              <a:buChar char="•"/>
            </a:pPr>
            <a:r>
              <a:rPr lang="en-SE" dirty="0"/>
              <a:t>🔧</a:t>
            </a:r>
            <a:r>
              <a:rPr lang="en-GB" sz="1800" dirty="0">
                <a:solidFill>
                  <a:srgbClr val="404040"/>
                </a:solidFill>
                <a:effectLst/>
                <a:latin typeface="Source Sans Pro" panose="020B0503030403020204" pitchFamily="34" charset="0"/>
              </a:rPr>
              <a:t>Integration Friendly</a:t>
            </a:r>
          </a:p>
          <a:p>
            <a:pPr marL="740664" indent="-283464" algn="l" rtl="0" eaLnBrk="1" latinLnBrk="0" hangingPunct="1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rgbClr val="404040"/>
                </a:solidFill>
                <a:effectLst/>
                <a:latin typeface="Source Sans Pro" panose="020B0503030403020204" pitchFamily="34" charset="0"/>
              </a:rPr>
              <a:t>Test results can be output in formats compatible with platforms like Azure DevOps test reports.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25558780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8BD54E-9199-668A-B436-68356E131F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How do I get started with </a:t>
            </a:r>
            <a:r>
              <a:rPr lang="en-GB" dirty="0" err="1"/>
              <a:t>tSQLt</a:t>
            </a:r>
            <a:r>
              <a:rPr lang="en-GB" dirty="0"/>
              <a:t>?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DEDB9-511E-8D5C-447C-4BD4DE6BA8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Download </a:t>
            </a:r>
            <a:r>
              <a:rPr lang="en-GB" dirty="0" err="1"/>
              <a:t>tSQLt</a:t>
            </a:r>
            <a:endParaRPr lang="en-GB" dirty="0"/>
          </a:p>
          <a:p>
            <a:r>
              <a:rPr lang="en-GB" dirty="0"/>
              <a:t>Prepare your server for </a:t>
            </a:r>
            <a:r>
              <a:rPr lang="en-GB" dirty="0" err="1"/>
              <a:t>tSQLt</a:t>
            </a:r>
            <a:endParaRPr lang="en-GB" dirty="0"/>
          </a:p>
          <a:p>
            <a:r>
              <a:rPr lang="en-GB" dirty="0"/>
              <a:t>Install </a:t>
            </a:r>
            <a:r>
              <a:rPr lang="en-GB" dirty="0" err="1"/>
              <a:t>tSQLt</a:t>
            </a:r>
            <a:r>
              <a:rPr lang="en-GB" dirty="0"/>
              <a:t> code into your database</a:t>
            </a:r>
          </a:p>
          <a:p>
            <a:r>
              <a:rPr lang="en-GB" dirty="0"/>
              <a:t>Start writing tests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37494958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01F729-C501-A405-8F32-494AF160BB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Demo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96EC93-BE24-A3A1-9B0F-7DD3E20194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8296838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38F49C-0E2B-2517-DEB3-688EA0124A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 don’t want tests in my production DB!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D14B9C-0525-40CC-61B1-C18BD246C3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Use Visual Studio</a:t>
            </a:r>
          </a:p>
          <a:p>
            <a:r>
              <a:rPr lang="en-GB" dirty="0"/>
              <a:t>Database project for your user database</a:t>
            </a:r>
          </a:p>
          <a:p>
            <a:r>
              <a:rPr lang="en-GB" dirty="0"/>
              <a:t>Test-project inherits from user database project</a:t>
            </a:r>
          </a:p>
          <a:p>
            <a:r>
              <a:rPr lang="en-GB" dirty="0"/>
              <a:t>Test-project adds functionality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1748009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C3FDDF-F7E6-9D6E-966F-5BA5C32FE5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Demo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D62EB6-45B2-899F-7B4C-611640EE29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1983471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811690-3E1F-10B1-92D7-8EB1B7EF0F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Conclusions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83873E-6EA9-8FAC-2416-D70E910335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Unit testing takes time</a:t>
            </a:r>
          </a:p>
          <a:p>
            <a:r>
              <a:rPr lang="en-GB" dirty="0"/>
              <a:t>It’s probably worth it if you do it well</a:t>
            </a:r>
          </a:p>
        </p:txBody>
      </p:sp>
    </p:spTree>
    <p:extLst>
      <p:ext uri="{BB962C8B-B14F-4D97-AF65-F5344CB8AC3E}">
        <p14:creationId xmlns:p14="http://schemas.microsoft.com/office/powerpoint/2010/main" val="33409620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Fasett">
  <a:themeElements>
    <a:clrScheme name="Varm blå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roupBy_Eight_hours_of_work_in_20_minutes_Partitioning_Rox.pptx" id="{70D7657E-FDF3-4AF8-B760-E8DCE5C23891}" vid="{32728EFA-864A-41EB-A785-94AF657B65F5}"/>
    </a:ext>
  </a:extLst>
</a:theme>
</file>

<file path=ppt/theme/theme3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419</Words>
  <Application>Microsoft Office PowerPoint</Application>
  <PresentationFormat>Widescreen</PresentationFormat>
  <Paragraphs>75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15</vt:i4>
      </vt:variant>
    </vt:vector>
  </HeadingPairs>
  <TitlesOfParts>
    <vt:vector size="25" baseType="lpstr">
      <vt:lpstr>Arial</vt:lpstr>
      <vt:lpstr>Calibri</vt:lpstr>
      <vt:lpstr>Calibri Light</vt:lpstr>
      <vt:lpstr>Roboto Light</vt:lpstr>
      <vt:lpstr>Source Sans Pro</vt:lpstr>
      <vt:lpstr>Trebuchet MS</vt:lpstr>
      <vt:lpstr>Wingdings 3</vt:lpstr>
      <vt:lpstr>Office Theme</vt:lpstr>
      <vt:lpstr>Fasett</vt:lpstr>
      <vt:lpstr>Office-tema</vt:lpstr>
      <vt:lpstr>Get Started With tSQLt</vt:lpstr>
      <vt:lpstr>Session contents</vt:lpstr>
      <vt:lpstr>Every time you attend an event without visiting the sponsors…</vt:lpstr>
      <vt:lpstr>PowerPoint Presentation</vt:lpstr>
      <vt:lpstr>About Magnus</vt:lpstr>
      <vt:lpstr>What is a unit test?</vt:lpstr>
      <vt:lpstr>Why should I care (about unit testing)?</vt:lpstr>
      <vt:lpstr>How to unit test database code?</vt:lpstr>
      <vt:lpstr>Unit Testing Technology</vt:lpstr>
      <vt:lpstr>tSQLt</vt:lpstr>
      <vt:lpstr>How do I get started with tSQLt?</vt:lpstr>
      <vt:lpstr>Demo</vt:lpstr>
      <vt:lpstr>I don’t want tests in my production DB!</vt:lpstr>
      <vt:lpstr>Demo</vt:lpstr>
      <vt:lpstr>Conclusions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Magnus Ahlkvist</dc:creator>
  <cp:lastModifiedBy>Magnus Ahlkvist</cp:lastModifiedBy>
  <cp:revision>8</cp:revision>
  <dcterms:created xsi:type="dcterms:W3CDTF">2022-05-20T07:54:08Z</dcterms:created>
  <dcterms:modified xsi:type="dcterms:W3CDTF">2025-09-06T11:08:24Z</dcterms:modified>
</cp:coreProperties>
</file>