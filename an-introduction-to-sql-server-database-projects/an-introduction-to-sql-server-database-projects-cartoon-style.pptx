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60" r:id="rId3"/>
    <p:sldId id="261" r:id="rId4"/>
    <p:sldId id="257" r:id="rId5"/>
    <p:sldId id="262" r:id="rId6"/>
    <p:sldId id="265" r:id="rId7"/>
    <p:sldId id="269" r:id="rId8"/>
    <p:sldId id="263" r:id="rId9"/>
    <p:sldId id="264" r:id="rId10"/>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F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8" autoAdjust="0"/>
    <p:restoredTop sz="94660"/>
  </p:normalViewPr>
  <p:slideViewPr>
    <p:cSldViewPr snapToGrid="0">
      <p:cViewPr varScale="1">
        <p:scale>
          <a:sx n="80" d="100"/>
          <a:sy n="80" d="100"/>
        </p:scale>
        <p:origin x="40" y="7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86A58-E3F0-3C8A-881A-849FAAAD45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59FFDA6E-CE45-423A-BB5B-3E8AB8A24D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5E771425-148B-2A1D-3615-C44C837CE023}"/>
              </a:ext>
            </a:extLst>
          </p:cNvPr>
          <p:cNvSpPr>
            <a:spLocks noGrp="1"/>
          </p:cNvSpPr>
          <p:nvPr>
            <p:ph type="dt" sz="half" idx="10"/>
          </p:nvPr>
        </p:nvSpPr>
        <p:spPr/>
        <p:txBody>
          <a:bodyPr/>
          <a:lstStyle/>
          <a:p>
            <a:fld id="{DF89F9ED-2410-4CD1-B5CD-D275AA293E22}" type="datetimeFigureOut">
              <a:rPr lang="LID4096" smtClean="0"/>
              <a:t>05/29/2026</a:t>
            </a:fld>
            <a:endParaRPr lang="LID4096"/>
          </a:p>
        </p:txBody>
      </p:sp>
      <p:sp>
        <p:nvSpPr>
          <p:cNvPr id="5" name="Footer Placeholder 4">
            <a:extLst>
              <a:ext uri="{FF2B5EF4-FFF2-40B4-BE49-F238E27FC236}">
                <a16:creationId xmlns:a16="http://schemas.microsoft.com/office/drawing/2014/main" id="{B44CAB39-CBF7-5D45-B6F4-BD293D0DD2BC}"/>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D079D177-8BBA-8E9E-9608-0BF5556FABE9}"/>
              </a:ext>
            </a:extLst>
          </p:cNvPr>
          <p:cNvSpPr>
            <a:spLocks noGrp="1"/>
          </p:cNvSpPr>
          <p:nvPr>
            <p:ph type="sldNum" sz="quarter" idx="12"/>
          </p:nvPr>
        </p:nvSpPr>
        <p:spPr/>
        <p:txBody>
          <a:bodyPr/>
          <a:lstStyle/>
          <a:p>
            <a:fld id="{DDA4F4BA-9ECE-4834-A1C0-C8A764EAE6AA}" type="slidenum">
              <a:rPr lang="LID4096" smtClean="0"/>
              <a:t>‹#›</a:t>
            </a:fld>
            <a:endParaRPr lang="LID4096"/>
          </a:p>
        </p:txBody>
      </p:sp>
    </p:spTree>
    <p:extLst>
      <p:ext uri="{BB962C8B-B14F-4D97-AF65-F5344CB8AC3E}">
        <p14:creationId xmlns:p14="http://schemas.microsoft.com/office/powerpoint/2010/main" val="278725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E3A9F-9EF6-E7FB-29A9-EEEA3D2020DC}"/>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F5EA7EAC-5F2F-8116-CB78-F0AD50592D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F3A0CE85-1915-01DF-EA86-573A40856465}"/>
              </a:ext>
            </a:extLst>
          </p:cNvPr>
          <p:cNvSpPr>
            <a:spLocks noGrp="1"/>
          </p:cNvSpPr>
          <p:nvPr>
            <p:ph type="dt" sz="half" idx="10"/>
          </p:nvPr>
        </p:nvSpPr>
        <p:spPr/>
        <p:txBody>
          <a:bodyPr/>
          <a:lstStyle/>
          <a:p>
            <a:fld id="{DF89F9ED-2410-4CD1-B5CD-D275AA293E22}" type="datetimeFigureOut">
              <a:rPr lang="LID4096" smtClean="0"/>
              <a:t>05/29/2026</a:t>
            </a:fld>
            <a:endParaRPr lang="LID4096"/>
          </a:p>
        </p:txBody>
      </p:sp>
      <p:sp>
        <p:nvSpPr>
          <p:cNvPr id="5" name="Footer Placeholder 4">
            <a:extLst>
              <a:ext uri="{FF2B5EF4-FFF2-40B4-BE49-F238E27FC236}">
                <a16:creationId xmlns:a16="http://schemas.microsoft.com/office/drawing/2014/main" id="{B7E7D053-A688-2EDC-256A-CB825EFEE5C5}"/>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645BC8BB-E97C-D98F-9986-BB0D33C36B01}"/>
              </a:ext>
            </a:extLst>
          </p:cNvPr>
          <p:cNvSpPr>
            <a:spLocks noGrp="1"/>
          </p:cNvSpPr>
          <p:nvPr>
            <p:ph type="sldNum" sz="quarter" idx="12"/>
          </p:nvPr>
        </p:nvSpPr>
        <p:spPr/>
        <p:txBody>
          <a:bodyPr/>
          <a:lstStyle/>
          <a:p>
            <a:fld id="{DDA4F4BA-9ECE-4834-A1C0-C8A764EAE6AA}" type="slidenum">
              <a:rPr lang="LID4096" smtClean="0"/>
              <a:t>‹#›</a:t>
            </a:fld>
            <a:endParaRPr lang="LID4096"/>
          </a:p>
        </p:txBody>
      </p:sp>
    </p:spTree>
    <p:extLst>
      <p:ext uri="{BB962C8B-B14F-4D97-AF65-F5344CB8AC3E}">
        <p14:creationId xmlns:p14="http://schemas.microsoft.com/office/powerpoint/2010/main" val="1925000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68191-2D06-5F08-B4A1-354DCCF701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6570FAB5-754C-84D7-94E6-9AB3B163AFE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2131B7-2BD9-5A2F-91BB-BF96FFB95198}"/>
              </a:ext>
            </a:extLst>
          </p:cNvPr>
          <p:cNvSpPr>
            <a:spLocks noGrp="1"/>
          </p:cNvSpPr>
          <p:nvPr>
            <p:ph type="dt" sz="half" idx="10"/>
          </p:nvPr>
        </p:nvSpPr>
        <p:spPr/>
        <p:txBody>
          <a:bodyPr/>
          <a:lstStyle/>
          <a:p>
            <a:fld id="{DF89F9ED-2410-4CD1-B5CD-D275AA293E22}" type="datetimeFigureOut">
              <a:rPr lang="LID4096" smtClean="0"/>
              <a:t>05/29/2026</a:t>
            </a:fld>
            <a:endParaRPr lang="LID4096"/>
          </a:p>
        </p:txBody>
      </p:sp>
      <p:sp>
        <p:nvSpPr>
          <p:cNvPr id="5" name="Footer Placeholder 4">
            <a:extLst>
              <a:ext uri="{FF2B5EF4-FFF2-40B4-BE49-F238E27FC236}">
                <a16:creationId xmlns:a16="http://schemas.microsoft.com/office/drawing/2014/main" id="{C960D639-6C18-47C4-D912-7D1689E53B4B}"/>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72A7D33F-7410-572D-04FB-4A7618DA9194}"/>
              </a:ext>
            </a:extLst>
          </p:cNvPr>
          <p:cNvSpPr>
            <a:spLocks noGrp="1"/>
          </p:cNvSpPr>
          <p:nvPr>
            <p:ph type="sldNum" sz="quarter" idx="12"/>
          </p:nvPr>
        </p:nvSpPr>
        <p:spPr/>
        <p:txBody>
          <a:bodyPr/>
          <a:lstStyle/>
          <a:p>
            <a:fld id="{DDA4F4BA-9ECE-4834-A1C0-C8A764EAE6AA}" type="slidenum">
              <a:rPr lang="LID4096" smtClean="0"/>
              <a:t>‹#›</a:t>
            </a:fld>
            <a:endParaRPr lang="LID4096"/>
          </a:p>
        </p:txBody>
      </p:sp>
    </p:spTree>
    <p:extLst>
      <p:ext uri="{BB962C8B-B14F-4D97-AF65-F5344CB8AC3E}">
        <p14:creationId xmlns:p14="http://schemas.microsoft.com/office/powerpoint/2010/main" val="3818306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C2CFC-5269-E54C-873B-B7B7703BC961}"/>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10C2E675-2389-8C66-23CB-63044824FC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264EED60-0175-C1CA-F971-131D7C620D0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5D7680E6-D332-C2DE-C229-554D60299B6C}"/>
              </a:ext>
            </a:extLst>
          </p:cNvPr>
          <p:cNvSpPr>
            <a:spLocks noGrp="1"/>
          </p:cNvSpPr>
          <p:nvPr>
            <p:ph type="dt" sz="half" idx="10"/>
          </p:nvPr>
        </p:nvSpPr>
        <p:spPr/>
        <p:txBody>
          <a:bodyPr/>
          <a:lstStyle/>
          <a:p>
            <a:fld id="{DF89F9ED-2410-4CD1-B5CD-D275AA293E22}" type="datetimeFigureOut">
              <a:rPr lang="LID4096" smtClean="0"/>
              <a:t>05/29/2026</a:t>
            </a:fld>
            <a:endParaRPr lang="LID4096"/>
          </a:p>
        </p:txBody>
      </p:sp>
      <p:sp>
        <p:nvSpPr>
          <p:cNvPr id="6" name="Footer Placeholder 5">
            <a:extLst>
              <a:ext uri="{FF2B5EF4-FFF2-40B4-BE49-F238E27FC236}">
                <a16:creationId xmlns:a16="http://schemas.microsoft.com/office/drawing/2014/main" id="{F60EFC58-47EC-F83A-AC0E-61E28053B3C9}"/>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897E1E1E-8835-8B75-B6FA-03E9320929CC}"/>
              </a:ext>
            </a:extLst>
          </p:cNvPr>
          <p:cNvSpPr>
            <a:spLocks noGrp="1"/>
          </p:cNvSpPr>
          <p:nvPr>
            <p:ph type="sldNum" sz="quarter" idx="12"/>
          </p:nvPr>
        </p:nvSpPr>
        <p:spPr/>
        <p:txBody>
          <a:bodyPr/>
          <a:lstStyle/>
          <a:p>
            <a:fld id="{DDA4F4BA-9ECE-4834-A1C0-C8A764EAE6AA}" type="slidenum">
              <a:rPr lang="LID4096" smtClean="0"/>
              <a:t>‹#›</a:t>
            </a:fld>
            <a:endParaRPr lang="LID4096"/>
          </a:p>
        </p:txBody>
      </p:sp>
    </p:spTree>
    <p:extLst>
      <p:ext uri="{BB962C8B-B14F-4D97-AF65-F5344CB8AC3E}">
        <p14:creationId xmlns:p14="http://schemas.microsoft.com/office/powerpoint/2010/main" val="3697034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B2C89-999E-B67E-638D-A83B5012D42F}"/>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FFD18CBF-4287-318B-F601-8715F29C77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69D72E-8694-BF73-A771-F399250E51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10999BB1-2089-2649-04BD-A334E9B344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0E7F5F-2FA6-BF28-D148-32F34A8A89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C80FA4CD-20F6-A7C9-E943-DEB9AC233441}"/>
              </a:ext>
            </a:extLst>
          </p:cNvPr>
          <p:cNvSpPr>
            <a:spLocks noGrp="1"/>
          </p:cNvSpPr>
          <p:nvPr>
            <p:ph type="dt" sz="half" idx="10"/>
          </p:nvPr>
        </p:nvSpPr>
        <p:spPr/>
        <p:txBody>
          <a:bodyPr/>
          <a:lstStyle/>
          <a:p>
            <a:fld id="{DF89F9ED-2410-4CD1-B5CD-D275AA293E22}" type="datetimeFigureOut">
              <a:rPr lang="LID4096" smtClean="0"/>
              <a:t>05/29/2026</a:t>
            </a:fld>
            <a:endParaRPr lang="LID4096"/>
          </a:p>
        </p:txBody>
      </p:sp>
      <p:sp>
        <p:nvSpPr>
          <p:cNvPr id="8" name="Footer Placeholder 7">
            <a:extLst>
              <a:ext uri="{FF2B5EF4-FFF2-40B4-BE49-F238E27FC236}">
                <a16:creationId xmlns:a16="http://schemas.microsoft.com/office/drawing/2014/main" id="{768E906B-2C0D-8009-0882-E84E2C4AEA0C}"/>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64B9D283-0476-2EFC-E62C-11EF465DFEE0}"/>
              </a:ext>
            </a:extLst>
          </p:cNvPr>
          <p:cNvSpPr>
            <a:spLocks noGrp="1"/>
          </p:cNvSpPr>
          <p:nvPr>
            <p:ph type="sldNum" sz="quarter" idx="12"/>
          </p:nvPr>
        </p:nvSpPr>
        <p:spPr/>
        <p:txBody>
          <a:bodyPr/>
          <a:lstStyle/>
          <a:p>
            <a:fld id="{DDA4F4BA-9ECE-4834-A1C0-C8A764EAE6AA}" type="slidenum">
              <a:rPr lang="LID4096" smtClean="0"/>
              <a:t>‹#›</a:t>
            </a:fld>
            <a:endParaRPr lang="LID4096"/>
          </a:p>
        </p:txBody>
      </p:sp>
    </p:spTree>
    <p:extLst>
      <p:ext uri="{BB962C8B-B14F-4D97-AF65-F5344CB8AC3E}">
        <p14:creationId xmlns:p14="http://schemas.microsoft.com/office/powerpoint/2010/main" val="1649184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8CA06-58A8-8963-D581-739E77128399}"/>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698C6D5E-F6F9-886F-0981-787452929BCC}"/>
              </a:ext>
            </a:extLst>
          </p:cNvPr>
          <p:cNvSpPr>
            <a:spLocks noGrp="1"/>
          </p:cNvSpPr>
          <p:nvPr>
            <p:ph type="dt" sz="half" idx="10"/>
          </p:nvPr>
        </p:nvSpPr>
        <p:spPr/>
        <p:txBody>
          <a:bodyPr/>
          <a:lstStyle/>
          <a:p>
            <a:fld id="{DF89F9ED-2410-4CD1-B5CD-D275AA293E22}" type="datetimeFigureOut">
              <a:rPr lang="LID4096" smtClean="0"/>
              <a:t>05/29/2026</a:t>
            </a:fld>
            <a:endParaRPr lang="LID4096"/>
          </a:p>
        </p:txBody>
      </p:sp>
      <p:sp>
        <p:nvSpPr>
          <p:cNvPr id="4" name="Footer Placeholder 3">
            <a:extLst>
              <a:ext uri="{FF2B5EF4-FFF2-40B4-BE49-F238E27FC236}">
                <a16:creationId xmlns:a16="http://schemas.microsoft.com/office/drawing/2014/main" id="{F2E0F769-1E99-3825-04F1-C57A61815B89}"/>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70A5C823-A0D8-D788-E8E9-82C80BFEDC1F}"/>
              </a:ext>
            </a:extLst>
          </p:cNvPr>
          <p:cNvSpPr>
            <a:spLocks noGrp="1"/>
          </p:cNvSpPr>
          <p:nvPr>
            <p:ph type="sldNum" sz="quarter" idx="12"/>
          </p:nvPr>
        </p:nvSpPr>
        <p:spPr/>
        <p:txBody>
          <a:bodyPr/>
          <a:lstStyle/>
          <a:p>
            <a:fld id="{DDA4F4BA-9ECE-4834-A1C0-C8A764EAE6AA}" type="slidenum">
              <a:rPr lang="LID4096" smtClean="0"/>
              <a:t>‹#›</a:t>
            </a:fld>
            <a:endParaRPr lang="LID4096"/>
          </a:p>
        </p:txBody>
      </p:sp>
    </p:spTree>
    <p:extLst>
      <p:ext uri="{BB962C8B-B14F-4D97-AF65-F5344CB8AC3E}">
        <p14:creationId xmlns:p14="http://schemas.microsoft.com/office/powerpoint/2010/main" val="215251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36B0BD-4357-4D54-E9A6-DF754A3DE01A}"/>
              </a:ext>
            </a:extLst>
          </p:cNvPr>
          <p:cNvSpPr>
            <a:spLocks noGrp="1"/>
          </p:cNvSpPr>
          <p:nvPr>
            <p:ph type="dt" sz="half" idx="10"/>
          </p:nvPr>
        </p:nvSpPr>
        <p:spPr/>
        <p:txBody>
          <a:bodyPr/>
          <a:lstStyle/>
          <a:p>
            <a:fld id="{DF89F9ED-2410-4CD1-B5CD-D275AA293E22}" type="datetimeFigureOut">
              <a:rPr lang="LID4096" smtClean="0"/>
              <a:t>05/29/2026</a:t>
            </a:fld>
            <a:endParaRPr lang="LID4096"/>
          </a:p>
        </p:txBody>
      </p:sp>
      <p:sp>
        <p:nvSpPr>
          <p:cNvPr id="3" name="Footer Placeholder 2">
            <a:extLst>
              <a:ext uri="{FF2B5EF4-FFF2-40B4-BE49-F238E27FC236}">
                <a16:creationId xmlns:a16="http://schemas.microsoft.com/office/drawing/2014/main" id="{7B371A78-B0BD-15FD-03AA-A05B6070EB0E}"/>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65291E6B-165A-128D-4CCB-408D35B66C1F}"/>
              </a:ext>
            </a:extLst>
          </p:cNvPr>
          <p:cNvSpPr>
            <a:spLocks noGrp="1"/>
          </p:cNvSpPr>
          <p:nvPr>
            <p:ph type="sldNum" sz="quarter" idx="12"/>
          </p:nvPr>
        </p:nvSpPr>
        <p:spPr/>
        <p:txBody>
          <a:bodyPr/>
          <a:lstStyle/>
          <a:p>
            <a:fld id="{DDA4F4BA-9ECE-4834-A1C0-C8A764EAE6AA}" type="slidenum">
              <a:rPr lang="LID4096" smtClean="0"/>
              <a:t>‹#›</a:t>
            </a:fld>
            <a:endParaRPr lang="LID4096"/>
          </a:p>
        </p:txBody>
      </p:sp>
    </p:spTree>
    <p:extLst>
      <p:ext uri="{BB962C8B-B14F-4D97-AF65-F5344CB8AC3E}">
        <p14:creationId xmlns:p14="http://schemas.microsoft.com/office/powerpoint/2010/main" val="568981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9AB3D-2286-6FF1-632A-14EE4DC055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AA67F29C-D47E-B2D7-7415-2A8838D4EF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CA59392D-9404-0BD8-D242-E1E19D36D6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BA76F5-2255-9CF7-8F82-9131BD4B816C}"/>
              </a:ext>
            </a:extLst>
          </p:cNvPr>
          <p:cNvSpPr>
            <a:spLocks noGrp="1"/>
          </p:cNvSpPr>
          <p:nvPr>
            <p:ph type="dt" sz="half" idx="10"/>
          </p:nvPr>
        </p:nvSpPr>
        <p:spPr/>
        <p:txBody>
          <a:bodyPr/>
          <a:lstStyle/>
          <a:p>
            <a:fld id="{DF89F9ED-2410-4CD1-B5CD-D275AA293E22}" type="datetimeFigureOut">
              <a:rPr lang="LID4096" smtClean="0"/>
              <a:t>05/29/2026</a:t>
            </a:fld>
            <a:endParaRPr lang="LID4096"/>
          </a:p>
        </p:txBody>
      </p:sp>
      <p:sp>
        <p:nvSpPr>
          <p:cNvPr id="6" name="Footer Placeholder 5">
            <a:extLst>
              <a:ext uri="{FF2B5EF4-FFF2-40B4-BE49-F238E27FC236}">
                <a16:creationId xmlns:a16="http://schemas.microsoft.com/office/drawing/2014/main" id="{0E92E221-32FC-140F-742C-26DA52098781}"/>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FFCFDDD0-AAB5-1049-7B08-5239B461844F}"/>
              </a:ext>
            </a:extLst>
          </p:cNvPr>
          <p:cNvSpPr>
            <a:spLocks noGrp="1"/>
          </p:cNvSpPr>
          <p:nvPr>
            <p:ph type="sldNum" sz="quarter" idx="12"/>
          </p:nvPr>
        </p:nvSpPr>
        <p:spPr/>
        <p:txBody>
          <a:bodyPr/>
          <a:lstStyle/>
          <a:p>
            <a:fld id="{DDA4F4BA-9ECE-4834-A1C0-C8A764EAE6AA}" type="slidenum">
              <a:rPr lang="LID4096" smtClean="0"/>
              <a:t>‹#›</a:t>
            </a:fld>
            <a:endParaRPr lang="LID4096"/>
          </a:p>
        </p:txBody>
      </p:sp>
    </p:spTree>
    <p:extLst>
      <p:ext uri="{BB962C8B-B14F-4D97-AF65-F5344CB8AC3E}">
        <p14:creationId xmlns:p14="http://schemas.microsoft.com/office/powerpoint/2010/main" val="3796334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C9C1C-5FE0-E180-1897-4FD2783313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BBBE3449-9F82-091A-D787-9BCC4CC5AA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E5925B18-4F20-316B-6262-A6957E103B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0697CE-6801-92D3-197D-1579CD801753}"/>
              </a:ext>
            </a:extLst>
          </p:cNvPr>
          <p:cNvSpPr>
            <a:spLocks noGrp="1"/>
          </p:cNvSpPr>
          <p:nvPr>
            <p:ph type="dt" sz="half" idx="10"/>
          </p:nvPr>
        </p:nvSpPr>
        <p:spPr/>
        <p:txBody>
          <a:bodyPr/>
          <a:lstStyle/>
          <a:p>
            <a:fld id="{DF89F9ED-2410-4CD1-B5CD-D275AA293E22}" type="datetimeFigureOut">
              <a:rPr lang="LID4096" smtClean="0"/>
              <a:t>05/29/2026</a:t>
            </a:fld>
            <a:endParaRPr lang="LID4096"/>
          </a:p>
        </p:txBody>
      </p:sp>
      <p:sp>
        <p:nvSpPr>
          <p:cNvPr id="6" name="Footer Placeholder 5">
            <a:extLst>
              <a:ext uri="{FF2B5EF4-FFF2-40B4-BE49-F238E27FC236}">
                <a16:creationId xmlns:a16="http://schemas.microsoft.com/office/drawing/2014/main" id="{E1BD6206-FBEA-A984-0210-6C238BFEA440}"/>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8229243C-1DAA-FB38-3215-E9EA5F844FF0}"/>
              </a:ext>
            </a:extLst>
          </p:cNvPr>
          <p:cNvSpPr>
            <a:spLocks noGrp="1"/>
          </p:cNvSpPr>
          <p:nvPr>
            <p:ph type="sldNum" sz="quarter" idx="12"/>
          </p:nvPr>
        </p:nvSpPr>
        <p:spPr/>
        <p:txBody>
          <a:bodyPr/>
          <a:lstStyle/>
          <a:p>
            <a:fld id="{DDA4F4BA-9ECE-4834-A1C0-C8A764EAE6AA}" type="slidenum">
              <a:rPr lang="LID4096" smtClean="0"/>
              <a:t>‹#›</a:t>
            </a:fld>
            <a:endParaRPr lang="LID4096"/>
          </a:p>
        </p:txBody>
      </p:sp>
    </p:spTree>
    <p:extLst>
      <p:ext uri="{BB962C8B-B14F-4D97-AF65-F5344CB8AC3E}">
        <p14:creationId xmlns:p14="http://schemas.microsoft.com/office/powerpoint/2010/main" val="3156445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F9D6B-05EA-9CC4-AC84-09F5E63401D0}"/>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D5E1A6E5-2284-09CF-3343-75CA87B3A0B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BAC76383-DC31-C9F2-9FBD-A288C854CAC6}"/>
              </a:ext>
            </a:extLst>
          </p:cNvPr>
          <p:cNvSpPr>
            <a:spLocks noGrp="1"/>
          </p:cNvSpPr>
          <p:nvPr>
            <p:ph type="dt" sz="half" idx="10"/>
          </p:nvPr>
        </p:nvSpPr>
        <p:spPr/>
        <p:txBody>
          <a:bodyPr/>
          <a:lstStyle/>
          <a:p>
            <a:fld id="{DF89F9ED-2410-4CD1-B5CD-D275AA293E22}" type="datetimeFigureOut">
              <a:rPr lang="LID4096" smtClean="0"/>
              <a:t>05/29/2026</a:t>
            </a:fld>
            <a:endParaRPr lang="LID4096"/>
          </a:p>
        </p:txBody>
      </p:sp>
      <p:sp>
        <p:nvSpPr>
          <p:cNvPr id="5" name="Footer Placeholder 4">
            <a:extLst>
              <a:ext uri="{FF2B5EF4-FFF2-40B4-BE49-F238E27FC236}">
                <a16:creationId xmlns:a16="http://schemas.microsoft.com/office/drawing/2014/main" id="{7D820484-B58C-3F56-BF1A-29CC155CAB4D}"/>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EFC416E2-FC07-1FD6-31CC-1E05E2F044E8}"/>
              </a:ext>
            </a:extLst>
          </p:cNvPr>
          <p:cNvSpPr>
            <a:spLocks noGrp="1"/>
          </p:cNvSpPr>
          <p:nvPr>
            <p:ph type="sldNum" sz="quarter" idx="12"/>
          </p:nvPr>
        </p:nvSpPr>
        <p:spPr/>
        <p:txBody>
          <a:bodyPr/>
          <a:lstStyle/>
          <a:p>
            <a:fld id="{DDA4F4BA-9ECE-4834-A1C0-C8A764EAE6AA}" type="slidenum">
              <a:rPr lang="LID4096" smtClean="0"/>
              <a:t>‹#›</a:t>
            </a:fld>
            <a:endParaRPr lang="LID4096"/>
          </a:p>
        </p:txBody>
      </p:sp>
    </p:spTree>
    <p:extLst>
      <p:ext uri="{BB962C8B-B14F-4D97-AF65-F5344CB8AC3E}">
        <p14:creationId xmlns:p14="http://schemas.microsoft.com/office/powerpoint/2010/main" val="2569539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EF9FA1-1D44-9514-E5D3-C0D54E4AD3E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D3793E8B-41C5-2A01-1DD5-7AA9C79F32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165E87A9-E716-CB04-95A9-FD8B33DE9C76}"/>
              </a:ext>
            </a:extLst>
          </p:cNvPr>
          <p:cNvSpPr>
            <a:spLocks noGrp="1"/>
          </p:cNvSpPr>
          <p:nvPr>
            <p:ph type="dt" sz="half" idx="10"/>
          </p:nvPr>
        </p:nvSpPr>
        <p:spPr/>
        <p:txBody>
          <a:bodyPr/>
          <a:lstStyle/>
          <a:p>
            <a:fld id="{DF89F9ED-2410-4CD1-B5CD-D275AA293E22}" type="datetimeFigureOut">
              <a:rPr lang="LID4096" smtClean="0"/>
              <a:t>05/29/2026</a:t>
            </a:fld>
            <a:endParaRPr lang="LID4096"/>
          </a:p>
        </p:txBody>
      </p:sp>
      <p:sp>
        <p:nvSpPr>
          <p:cNvPr id="5" name="Footer Placeholder 4">
            <a:extLst>
              <a:ext uri="{FF2B5EF4-FFF2-40B4-BE49-F238E27FC236}">
                <a16:creationId xmlns:a16="http://schemas.microsoft.com/office/drawing/2014/main" id="{0096FCE7-6368-C762-C73A-FEFD52875DF1}"/>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FDAF784D-8FA1-65B2-E0F2-BE1DA87B569A}"/>
              </a:ext>
            </a:extLst>
          </p:cNvPr>
          <p:cNvSpPr>
            <a:spLocks noGrp="1"/>
          </p:cNvSpPr>
          <p:nvPr>
            <p:ph type="sldNum" sz="quarter" idx="12"/>
          </p:nvPr>
        </p:nvSpPr>
        <p:spPr/>
        <p:txBody>
          <a:bodyPr/>
          <a:lstStyle/>
          <a:p>
            <a:fld id="{DDA4F4BA-9ECE-4834-A1C0-C8A764EAE6AA}" type="slidenum">
              <a:rPr lang="LID4096" smtClean="0"/>
              <a:t>‹#›</a:t>
            </a:fld>
            <a:endParaRPr lang="LID4096"/>
          </a:p>
        </p:txBody>
      </p:sp>
    </p:spTree>
    <p:extLst>
      <p:ext uri="{BB962C8B-B14F-4D97-AF65-F5344CB8AC3E}">
        <p14:creationId xmlns:p14="http://schemas.microsoft.com/office/powerpoint/2010/main" val="26878602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Rubrikbi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sv-SE"/>
              <a:t>Klicka här för att ändra mall för rubrikformat</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sv-SE"/>
              <a:t>Klicka här för att ändra mall för underrubrikformat</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pic>
        <p:nvPicPr>
          <p:cNvPr id="18" name="Bild 17">
            <a:extLst>
              <a:ext uri="{FF2B5EF4-FFF2-40B4-BE49-F238E27FC236}">
                <a16:creationId xmlns:a16="http://schemas.microsoft.com/office/drawing/2014/main" id="{42BCFCD7-74CB-442B-9206-4BBDA1D162E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747593" y="4100975"/>
            <a:ext cx="2736965" cy="2736965"/>
          </a:xfrm>
          <a:prstGeom prst="rect">
            <a:avLst/>
          </a:prstGeom>
        </p:spPr>
      </p:pic>
    </p:spTree>
    <p:extLst>
      <p:ext uri="{BB962C8B-B14F-4D97-AF65-F5344CB8AC3E}">
        <p14:creationId xmlns:p14="http://schemas.microsoft.com/office/powerpoint/2010/main" val="33739889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sv-SE"/>
              <a:t>Klicka här för att ändra mall för rubrikformat</a:t>
            </a:r>
            <a:endParaRPr lang="en-US" dirty="0"/>
          </a:p>
        </p:txBody>
      </p:sp>
      <p:sp>
        <p:nvSpPr>
          <p:cNvPr id="3" name="Content Placeholder 2"/>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13779937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sv-SE"/>
              <a:t>Klicka här för att ändra mall för rubrikformat</a:t>
            </a:r>
            <a:endParaRPr lang="en-US"/>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Date Placeholder 3"/>
          <p:cNvSpPr>
            <a:spLocks noGrp="1"/>
          </p:cNvSpPr>
          <p:nvPr>
            <p:ph type="dt" sz="half" idx="10"/>
          </p:nvPr>
        </p:nvSpPr>
        <p:spPr/>
        <p:txBody>
          <a:bodyPr/>
          <a:lstStyle/>
          <a:p>
            <a:fld id="{B61BEF0D-F0BB-DE4B-95CE-6DB70DBA9567}" type="datetimeFigureOut">
              <a:rPr lang="en-US"/>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18393771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vå dela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a:t>Klicka här för att ändra mall för rubrikformat</a:t>
            </a:r>
            <a:endParaRPr lang="en-US"/>
          </a:p>
        </p:txBody>
      </p:sp>
      <p:sp>
        <p:nvSpPr>
          <p:cNvPr id="3" name="Content Placeholder 2"/>
          <p:cNvSpPr>
            <a:spLocks noGrp="1"/>
          </p:cNvSpPr>
          <p:nvPr>
            <p:ph sz="half" idx="1"/>
          </p:nvPr>
        </p:nvSpPr>
        <p:spPr>
          <a:xfrm>
            <a:off x="677334" y="2160589"/>
            <a:ext cx="4184035" cy="3880772"/>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4" name="Content Placeholder 3"/>
          <p:cNvSpPr>
            <a:spLocks noGrp="1"/>
          </p:cNvSpPr>
          <p:nvPr>
            <p:ph sz="half" idx="2"/>
          </p:nvPr>
        </p:nvSpPr>
        <p:spPr>
          <a:xfrm>
            <a:off x="5089970" y="2160589"/>
            <a:ext cx="4184034" cy="3880773"/>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5" name="Date Placeholder 4"/>
          <p:cNvSpPr>
            <a:spLocks noGrp="1"/>
          </p:cNvSpPr>
          <p:nvPr>
            <p:ph type="dt" sz="half" idx="10"/>
          </p:nvPr>
        </p:nvSpPr>
        <p:spPr/>
        <p:txBody>
          <a:bodyPr/>
          <a:lstStyle/>
          <a:p>
            <a:fld id="{EB712588-04B1-427B-82EE-E8DB90309F08}" type="datetimeFigureOut">
              <a:rPr lang="en-US"/>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9F0C5-380F-41C2-899A-BAC0F0927E16}" type="slidenum">
              <a:rPr lang="en-US"/>
              <a:t>‹#›</a:t>
            </a:fld>
            <a:endParaRPr lang="en-US"/>
          </a:p>
        </p:txBody>
      </p:sp>
    </p:spTree>
    <p:extLst>
      <p:ext uri="{BB962C8B-B14F-4D97-AF65-F5344CB8AC3E}">
        <p14:creationId xmlns:p14="http://schemas.microsoft.com/office/powerpoint/2010/main" val="23793030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sv-SE"/>
              <a:t>Klicka här för att ändra mall för rubrikformat</a:t>
            </a:r>
            <a:endParaRPr lang="en-US"/>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7" name="Date Placeholder 6"/>
          <p:cNvSpPr>
            <a:spLocks noGrp="1"/>
          </p:cNvSpPr>
          <p:nvPr>
            <p:ph type="dt" sz="half" idx="10"/>
          </p:nvPr>
        </p:nvSpPr>
        <p:spPr/>
        <p:txBody>
          <a:bodyPr/>
          <a:lstStyle/>
          <a:p>
            <a:fld id="{B61BEF0D-F0BB-DE4B-95CE-6DB70DBA9567}" type="datetimeFigureOut">
              <a:rPr lang="en-US"/>
              <a:pPr/>
              <a:t>5/29/2026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16884199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sv-SE"/>
              <a:t>Klicka här för att ändra mall för rubrikformat</a:t>
            </a:r>
            <a:endParaRPr lang="en-US"/>
          </a:p>
        </p:txBody>
      </p:sp>
      <p:sp>
        <p:nvSpPr>
          <p:cNvPr id="3" name="Date Placeholder 2"/>
          <p:cNvSpPr>
            <a:spLocks noGrp="1"/>
          </p:cNvSpPr>
          <p:nvPr>
            <p:ph type="dt" sz="half" idx="10"/>
          </p:nvPr>
        </p:nvSpPr>
        <p:spPr/>
        <p:txBody>
          <a:bodyPr/>
          <a:lstStyle/>
          <a:p>
            <a:fld id="{B61BEF0D-F0BB-DE4B-95CE-6DB70DBA9567}" type="datetimeFigureOut">
              <a:rPr lang="en-US"/>
              <a:pPr/>
              <a:t>5/29/2026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37544420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a:pPr/>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7924883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Text med bildtext">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sv-SE"/>
              <a:t>Klicka här för att ändra mall för rubrikformat</a:t>
            </a:r>
            <a:endParaRPr lang="en-US"/>
          </a:p>
        </p:txBody>
      </p:sp>
      <p:sp>
        <p:nvSpPr>
          <p:cNvPr id="3" name="Content Placeholder 2"/>
          <p:cNvSpPr>
            <a:spLocks noGrp="1"/>
          </p:cNvSpPr>
          <p:nvPr>
            <p:ph idx="1"/>
          </p:nvPr>
        </p:nvSpPr>
        <p:spPr>
          <a:xfrm>
            <a:off x="4760461" y="514924"/>
            <a:ext cx="4513541" cy="5526437"/>
          </a:xfrm>
        </p:spPr>
        <p:txBody>
          <a:bodyPr>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sv-SE"/>
              <a:t>Klicka här för att ändra format på bakgrundstexten</a:t>
            </a:r>
          </a:p>
        </p:txBody>
      </p:sp>
      <p:sp>
        <p:nvSpPr>
          <p:cNvPr id="5" name="Date Placeholder 4"/>
          <p:cNvSpPr>
            <a:spLocks noGrp="1"/>
          </p:cNvSpPr>
          <p:nvPr>
            <p:ph type="dt" sz="half" idx="10"/>
          </p:nvPr>
        </p:nvSpPr>
        <p:spPr/>
        <p:txBody>
          <a:bodyPr/>
          <a:lstStyle/>
          <a:p>
            <a:fld id="{42A54C80-263E-416B-A8E0-580EDEADCBDC}" type="datetimeFigureOut">
              <a:rPr lang="en-US"/>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954A3-9DFD-4C44-94BA-B95130A3BA1C}" type="slidenum">
              <a:rPr lang="en-US"/>
              <a:t>‹#›</a:t>
            </a:fld>
            <a:endParaRPr lang="en-US"/>
          </a:p>
        </p:txBody>
      </p:sp>
    </p:spTree>
    <p:extLst>
      <p:ext uri="{BB962C8B-B14F-4D97-AF65-F5344CB8AC3E}">
        <p14:creationId xmlns:p14="http://schemas.microsoft.com/office/powerpoint/2010/main" val="26468140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sv-SE"/>
              <a:t>Klicka här för att ändra mall för rubrikformat</a:t>
            </a:r>
            <a:endParaRPr lang="en-US"/>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sv-SE"/>
              <a:t>Klicka på ikonen för att lägga till en bild</a:t>
            </a:r>
            <a:endParaRPr lang="en-US"/>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Klicka här för att ändra format på bakgrundstexten</a:t>
            </a:r>
          </a:p>
        </p:txBody>
      </p:sp>
      <p:sp>
        <p:nvSpPr>
          <p:cNvPr id="5" name="Date Placeholder 4"/>
          <p:cNvSpPr>
            <a:spLocks noGrp="1"/>
          </p:cNvSpPr>
          <p:nvPr>
            <p:ph type="dt" sz="half" idx="10"/>
          </p:nvPr>
        </p:nvSpPr>
        <p:spPr/>
        <p:txBody>
          <a:bodyPr/>
          <a:lstStyle/>
          <a:p>
            <a:fld id="{B61BEF0D-F0BB-DE4B-95CE-6DB70DBA9567}" type="datetimeFigureOut">
              <a:rPr lang="en-US"/>
              <a:pPr/>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39324775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el och bildtext">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sv-SE"/>
              <a:t>Klicka här för att ändra mall för rubrikformat</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Date Placeholder 3"/>
          <p:cNvSpPr>
            <a:spLocks noGrp="1"/>
          </p:cNvSpPr>
          <p:nvPr>
            <p:ph type="dt" sz="half" idx="10"/>
          </p:nvPr>
        </p:nvSpPr>
        <p:spPr/>
        <p:txBody>
          <a:bodyPr/>
          <a:lstStyle/>
          <a:p>
            <a:fld id="{B61BEF0D-F0BB-DE4B-95CE-6DB70DBA9567}" type="datetimeFigureOut">
              <a:rPr lang="en-US"/>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3365323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itat med beskrivning">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sv-SE"/>
              <a:t>Klicka här för att ändra mall för rubrikformat</a:t>
            </a:r>
            <a:endParaRPr lang="en-US"/>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sv-SE"/>
              <a:t>Klicka här för att ändra format på bakgrundstexten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Date Placeholder 3"/>
          <p:cNvSpPr>
            <a:spLocks noGrp="1"/>
          </p:cNvSpPr>
          <p:nvPr>
            <p:ph type="dt" sz="half" idx="10"/>
          </p:nvPr>
        </p:nvSpPr>
        <p:spPr/>
        <p:txBody>
          <a:bodyPr/>
          <a:lstStyle/>
          <a:p>
            <a:fld id="{B61BEF0D-F0BB-DE4B-95CE-6DB70DBA9567}" type="datetimeFigureOut">
              <a:rPr lang="en-US"/>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latin typeface="Arial"/>
              </a:rPr>
              <a:t>”</a:t>
            </a:r>
            <a:endParaRPr lang="en-US">
              <a:solidFill>
                <a:schemeClr val="accent1">
                  <a:lumMod val="60000"/>
                  <a:lumOff val="40000"/>
                </a:schemeClr>
              </a:solidFill>
              <a:latin typeface="Arial"/>
            </a:endParaRPr>
          </a:p>
        </p:txBody>
      </p:sp>
    </p:spTree>
    <p:extLst>
      <p:ext uri="{BB962C8B-B14F-4D97-AF65-F5344CB8AC3E}">
        <p14:creationId xmlns:p14="http://schemas.microsoft.com/office/powerpoint/2010/main" val="10754687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nkort">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sv-SE"/>
              <a:t>Klicka här för att ändra mall för rubrikformat</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Date Placeholder 3"/>
          <p:cNvSpPr>
            <a:spLocks noGrp="1"/>
          </p:cNvSpPr>
          <p:nvPr>
            <p:ph type="dt" sz="half" idx="10"/>
          </p:nvPr>
        </p:nvSpPr>
        <p:spPr/>
        <p:txBody>
          <a:bodyPr/>
          <a:lstStyle/>
          <a:p>
            <a:fld id="{B61BEF0D-F0BB-DE4B-95CE-6DB70DBA9567}" type="datetimeFigureOut">
              <a:rPr lang="en-US"/>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13985137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nkort för citat">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sv-SE"/>
              <a:t>Klicka här för att ändra mall för rubrikformat</a:t>
            </a:r>
            <a:endParaRPr lang="en-US"/>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sv-SE"/>
              <a:t>Klicka här för att ändra format på bakgrundstexten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Date Placeholder 3"/>
          <p:cNvSpPr>
            <a:spLocks noGrp="1"/>
          </p:cNvSpPr>
          <p:nvPr>
            <p:ph type="dt" sz="half" idx="10"/>
          </p:nvPr>
        </p:nvSpPr>
        <p:spPr/>
        <p:txBody>
          <a:bodyPr/>
          <a:lstStyle/>
          <a:p>
            <a:fld id="{B61BEF0D-F0BB-DE4B-95CE-6DB70DBA9567}" type="datetimeFigureOut">
              <a:rPr lang="en-US"/>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958797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ant eller falskt">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sv-SE"/>
              <a:t>Klicka här för att ändra mall för rubrikformat</a:t>
            </a:r>
            <a:endParaRPr lang="en-US"/>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sv-SE"/>
              <a:t>Klicka här för att ändra format på bakgrundstexten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Date Placeholder 3"/>
          <p:cNvSpPr>
            <a:spLocks noGrp="1"/>
          </p:cNvSpPr>
          <p:nvPr>
            <p:ph type="dt" sz="half" idx="10"/>
          </p:nvPr>
        </p:nvSpPr>
        <p:spPr/>
        <p:txBody>
          <a:bodyPr/>
          <a:lstStyle/>
          <a:p>
            <a:fld id="{B61BEF0D-F0BB-DE4B-95CE-6DB70DBA9567}" type="datetimeFigureOut">
              <a:rPr lang="en-US"/>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17530806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a:t>Klicka här för att ändra mall för rubrikformat</a:t>
            </a:r>
            <a:endParaRPr lang="en-US"/>
          </a:p>
        </p:txBody>
      </p:sp>
      <p:sp>
        <p:nvSpPr>
          <p:cNvPr id="3" name="Vertical Text Placeholder 2"/>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4" name="Date Placeholder 3"/>
          <p:cNvSpPr>
            <a:spLocks noGrp="1"/>
          </p:cNvSpPr>
          <p:nvPr>
            <p:ph type="dt" sz="half" idx="10"/>
          </p:nvPr>
        </p:nvSpPr>
        <p:spPr/>
        <p:txBody>
          <a:bodyPr/>
          <a:lstStyle/>
          <a:p>
            <a:fld id="{55C6B4A9-1611-4792-9094-5F34BCA07E0B}" type="datetimeFigureOut">
              <a:rPr lang="en-US"/>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33C77-0158-454C-844F-B7AB9BD7DAD4}" type="slidenum">
              <a:rPr lang="en-US"/>
              <a:t>‹#›</a:t>
            </a:fld>
            <a:endParaRPr lang="en-US"/>
          </a:p>
        </p:txBody>
      </p:sp>
    </p:spTree>
    <p:extLst>
      <p:ext uri="{BB962C8B-B14F-4D97-AF65-F5344CB8AC3E}">
        <p14:creationId xmlns:p14="http://schemas.microsoft.com/office/powerpoint/2010/main" val="16538223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sv-SE"/>
              <a:t>Klicka här för att ändra mall för rubrikformat</a:t>
            </a:r>
            <a:endParaRPr lang="en-US"/>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4" name="Date Placeholder 3"/>
          <p:cNvSpPr>
            <a:spLocks noGrp="1"/>
          </p:cNvSpPr>
          <p:nvPr>
            <p:ph type="dt" sz="half" idx="10"/>
          </p:nvPr>
        </p:nvSpPr>
        <p:spPr/>
        <p:txBody>
          <a:bodyPr/>
          <a:lstStyle/>
          <a:p>
            <a:fld id="{B61BEF0D-F0BB-DE4B-95CE-6DB70DBA9567}" type="datetimeFigureOut">
              <a:rPr lang="en-US"/>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1159434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image" Target="../media/image1.sv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61E12D-A286-B6C1-E107-F4B0D8D035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F6756572-87B7-2902-0728-41AFF9EE15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13ACB777-553E-4D23-C7D4-9D8059D401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89F9ED-2410-4CD1-B5CD-D275AA293E22}" type="datetimeFigureOut">
              <a:rPr lang="LID4096" smtClean="0"/>
              <a:t>05/29/2026</a:t>
            </a:fld>
            <a:endParaRPr lang="LID4096"/>
          </a:p>
        </p:txBody>
      </p:sp>
      <p:sp>
        <p:nvSpPr>
          <p:cNvPr id="5" name="Footer Placeholder 4">
            <a:extLst>
              <a:ext uri="{FF2B5EF4-FFF2-40B4-BE49-F238E27FC236}">
                <a16:creationId xmlns:a16="http://schemas.microsoft.com/office/drawing/2014/main" id="{564F4DEB-D6F8-9412-F14C-EEEAB909D4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Slide Number Placeholder 5">
            <a:extLst>
              <a:ext uri="{FF2B5EF4-FFF2-40B4-BE49-F238E27FC236}">
                <a16:creationId xmlns:a16="http://schemas.microsoft.com/office/drawing/2014/main" id="{B3470F63-2481-6091-985C-7523AEF10E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A4F4BA-9ECE-4834-A1C0-C8A764EAE6AA}" type="slidenum">
              <a:rPr lang="LID4096" smtClean="0"/>
              <a:t>‹#›</a:t>
            </a:fld>
            <a:endParaRPr lang="LID4096"/>
          </a:p>
        </p:txBody>
      </p:sp>
    </p:spTree>
    <p:extLst>
      <p:ext uri="{BB962C8B-B14F-4D97-AF65-F5344CB8AC3E}">
        <p14:creationId xmlns:p14="http://schemas.microsoft.com/office/powerpoint/2010/main" val="11135426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
                <a:lumOff val="95000"/>
              </a:schemeClr>
            </a:gs>
            <a:gs pos="100000">
              <a:srgbClr val="FFCCCC"/>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sv-SE"/>
              <a:t>Klicka här för att ändra mall för rubrikformat</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a:pPr/>
              <a:t>5/29/2026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a:pPr/>
              <a:t>‹#›</a:t>
            </a:fld>
            <a:endParaRPr lang="en-US"/>
          </a:p>
        </p:txBody>
      </p:sp>
      <p:pic>
        <p:nvPicPr>
          <p:cNvPr id="9" name="Bild 8">
            <a:extLst>
              <a:ext uri="{FF2B5EF4-FFF2-40B4-BE49-F238E27FC236}">
                <a16:creationId xmlns:a16="http://schemas.microsoft.com/office/drawing/2014/main" id="{40A61AF8-6CA2-4DC0-AB0C-54B2BDCB308E}"/>
              </a:ext>
            </a:extLst>
          </p:cNvPr>
          <p:cNvPicPr>
            <a:picLocks noChangeAspect="1"/>
          </p:cNvPicPr>
          <p:nvPr userDrawn="1"/>
        </p:nvPicPr>
        <p:blipFill>
          <a:blip>
            <a:extLst>
              <a:ext uri="{96DAC541-7B7A-43D3-8B79-37D633B846F1}">
                <asvg:svgBlip xmlns:asvg="http://schemas.microsoft.com/office/drawing/2016/SVG/main" r:embed="rId18"/>
              </a:ext>
            </a:extLst>
          </a:blip>
          <a:stretch>
            <a:fillRect/>
          </a:stretch>
        </p:blipFill>
        <p:spPr>
          <a:xfrm>
            <a:off x="10634870" y="4988252"/>
            <a:ext cx="1849688" cy="1849688"/>
          </a:xfrm>
          <a:prstGeom prst="rect">
            <a:avLst/>
          </a:prstGeom>
        </p:spPr>
      </p:pic>
    </p:spTree>
    <p:extLst>
      <p:ext uri="{BB962C8B-B14F-4D97-AF65-F5344CB8AC3E}">
        <p14:creationId xmlns:p14="http://schemas.microsoft.com/office/powerpoint/2010/main" val="31976377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2.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hyperlink" Target="mailto:magnus@transmokopter.se" TargetMode="External"/><Relationship Id="rId2" Type="http://schemas.openxmlformats.org/officeDocument/2006/relationships/image" Target="../media/image7.jpeg"/><Relationship Id="rId1" Type="http://schemas.openxmlformats.org/officeDocument/2006/relationships/slideLayout" Target="../slideLayouts/slideLayout13.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7E6">
            <a:alpha val="100000"/>
          </a:srgbClr>
        </a:solidFill>
        <a:effectLst/>
      </p:bgPr>
    </p:bg>
    <p:spTree>
      <p:nvGrpSpPr>
        <p:cNvPr id="1" name=""/>
        <p:cNvGrpSpPr/>
        <p:nvPr/>
      </p:nvGrpSpPr>
      <p:grpSpPr>
        <a:xfrm>
          <a:off x="0" y="0"/>
          <a:ext cx="0" cy="0"/>
          <a:chOff x="0" y="0"/>
          <a:chExt cx="0" cy="0"/>
        </a:xfrm>
      </p:grpSpPr>
      <p:pic>
        <p:nvPicPr>
          <p:cNvPr id="5" name="Picture 4" descr="Edit the existing image into a cartoon-inspired illustration: keep the same composition of a standing person in side-profile silhouette on the left, simplify into clean vector-like shapes with bold black outline, add soft pastel background with gentle wavy pattern, flat colors, minimal shading, playful modern cartoon look, no text, maintain high contrast and readability.">
            <a:extLst>
              <a:ext uri="{FF2B5EF4-FFF2-40B4-BE49-F238E27FC236}">
                <a16:creationId xmlns:a16="http://schemas.microsoft.com/office/drawing/2014/main" id="{099A75BC-ED83-4232-8CE1-447DBDA9BC2E}"/>
              </a:ext>
            </a:extLst>
          </p:cNvPr>
          <p:cNvPicPr>
            <a:picLocks noChangeAspect="1"/>
          </p:cNvPicPr>
          <p:nvPr/>
        </p:nvPicPr>
        <p:blipFill rotWithShape="1">
          <a:blip r:embed="rId2"/>
          <a:srcRect l="3304" r="3304"/>
          <a:stretch/>
        </p:blipFill>
        <p:spPr>
          <a:xfrm>
            <a:off x="0" y="0"/>
            <a:ext cx="4269917" cy="6858000"/>
          </a:xfrm>
          <a:prstGeom prst="rect">
            <a:avLst/>
          </a:prstGeom>
        </p:spPr>
      </p:pic>
      <p:pic>
        <p:nvPicPr>
          <p:cNvPr id="6" name="Picture 5" descr="Cartoon sticker-style icon of a clock with a small database cylinder, thick uniform dark charcoal outline, rounded shapes, flat vector fills in warm pastel yellow, cream, and sky blue accents, minimal details, no text, no gradients, matches a playful cartoon presentation theme">
            <a:extLst>
              <a:ext uri="{FF2B5EF4-FFF2-40B4-BE49-F238E27FC236}">
                <a16:creationId xmlns:a16="http://schemas.microsoft.com/office/drawing/2014/main" id="{A34C6BBE-DE30-5B9B-4CE1-9B7E016AC792}"/>
              </a:ext>
            </a:extLst>
          </p:cNvPr>
          <p:cNvPicPr>
            <a:picLocks noChangeAspect="1"/>
          </p:cNvPicPr>
          <p:nvPr/>
        </p:nvPicPr>
        <p:blipFill>
          <a:blip r:embed="rId3"/>
          <a:stretch>
            <a:fillRect/>
          </a:stretch>
        </p:blipFill>
        <p:spPr>
          <a:xfrm>
            <a:off x="10871200" y="425450"/>
            <a:ext cx="914400" cy="914400"/>
          </a:xfrm>
          <a:prstGeom prst="rect">
            <a:avLst/>
          </a:prstGeom>
        </p:spPr>
      </p:pic>
      <p:sp>
        <p:nvSpPr>
          <p:cNvPr id="7" name="speech_bubble">
            <a:extLst>
              <a:ext uri="{FF2B5EF4-FFF2-40B4-BE49-F238E27FC236}">
                <a16:creationId xmlns:a16="http://schemas.microsoft.com/office/drawing/2014/main" id="{BD9F8734-8A0B-41E3-96F8-E3384352BCD2}"/>
              </a:ext>
            </a:extLst>
          </p:cNvPr>
          <p:cNvSpPr/>
          <p:nvPr/>
        </p:nvSpPr>
        <p:spPr>
          <a:xfrm>
            <a:off x="5093252" y="4160299"/>
            <a:ext cx="4318000" cy="1219200"/>
          </a:xfrm>
          <a:prstGeom prst="roundRect">
            <a:avLst/>
          </a:prstGeom>
          <a:solidFill>
            <a:srgbClr val="FFFFFF"/>
          </a:solidFill>
          <a:ln w="31750" cap="rnd" cmpd="sng" algn="ctr">
            <a:solidFill>
              <a:srgbClr val="1A1A1A"/>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152400" tIns="76200" rIns="152400" bIns="76200" rtlCol="0" anchor="ctr" anchorCtr="0"/>
          <a:lstStyle/>
          <a:p>
            <a:pPr algn="ctr"/>
            <a:r>
              <a:rPr lang="en-US" sz="1400" b="1">
                <a:solidFill>
                  <a:srgbClr val="1A1A1A"/>
                </a:solidFill>
              </a:rPr>
              <a:t>Magnus Ahlkvist</a:t>
            </a:r>
          </a:p>
          <a:p>
            <a:pPr algn="ctr"/>
            <a:r>
              <a:rPr lang="en-US" sz="1400" b="1">
                <a:solidFill>
                  <a:srgbClr val="1A1A1A"/>
                </a:solidFill>
              </a:rPr>
              <a:t>He/Him</a:t>
            </a:r>
          </a:p>
        </p:txBody>
      </p:sp>
      <p:grpSp>
        <p:nvGrpSpPr>
          <p:cNvPr id="8" name="title_badge_group">
            <a:extLst>
              <a:ext uri="{FF2B5EF4-FFF2-40B4-BE49-F238E27FC236}">
                <a16:creationId xmlns:a16="http://schemas.microsoft.com/office/drawing/2014/main" id="{E61B54A3-9645-9940-6955-562C4BEAE99D}"/>
              </a:ext>
            </a:extLst>
          </p:cNvPr>
          <p:cNvGrpSpPr/>
          <p:nvPr/>
        </p:nvGrpSpPr>
        <p:grpSpPr>
          <a:xfrm>
            <a:off x="4572000" y="1714500"/>
            <a:ext cx="7112000" cy="2032000"/>
            <a:chOff x="4572000" y="1714500"/>
            <a:chExt cx="7112000" cy="2032000"/>
          </a:xfrm>
        </p:grpSpPr>
        <p:pic>
          <p:nvPicPr>
            <p:cNvPr id="3" name="Picture 2" descr="Soft pastel abstract wave background with layered flowing blob-like bands, cream base (#F7F0DD), pale blush pink (#F3B6CF), light peach pink (#F6C2D8), pale sky blue (#C7EAF6), very light aqua (#D9F4F8), gentle airbrushed gradients between layers, smooth rounded edges, no outlines, no shadows, no noise, clean modern cartoon backdrop style, ABSOLUTELY no text">
              <a:extLst>
                <a:ext uri="{FF2B5EF4-FFF2-40B4-BE49-F238E27FC236}">
                  <a16:creationId xmlns:a16="http://schemas.microsoft.com/office/drawing/2014/main" id="{3224619F-4C12-6CD8-C062-B69DA654AEB4}"/>
                </a:ext>
              </a:extLst>
            </p:cNvPr>
            <p:cNvPicPr>
              <a:picLocks noChangeAspect="1"/>
            </p:cNvPicPr>
            <p:nvPr/>
          </p:nvPicPr>
          <p:blipFill>
            <a:blip r:embed="rId4"/>
            <a:stretch>
              <a:fillRect/>
            </a:stretch>
          </p:blipFill>
          <p:spPr>
            <a:xfrm>
              <a:off x="4572000" y="1714500"/>
              <a:ext cx="7112000" cy="2032000"/>
            </a:xfrm>
            <a:prstGeom prst="rect">
              <a:avLst/>
            </a:prstGeom>
          </p:spPr>
        </p:pic>
        <p:sp>
          <p:nvSpPr>
            <p:cNvPr id="4" name="cartoon_title_badge">
              <a:extLst>
                <a:ext uri="{FF2B5EF4-FFF2-40B4-BE49-F238E27FC236}">
                  <a16:creationId xmlns:a16="http://schemas.microsoft.com/office/drawing/2014/main" id="{E9860A31-6727-443A-AEC7-4F63F3A1883C}"/>
                </a:ext>
              </a:extLst>
            </p:cNvPr>
            <p:cNvSpPr/>
            <p:nvPr/>
          </p:nvSpPr>
          <p:spPr>
            <a:xfrm>
              <a:off x="4572000" y="1714500"/>
              <a:ext cx="7112000" cy="2032000"/>
            </a:xfrm>
            <a:prstGeom prst="roundRect">
              <a:avLst/>
            </a:prstGeom>
            <a:noFill/>
            <a:ln w="38100" cap="rnd" cmpd="sng" algn="ctr">
              <a:solidFill>
                <a:srgbClr val="1B1B1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itle 1">
              <a:extLst>
                <a:ext uri="{FF2B5EF4-FFF2-40B4-BE49-F238E27FC236}">
                  <a16:creationId xmlns:a16="http://schemas.microsoft.com/office/drawing/2014/main" id="{3A9EEC31-E066-4E62-BAAB-C170893FFE25}"/>
                </a:ext>
              </a:extLst>
            </p:cNvPr>
            <p:cNvSpPr>
              <a:spLocks noGrp="1"/>
            </p:cNvSpPr>
            <p:nvPr>
              <p:ph type="ctrTitle"/>
            </p:nvPr>
          </p:nvSpPr>
          <p:spPr>
            <a:xfrm>
              <a:off x="4876800" y="1866900"/>
              <a:ext cx="6502400" cy="1727200"/>
            </a:xfrm>
          </p:spPr>
          <p:txBody>
            <a:bodyPr/>
            <a:lstStyle/>
            <a:p>
              <a:r>
                <a:rPr lang="en-US" sz="3520" b="1">
                  <a:solidFill>
                    <a:srgbClr val="1A1A1A"/>
                  </a:solidFill>
                  <a:latin typeface="Comic Sans MS" panose="030F0702030302020204" pitchFamily="66" charset="0"/>
                </a:rPr>
                <a:t>Everything you need to know about Temporal tables</a:t>
              </a:r>
              <a:br>
                <a:rPr lang="en-US" sz="3520" b="1">
                  <a:solidFill>
                    <a:srgbClr val="1A1A1A"/>
                  </a:solidFill>
                  <a:latin typeface="Comic Sans MS" panose="030F0702030302020204" pitchFamily="66" charset="0"/>
                </a:rPr>
              </a:br>
              <a:r>
                <a:rPr lang="en-US" sz="2640" b="1">
                  <a:solidFill>
                    <a:srgbClr val="1A1A1A"/>
                  </a:solidFill>
                  <a:latin typeface="Comic Sans MS" panose="030F0702030302020204" pitchFamily="66" charset="0"/>
                </a:rPr>
                <a:t>…or at least enough to get started</a:t>
              </a:r>
            </a:p>
          </p:txBody>
        </p:sp>
      </p:grpSp>
    </p:spTree>
    <p:extLst>
      <p:ext uri="{BB962C8B-B14F-4D97-AF65-F5344CB8AC3E}">
        <p14:creationId xmlns:p14="http://schemas.microsoft.com/office/powerpoint/2010/main" val="1847188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7E6">
            <a:alpha val="100000"/>
          </a:srgbClr>
        </a:solidFill>
        <a:effectLst/>
      </p:bgPr>
    </p:bg>
    <p:spTree>
      <p:nvGrpSpPr>
        <p:cNvPr id="1" name=""/>
        <p:cNvGrpSpPr/>
        <p:nvPr/>
      </p:nvGrpSpPr>
      <p:grpSpPr>
        <a:xfrm>
          <a:off x="0" y="0"/>
          <a:ext cx="0" cy="0"/>
          <a:chOff x="0" y="0"/>
          <a:chExt cx="0" cy="0"/>
        </a:xfrm>
      </p:grpSpPr>
      <p:sp>
        <p:nvSpPr>
          <p:cNvPr id="3" name="Platshållare för innehåll 2">
            <a:extLst>
              <a:ext uri="{FF2B5EF4-FFF2-40B4-BE49-F238E27FC236}">
                <a16:creationId xmlns:a16="http://schemas.microsoft.com/office/drawing/2014/main" id="{3308BB25-8932-48AF-AEB6-FF932D5D492F}"/>
              </a:ext>
            </a:extLst>
          </p:cNvPr>
          <p:cNvSpPr>
            <a:spLocks noGrp="1"/>
          </p:cNvSpPr>
          <p:nvPr>
            <p:ph idx="1"/>
          </p:nvPr>
        </p:nvSpPr>
        <p:spPr>
          <a:xfrm>
            <a:off x="677334" y="2494627"/>
            <a:ext cx="9635066" cy="3880773"/>
          </a:xfrm>
        </p:spPr>
        <p:txBody>
          <a:bodyPr>
            <a:normAutofit/>
          </a:bodyPr>
          <a:lstStyle/>
          <a:p>
            <a:r>
              <a:rPr lang="en-IN" sz="2600" dirty="0">
                <a:solidFill>
                  <a:schemeClr val="accent2"/>
                </a:solidFill>
                <a:latin typeface="Comic Sans MS" panose="030F0702030302020204" pitchFamily="66" charset="0"/>
              </a:rPr>
              <a:t>What are temporal tables and why should I care</a:t>
            </a:r>
          </a:p>
          <a:p>
            <a:r>
              <a:rPr lang="en-IN" sz="2600" dirty="0">
                <a:solidFill>
                  <a:srgbClr val="629DD1"/>
                </a:solidFill>
                <a:latin typeface="Comic Sans MS" panose="030F0702030302020204" pitchFamily="66" charset="0"/>
              </a:rPr>
              <a:t>Create a new temporal/system-versioned table</a:t>
            </a:r>
            <a:endParaRPr lang="en-IN" sz="2600" dirty="0">
              <a:solidFill>
                <a:schemeClr val="accent2"/>
              </a:solidFill>
            </a:endParaRPr>
          </a:p>
          <a:p>
            <a:r>
              <a:rPr lang="en-IN" sz="2600" dirty="0">
                <a:solidFill>
                  <a:srgbClr val="629DD1"/>
                </a:solidFill>
                <a:latin typeface="Comic Sans MS" panose="030F0702030302020204" pitchFamily="66" charset="0"/>
              </a:rPr>
              <a:t>Make an existing table system-versioned</a:t>
            </a:r>
            <a:endParaRPr lang="en-IN" sz="2600" dirty="0">
              <a:solidFill>
                <a:schemeClr val="accent2"/>
              </a:solidFill>
            </a:endParaRPr>
          </a:p>
          <a:p>
            <a:r>
              <a:rPr lang="en-IN" sz="2600" dirty="0">
                <a:solidFill>
                  <a:srgbClr val="629DD1"/>
                </a:solidFill>
                <a:latin typeface="Comic Sans MS" panose="030F0702030302020204" pitchFamily="66" charset="0"/>
              </a:rPr>
              <a:t>Migrate another temporal pattern to system-versioned</a:t>
            </a:r>
            <a:endParaRPr lang="en-IN" sz="2600" dirty="0">
              <a:solidFill>
                <a:schemeClr val="accent2"/>
              </a:solidFill>
            </a:endParaRPr>
          </a:p>
          <a:p>
            <a:r>
              <a:rPr lang="en-IN" sz="2600" dirty="0">
                <a:solidFill>
                  <a:srgbClr val="629DD1"/>
                </a:solidFill>
                <a:latin typeface="Comic Sans MS" panose="030F0702030302020204" pitchFamily="66" charset="0"/>
              </a:rPr>
              <a:t>Some performance considerations</a:t>
            </a:r>
            <a:endParaRPr lang="en-IN" sz="2600" dirty="0">
              <a:solidFill>
                <a:schemeClr val="accent2"/>
              </a:solidFill>
            </a:endParaRPr>
          </a:p>
          <a:p>
            <a:r>
              <a:rPr lang="en-IN" sz="2600" dirty="0">
                <a:solidFill>
                  <a:srgbClr val="629DD1"/>
                </a:solidFill>
                <a:latin typeface="Comic Sans MS" panose="030F0702030302020204" pitchFamily="66" charset="0"/>
              </a:rPr>
              <a:t>What I’m want in addition to all this</a:t>
            </a:r>
            <a:endParaRPr lang="en-IN" sz="2600" dirty="0">
              <a:solidFill>
                <a:schemeClr val="accent2"/>
              </a:solidFill>
            </a:endParaRPr>
          </a:p>
        </p:txBody>
      </p:sp>
      <p:pic>
        <p:nvPicPr>
          <p:cNvPr id="5" name="Picture 4" descr="Cartoon sticker-style icon of a checklist on a clipboard, thick uniform dark charcoal outline, rounded corners, flat vector fills in warm pastel yellow, cream, and sky blue accents, minimal details, no text, no gradients, matches a playful cartoon presentation theme">
            <a:extLst>
              <a:ext uri="{FF2B5EF4-FFF2-40B4-BE49-F238E27FC236}">
                <a16:creationId xmlns:a16="http://schemas.microsoft.com/office/drawing/2014/main" id="{3C45C83E-60FF-81F3-DB2C-D8438AF0C91F}"/>
              </a:ext>
            </a:extLst>
          </p:cNvPr>
          <p:cNvPicPr>
            <a:picLocks noChangeAspect="1"/>
          </p:cNvPicPr>
          <p:nvPr/>
        </p:nvPicPr>
        <p:blipFill>
          <a:blip r:embed="rId2"/>
          <a:stretch>
            <a:fillRect/>
          </a:stretch>
        </p:blipFill>
        <p:spPr>
          <a:xfrm>
            <a:off x="9398000" y="685800"/>
            <a:ext cx="914400" cy="914400"/>
          </a:xfrm>
          <a:prstGeom prst="rect">
            <a:avLst/>
          </a:prstGeom>
        </p:spPr>
      </p:pic>
      <p:grpSp>
        <p:nvGrpSpPr>
          <p:cNvPr id="7" name="title_badge_group">
            <a:extLst>
              <a:ext uri="{FF2B5EF4-FFF2-40B4-BE49-F238E27FC236}">
                <a16:creationId xmlns:a16="http://schemas.microsoft.com/office/drawing/2014/main" id="{E1738164-A9F7-75BA-BB1B-4C25F810A047}"/>
              </a:ext>
            </a:extLst>
          </p:cNvPr>
          <p:cNvGrpSpPr/>
          <p:nvPr/>
        </p:nvGrpSpPr>
        <p:grpSpPr>
          <a:xfrm>
            <a:off x="474134" y="482600"/>
            <a:ext cx="9003067" cy="1574800"/>
            <a:chOff x="474134" y="482600"/>
            <a:chExt cx="9003067" cy="1574800"/>
          </a:xfrm>
        </p:grpSpPr>
        <p:pic>
          <p:nvPicPr>
            <p:cNvPr id="6" name="Picture 5" descr="Soft pastel abstract wave background with layered flowing blob-like bands, cream base (#F7F0DD), pale blush pink (#F3B6CF), light peach pink (#F6C2D8), pale sky blue (#C7EAF6), very light aqua (#D9F4F8), gentle airbrushed gradients between layers, smooth rounded edges, no outlines, no shadows, no noise, clean modern cartoon backdrop style, ABSOLUTELY no text">
              <a:extLst>
                <a:ext uri="{FF2B5EF4-FFF2-40B4-BE49-F238E27FC236}">
                  <a16:creationId xmlns:a16="http://schemas.microsoft.com/office/drawing/2014/main" id="{B79B70E4-2176-B8A6-B5EC-96E565A314BC}"/>
                </a:ext>
              </a:extLst>
            </p:cNvPr>
            <p:cNvPicPr>
              <a:picLocks noChangeAspect="1"/>
            </p:cNvPicPr>
            <p:nvPr/>
          </p:nvPicPr>
          <p:blipFill>
            <a:blip r:embed="rId3"/>
            <a:stretch>
              <a:fillRect/>
            </a:stretch>
          </p:blipFill>
          <p:spPr>
            <a:xfrm>
              <a:off x="474134" y="482600"/>
              <a:ext cx="9003067" cy="1574800"/>
            </a:xfrm>
            <a:prstGeom prst="rect">
              <a:avLst/>
            </a:prstGeom>
          </p:spPr>
        </p:pic>
        <p:sp>
          <p:nvSpPr>
            <p:cNvPr id="4" name="cartoon_title_badge">
              <a:extLst>
                <a:ext uri="{FF2B5EF4-FFF2-40B4-BE49-F238E27FC236}">
                  <a16:creationId xmlns:a16="http://schemas.microsoft.com/office/drawing/2014/main" id="{DC19154A-9A4E-4BAE-8E65-74EA0A6B3AA5}"/>
                </a:ext>
              </a:extLst>
            </p:cNvPr>
            <p:cNvSpPr/>
            <p:nvPr/>
          </p:nvSpPr>
          <p:spPr>
            <a:xfrm>
              <a:off x="474134" y="482600"/>
              <a:ext cx="9003067" cy="1574800"/>
            </a:xfrm>
            <a:prstGeom prst="roundRect">
              <a:avLst/>
            </a:prstGeom>
            <a:noFill/>
            <a:ln w="38100" cap="rnd" cmpd="sng" algn="ctr">
              <a:solidFill>
                <a:srgbClr val="1B1B1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Rubrik 1">
              <a:extLst>
                <a:ext uri="{FF2B5EF4-FFF2-40B4-BE49-F238E27FC236}">
                  <a16:creationId xmlns:a16="http://schemas.microsoft.com/office/drawing/2014/main" id="{70C438DB-20F7-4B34-8E2C-4BF45E7293A3}"/>
                </a:ext>
              </a:extLst>
            </p:cNvPr>
            <p:cNvSpPr>
              <a:spLocks noGrp="1"/>
            </p:cNvSpPr>
            <p:nvPr>
              <p:ph type="title"/>
            </p:nvPr>
          </p:nvSpPr>
          <p:spPr>
            <a:xfrm>
              <a:off x="778934" y="635000"/>
              <a:ext cx="8393467" cy="1270000"/>
            </a:xfrm>
          </p:spPr>
          <p:txBody>
            <a:bodyPr>
              <a:normAutofit/>
            </a:bodyPr>
            <a:lstStyle/>
            <a:p>
              <a:r>
                <a:rPr lang="sv-SE" sz="3960" b="1">
                  <a:solidFill>
                    <a:srgbClr val="1A1A1A"/>
                  </a:solidFill>
                  <a:latin typeface="Comic Sans MS" panose="030F0702030302020204" pitchFamily="66" charset="0"/>
                </a:rPr>
                <a:t>Session </a:t>
              </a:r>
              <a:r>
                <a:rPr lang="sv-SE" sz="3960" b="1" err="1">
                  <a:solidFill>
                    <a:srgbClr val="1A1A1A"/>
                  </a:solidFill>
                  <a:latin typeface="Comic Sans MS" panose="030F0702030302020204" pitchFamily="66" charset="0"/>
                </a:rPr>
                <a:t>contents</a:t>
              </a:r>
              <a:endParaRPr lang="sv-SE" sz="3960" b="1">
                <a:solidFill>
                  <a:srgbClr val="1A1A1A"/>
                </a:solidFill>
                <a:latin typeface="Comic Sans MS" panose="030F0702030302020204" pitchFamily="66" charset="0"/>
              </a:endParaRPr>
            </a:p>
          </p:txBody>
        </p:sp>
      </p:grpSp>
    </p:spTree>
    <p:extLst>
      <p:ext uri="{BB962C8B-B14F-4D97-AF65-F5344CB8AC3E}">
        <p14:creationId xmlns:p14="http://schemas.microsoft.com/office/powerpoint/2010/main" val="7591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7E6">
            <a:alpha val="100000"/>
          </a:srgbClr>
        </a:solidFill>
        <a:effectLst/>
      </p:bgPr>
    </p:bg>
    <p:spTree>
      <p:nvGrpSpPr>
        <p:cNvPr id="1" name=""/>
        <p:cNvGrpSpPr/>
        <p:nvPr/>
      </p:nvGrpSpPr>
      <p:grpSpPr>
        <a:xfrm>
          <a:off x="0" y="0"/>
          <a:ext cx="0" cy="0"/>
          <a:chOff x="0" y="0"/>
          <a:chExt cx="0" cy="0"/>
        </a:xfrm>
      </p:grpSpPr>
      <p:pic>
        <p:nvPicPr>
          <p:cNvPr id="4" name="Picture 3" descr="Edit the existing image into a cartoon-inspired illustration: keep the same composition of a person in side-profile silhouette, simplify into clean vector-like shapes with bold black outline, flat fills, add soft pastel background with subtle wave texture, playful modern cartoon look, no text, maintain high contrast.">
            <a:extLst>
              <a:ext uri="{FF2B5EF4-FFF2-40B4-BE49-F238E27FC236}">
                <a16:creationId xmlns:a16="http://schemas.microsoft.com/office/drawing/2014/main" id="{891EB2BC-E034-D456-D531-ADC2ED9E132E}"/>
              </a:ext>
            </a:extLst>
          </p:cNvPr>
          <p:cNvPicPr>
            <a:picLocks noChangeAspect="1"/>
          </p:cNvPicPr>
          <p:nvPr/>
        </p:nvPicPr>
        <p:blipFill rotWithShape="1">
          <a:blip r:embed="rId2"/>
          <a:srcRect l="3304" r="3304"/>
          <a:stretch/>
        </p:blipFill>
        <p:spPr>
          <a:xfrm>
            <a:off x="7922083" y="0"/>
            <a:ext cx="4269917" cy="6858000"/>
          </a:xfrm>
          <a:prstGeom prst="rect">
            <a:avLst/>
          </a:prstGeom>
        </p:spPr>
      </p:pic>
      <p:sp>
        <p:nvSpPr>
          <p:cNvPr id="3" name="Platshållare för innehåll 2"/>
          <p:cNvSpPr>
            <a:spLocks noGrp="1"/>
          </p:cNvSpPr>
          <p:nvPr>
            <p:ph idx="1"/>
          </p:nvPr>
        </p:nvSpPr>
        <p:spPr/>
        <p:txBody>
          <a:bodyPr>
            <a:normAutofit/>
          </a:bodyPr>
          <a:lstStyle/>
          <a:p>
            <a:r>
              <a:rPr lang="sv-SE" sz="2600" dirty="0">
                <a:latin typeface="Comic Sans MS" panose="030F0702030302020204" pitchFamily="66" charset="0"/>
              </a:rPr>
              <a:t>SQL Server </a:t>
            </a:r>
            <a:r>
              <a:rPr lang="sv-SE" sz="2600" dirty="0" err="1">
                <a:latin typeface="Comic Sans MS" panose="030F0702030302020204" pitchFamily="66" charset="0"/>
              </a:rPr>
              <a:t>consultant</a:t>
            </a:r>
            <a:r>
              <a:rPr lang="sv-SE" sz="2600" dirty="0">
                <a:latin typeface="Comic Sans MS" panose="030F0702030302020204" pitchFamily="66" charset="0"/>
              </a:rPr>
              <a:t> </a:t>
            </a:r>
            <a:r>
              <a:rPr lang="sv-SE" sz="2600" dirty="0" err="1">
                <a:latin typeface="Comic Sans MS" panose="030F0702030302020204" pitchFamily="66" charset="0"/>
              </a:rPr>
              <a:t>Transmokopter</a:t>
            </a:r>
            <a:r>
              <a:rPr lang="sv-SE" sz="2600" dirty="0">
                <a:latin typeface="Comic Sans MS" panose="030F0702030302020204" pitchFamily="66" charset="0"/>
              </a:rPr>
              <a:t> SQL AB</a:t>
            </a:r>
          </a:p>
          <a:p>
            <a:r>
              <a:rPr lang="en-US" sz="2600" dirty="0">
                <a:solidFill>
                  <a:srgbClr val="404040"/>
                </a:solidFill>
                <a:latin typeface="Comic Sans MS" panose="030F0702030302020204" pitchFamily="66" charset="0"/>
              </a:rPr>
              <a:t>Data Platform MVP</a:t>
            </a:r>
            <a:endParaRPr lang="sv-SE" sz="2600" dirty="0"/>
          </a:p>
          <a:p>
            <a:r>
              <a:rPr lang="en-US" sz="2600" dirty="0">
                <a:solidFill>
                  <a:srgbClr val="404040"/>
                </a:solidFill>
                <a:latin typeface="Comic Sans MS" panose="030F0702030302020204" pitchFamily="66" charset="0"/>
              </a:rPr>
              <a:t>Social media: @transmokopter</a:t>
            </a:r>
            <a:endParaRPr lang="sv-SE" sz="2600" dirty="0"/>
          </a:p>
          <a:p>
            <a:r>
              <a:rPr lang="en-US" sz="2600" dirty="0">
                <a:solidFill>
                  <a:srgbClr val="404040"/>
                </a:solidFill>
                <a:latin typeface="Comic Sans MS" panose="030F0702030302020204" pitchFamily="66" charset="0"/>
              </a:rPr>
              <a:t>E-mail: </a:t>
            </a:r>
            <a:r>
              <a:rPr lang="en-US" sz="2600" dirty="0">
                <a:solidFill>
                  <a:srgbClr val="404040"/>
                </a:solidFill>
                <a:latin typeface="Comic Sans MS" panose="030F0702030302020204" pitchFamily="66" charset="0"/>
                <a:hlinkClick r:id="rId3"/>
              </a:rPr>
              <a:t>magnus@transmokopter.se</a:t>
            </a:r>
            <a:endParaRPr lang="en-US" sz="2600" dirty="0">
              <a:solidFill>
                <a:srgbClr val="404040"/>
              </a:solidFill>
              <a:latin typeface="Comic Sans MS" panose="030F0702030302020204" pitchFamily="66" charset="0"/>
            </a:endParaRPr>
          </a:p>
          <a:p>
            <a:r>
              <a:rPr lang="en-US" sz="2600" dirty="0">
                <a:solidFill>
                  <a:srgbClr val="404040"/>
                </a:solidFill>
                <a:latin typeface="Comic Sans MS" panose="030F0702030302020204" pitchFamily="66" charset="0"/>
              </a:rPr>
              <a:t>github.com/</a:t>
            </a:r>
            <a:r>
              <a:rPr lang="en-US" sz="2600" dirty="0" err="1">
                <a:solidFill>
                  <a:srgbClr val="404040"/>
                </a:solidFill>
                <a:latin typeface="Comic Sans MS" panose="030F0702030302020204" pitchFamily="66" charset="0"/>
              </a:rPr>
              <a:t>transmokopter</a:t>
            </a:r>
            <a:r>
              <a:rPr lang="en-US" sz="2600" dirty="0">
                <a:solidFill>
                  <a:srgbClr val="404040"/>
                </a:solidFill>
                <a:latin typeface="Comic Sans MS" panose="030F0702030302020204" pitchFamily="66" charset="0"/>
              </a:rPr>
              <a:t> – repo Presentations</a:t>
            </a:r>
          </a:p>
          <a:p>
            <a:r>
              <a:rPr lang="en-US" sz="2600" dirty="0">
                <a:solidFill>
                  <a:srgbClr val="404040"/>
                </a:solidFill>
                <a:latin typeface="Comic Sans MS" panose="030F0702030302020204" pitchFamily="66" charset="0"/>
              </a:rPr>
              <a:t>He/Him</a:t>
            </a:r>
            <a:endParaRPr lang="sv-SE" sz="2600" dirty="0"/>
          </a:p>
        </p:txBody>
      </p:sp>
      <p:pic>
        <p:nvPicPr>
          <p:cNvPr id="3076" name="Picture 4">
            <a:extLst>
              <a:ext uri="{FF2B5EF4-FFF2-40B4-BE49-F238E27FC236}">
                <a16:creationId xmlns:a16="http://schemas.microsoft.com/office/drawing/2014/main" id="{49FB2397-446C-E023-AC9C-4F7894C1DD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2083" y="6153150"/>
            <a:ext cx="1724025" cy="7048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Cartoon sticker-style icon of a friendly person avatar wearing glasses with a small SQL/database symbol, thick uniform dark charcoal outline, rounded shapes, flat vector fills in warm pastel yellow, cream, and sky blue accents, minimal details, no text, no gradients, matches a playful cartoon presentation theme">
            <a:extLst>
              <a:ext uri="{FF2B5EF4-FFF2-40B4-BE49-F238E27FC236}">
                <a16:creationId xmlns:a16="http://schemas.microsoft.com/office/drawing/2014/main" id="{C1573235-440C-D4A0-8E24-F87B59755E38}"/>
              </a:ext>
            </a:extLst>
          </p:cNvPr>
          <p:cNvPicPr>
            <a:picLocks noChangeAspect="1"/>
          </p:cNvPicPr>
          <p:nvPr/>
        </p:nvPicPr>
        <p:blipFill>
          <a:blip r:embed="rId5"/>
          <a:stretch>
            <a:fillRect/>
          </a:stretch>
        </p:blipFill>
        <p:spPr>
          <a:xfrm>
            <a:off x="6858000" y="685800"/>
            <a:ext cx="914400" cy="914400"/>
          </a:xfrm>
          <a:prstGeom prst="rect">
            <a:avLst/>
          </a:prstGeom>
        </p:spPr>
      </p:pic>
      <p:grpSp>
        <p:nvGrpSpPr>
          <p:cNvPr id="8" name="title_badge_group">
            <a:extLst>
              <a:ext uri="{FF2B5EF4-FFF2-40B4-BE49-F238E27FC236}">
                <a16:creationId xmlns:a16="http://schemas.microsoft.com/office/drawing/2014/main" id="{19F253FC-A7B6-EB44-9185-5EC38891BE23}"/>
              </a:ext>
            </a:extLst>
          </p:cNvPr>
          <p:cNvGrpSpPr/>
          <p:nvPr/>
        </p:nvGrpSpPr>
        <p:grpSpPr>
          <a:xfrm>
            <a:off x="474134" y="482600"/>
            <a:ext cx="6173157" cy="1574800"/>
            <a:chOff x="474134" y="482600"/>
            <a:chExt cx="6173157" cy="1574800"/>
          </a:xfrm>
        </p:grpSpPr>
        <p:pic>
          <p:nvPicPr>
            <p:cNvPr id="7" name="Picture 6" descr="Soft pastel abstract wave background with layered flowing blob-like bands, cream base (#F7F0DD), pale blush pink (#F3B6CF), light peach pink (#F6C2D8), pale sky blue (#C7EAF6), very light aqua (#D9F4F8), gentle airbrushed gradients between layers, smooth rounded edges, no outlines, no shadows, no noise, clean modern cartoon backdrop style, ABSOLUTELY no text">
              <a:extLst>
                <a:ext uri="{FF2B5EF4-FFF2-40B4-BE49-F238E27FC236}">
                  <a16:creationId xmlns:a16="http://schemas.microsoft.com/office/drawing/2014/main" id="{87687771-0C87-A6E2-E158-3BAD29C3C75E}"/>
                </a:ext>
              </a:extLst>
            </p:cNvPr>
            <p:cNvPicPr>
              <a:picLocks noChangeAspect="1"/>
            </p:cNvPicPr>
            <p:nvPr/>
          </p:nvPicPr>
          <p:blipFill>
            <a:blip r:embed="rId6"/>
            <a:stretch>
              <a:fillRect/>
            </a:stretch>
          </p:blipFill>
          <p:spPr>
            <a:xfrm>
              <a:off x="474134" y="482600"/>
              <a:ext cx="6173155" cy="1574800"/>
            </a:xfrm>
            <a:prstGeom prst="rect">
              <a:avLst/>
            </a:prstGeom>
          </p:spPr>
        </p:pic>
        <p:sp>
          <p:nvSpPr>
            <p:cNvPr id="5" name="cartoon_title_badge">
              <a:extLst>
                <a:ext uri="{FF2B5EF4-FFF2-40B4-BE49-F238E27FC236}">
                  <a16:creationId xmlns:a16="http://schemas.microsoft.com/office/drawing/2014/main" id="{414CBDED-01D6-4DB8-94A7-214FFAEF4716}"/>
                </a:ext>
              </a:extLst>
            </p:cNvPr>
            <p:cNvSpPr/>
            <p:nvPr/>
          </p:nvSpPr>
          <p:spPr>
            <a:xfrm>
              <a:off x="474135" y="482600"/>
              <a:ext cx="6173156" cy="1574800"/>
            </a:xfrm>
            <a:prstGeom prst="roundRect">
              <a:avLst/>
            </a:prstGeom>
            <a:noFill/>
            <a:ln w="38100" cap="rnd" cmpd="sng" algn="ctr">
              <a:solidFill>
                <a:srgbClr val="1B1B1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Rubrik 1"/>
            <p:cNvSpPr>
              <a:spLocks noGrp="1"/>
            </p:cNvSpPr>
            <p:nvPr>
              <p:ph type="title"/>
            </p:nvPr>
          </p:nvSpPr>
          <p:spPr>
            <a:xfrm>
              <a:off x="778934" y="635000"/>
              <a:ext cx="5563555" cy="1270000"/>
            </a:xfrm>
          </p:spPr>
          <p:txBody>
            <a:bodyPr>
              <a:normAutofit/>
            </a:bodyPr>
            <a:lstStyle/>
            <a:p>
              <a:r>
                <a:rPr lang="sv-SE" sz="3960" b="1" err="1">
                  <a:solidFill>
                    <a:srgbClr val="202020"/>
                  </a:solidFill>
                  <a:latin typeface="Comic Sans MS" panose="030F0702030302020204" pitchFamily="66" charset="0"/>
                </a:rPr>
                <a:t>About</a:t>
              </a:r>
              <a:r>
                <a:rPr lang="sv-SE" sz="3960" b="1">
                  <a:solidFill>
                    <a:srgbClr val="202020"/>
                  </a:solidFill>
                  <a:latin typeface="Comic Sans MS" panose="030F0702030302020204" pitchFamily="66" charset="0"/>
                </a:rPr>
                <a:t> Magnus</a:t>
              </a:r>
            </a:p>
          </p:txBody>
        </p:sp>
      </p:grpSp>
    </p:spTree>
    <p:extLst>
      <p:ext uri="{BB962C8B-B14F-4D97-AF65-F5344CB8AC3E}">
        <p14:creationId xmlns:p14="http://schemas.microsoft.com/office/powerpoint/2010/main" val="6683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7E6">
            <a:alpha val="100000"/>
          </a:srgb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E2BF73-82E9-2F1F-43E7-8F295D6F197D}"/>
              </a:ext>
            </a:extLst>
          </p:cNvPr>
          <p:cNvSpPr>
            <a:spLocks noGrp="1"/>
          </p:cNvSpPr>
          <p:nvPr>
            <p:ph idx="1"/>
          </p:nvPr>
        </p:nvSpPr>
        <p:spPr>
          <a:xfrm>
            <a:off x="677334" y="2160589"/>
            <a:ext cx="9977414" cy="4542361"/>
          </a:xfrm>
        </p:spPr>
        <p:txBody>
          <a:bodyPr>
            <a:normAutofit/>
          </a:bodyPr>
          <a:lstStyle/>
          <a:p>
            <a:r>
              <a:rPr lang="en-GB" dirty="0">
                <a:latin typeface="Comic Sans MS" panose="030F0702030302020204" pitchFamily="66" charset="0"/>
              </a:rPr>
              <a:t>Temporal tables = system-versioned tables</a:t>
            </a:r>
          </a:p>
          <a:p>
            <a:r>
              <a:rPr lang="en-GB" dirty="0">
                <a:solidFill>
                  <a:srgbClr val="404040"/>
                </a:solidFill>
                <a:latin typeface="Comic Sans MS" panose="030F0702030302020204" pitchFamily="66" charset="0"/>
              </a:rPr>
              <a:t>Automatic versioning of rows in a table</a:t>
            </a:r>
            <a:endParaRPr lang="en-GB" dirty="0"/>
          </a:p>
          <a:p>
            <a:pPr lvl="1"/>
            <a:r>
              <a:rPr lang="en-GB" dirty="0">
                <a:solidFill>
                  <a:srgbClr val="404040"/>
                </a:solidFill>
                <a:latin typeface="Comic Sans MS" panose="030F0702030302020204" pitchFamily="66" charset="0"/>
              </a:rPr>
              <a:t>Old value is moved into history table when a row is updated</a:t>
            </a:r>
            <a:endParaRPr lang="en-GB" dirty="0"/>
          </a:p>
          <a:p>
            <a:pPr lvl="1"/>
            <a:r>
              <a:rPr lang="en-GB" dirty="0">
                <a:solidFill>
                  <a:srgbClr val="404040"/>
                </a:solidFill>
                <a:latin typeface="Comic Sans MS" panose="030F0702030302020204" pitchFamily="66" charset="0"/>
              </a:rPr>
              <a:t>Old value is moved into history table when a row is deleted</a:t>
            </a:r>
            <a:endParaRPr lang="en-GB" dirty="0"/>
          </a:p>
          <a:p>
            <a:pPr marL="0" indent="0">
              <a:buNone/>
            </a:pPr>
            <a:r>
              <a:rPr lang="en-GB" sz="2400" dirty="0">
                <a:solidFill>
                  <a:srgbClr val="404040"/>
                </a:solidFill>
                <a:latin typeface="Comic Sans MS" panose="030F0702030302020204" pitchFamily="66" charset="0"/>
              </a:rPr>
              <a:t>…</a:t>
            </a:r>
            <a:r>
              <a:rPr lang="en-GB" sz="2400" dirty="0">
                <a:latin typeface="Comic Sans MS" panose="030F0702030302020204" pitchFamily="66" charset="0"/>
              </a:rPr>
              <a:t>and why should I care?</a:t>
            </a:r>
          </a:p>
          <a:p>
            <a:r>
              <a:rPr lang="en-GB" sz="2400" dirty="0">
                <a:solidFill>
                  <a:srgbClr val="404040"/>
                </a:solidFill>
                <a:latin typeface="Comic Sans MS" panose="030F0702030302020204" pitchFamily="66" charset="0"/>
              </a:rPr>
              <a:t>We</a:t>
            </a:r>
            <a:r>
              <a:rPr lang="en-GB" sz="2400" dirty="0">
                <a:latin typeface="Comic Sans MS" panose="030F0702030302020204" pitchFamily="66" charset="0"/>
              </a:rPr>
              <a:t> need to maintain an audit-trail</a:t>
            </a:r>
          </a:p>
          <a:p>
            <a:r>
              <a:rPr lang="en-GB" sz="2400" dirty="0">
                <a:solidFill>
                  <a:srgbClr val="404040"/>
                </a:solidFill>
                <a:latin typeface="Comic Sans MS" panose="030F0702030302020204" pitchFamily="66" charset="0"/>
              </a:rPr>
              <a:t>Or</a:t>
            </a:r>
            <a:r>
              <a:rPr lang="en-GB" sz="2400" dirty="0">
                <a:latin typeface="Comic Sans MS" panose="030F0702030302020204" pitchFamily="66" charset="0"/>
              </a:rPr>
              <a:t> we need to know what the price was for a product at a specific point in time</a:t>
            </a:r>
          </a:p>
          <a:p>
            <a:r>
              <a:rPr lang="en-GB" sz="2400" dirty="0">
                <a:solidFill>
                  <a:srgbClr val="404040"/>
                </a:solidFill>
                <a:latin typeface="Comic Sans MS" panose="030F0702030302020204" pitchFamily="66" charset="0"/>
              </a:rPr>
              <a:t>System-time</a:t>
            </a:r>
            <a:r>
              <a:rPr lang="en-GB" sz="2400" dirty="0">
                <a:latin typeface="Comic Sans MS" panose="030F0702030302020204" pitchFamily="66" charset="0"/>
              </a:rPr>
              <a:t> properties of a table can be used for loading SCD2 dimensions in a Data Warehouse</a:t>
            </a:r>
            <a:endParaRPr lang="en-US" dirty="0">
              <a:latin typeface="Comic Sans MS" panose="030F0702030302020204" pitchFamily="66" charset="0"/>
            </a:endParaRPr>
          </a:p>
        </p:txBody>
      </p:sp>
      <p:pic>
        <p:nvPicPr>
          <p:cNvPr id="5" name="Picture 4" descr="Cartoon sticker-style icon of a timeline arrow wrapping around a database cylinder to suggest version history, thick uniform dark charcoal outline, rounded shapes, flat vector fills in warm pastel yellow, cream, and sky blue accents, minimal details, no text, no gradients, matches a playful cartoon presentation theme">
            <a:extLst>
              <a:ext uri="{FF2B5EF4-FFF2-40B4-BE49-F238E27FC236}">
                <a16:creationId xmlns:a16="http://schemas.microsoft.com/office/drawing/2014/main" id="{38265D16-8E01-0E22-7ED6-D78C19EB7C54}"/>
              </a:ext>
            </a:extLst>
          </p:cNvPr>
          <p:cNvPicPr>
            <a:picLocks noChangeAspect="1"/>
          </p:cNvPicPr>
          <p:nvPr/>
        </p:nvPicPr>
        <p:blipFill>
          <a:blip r:embed="rId2"/>
          <a:stretch>
            <a:fillRect/>
          </a:stretch>
        </p:blipFill>
        <p:spPr>
          <a:xfrm>
            <a:off x="9533172" y="609600"/>
            <a:ext cx="914400" cy="914400"/>
          </a:xfrm>
          <a:prstGeom prst="rect">
            <a:avLst/>
          </a:prstGeom>
        </p:spPr>
      </p:pic>
      <p:grpSp>
        <p:nvGrpSpPr>
          <p:cNvPr id="7" name="title_badge_group">
            <a:extLst>
              <a:ext uri="{FF2B5EF4-FFF2-40B4-BE49-F238E27FC236}">
                <a16:creationId xmlns:a16="http://schemas.microsoft.com/office/drawing/2014/main" id="{09AF309C-232E-C34C-5592-6430B4729EF2}"/>
              </a:ext>
            </a:extLst>
          </p:cNvPr>
          <p:cNvGrpSpPr/>
          <p:nvPr/>
        </p:nvGrpSpPr>
        <p:grpSpPr>
          <a:xfrm>
            <a:off x="474134" y="482600"/>
            <a:ext cx="9003067" cy="1574800"/>
            <a:chOff x="474134" y="482600"/>
            <a:chExt cx="9003067" cy="1574800"/>
          </a:xfrm>
        </p:grpSpPr>
        <p:pic>
          <p:nvPicPr>
            <p:cNvPr id="6" name="Picture 5" descr="Soft pastel abstract wave background with layered flowing blob-like bands, cream base (#F7F0DD), pale blush pink (#F3B6CF), light peach pink (#F6C2D8), pale sky blue (#C7EAF6), very light aqua (#D9F4F8), gentle airbrushed gradients between layers, smooth rounded edges, no outlines, no shadows, no noise, clean modern cartoon backdrop style, ABSOLUTELY no text">
              <a:extLst>
                <a:ext uri="{FF2B5EF4-FFF2-40B4-BE49-F238E27FC236}">
                  <a16:creationId xmlns:a16="http://schemas.microsoft.com/office/drawing/2014/main" id="{3A214288-E216-4230-D7ED-92FFAA551DCD}"/>
                </a:ext>
              </a:extLst>
            </p:cNvPr>
            <p:cNvPicPr>
              <a:picLocks noChangeAspect="1"/>
            </p:cNvPicPr>
            <p:nvPr/>
          </p:nvPicPr>
          <p:blipFill>
            <a:blip r:embed="rId3"/>
            <a:stretch>
              <a:fillRect/>
            </a:stretch>
          </p:blipFill>
          <p:spPr>
            <a:xfrm>
              <a:off x="474134" y="482600"/>
              <a:ext cx="9003067" cy="1574800"/>
            </a:xfrm>
            <a:prstGeom prst="rect">
              <a:avLst/>
            </a:prstGeom>
          </p:spPr>
        </p:pic>
        <p:sp>
          <p:nvSpPr>
            <p:cNvPr id="4" name="cartoon_title_badge">
              <a:extLst>
                <a:ext uri="{FF2B5EF4-FFF2-40B4-BE49-F238E27FC236}">
                  <a16:creationId xmlns:a16="http://schemas.microsoft.com/office/drawing/2014/main" id="{218F38A6-4799-472F-9665-B18427376DA4}"/>
                </a:ext>
              </a:extLst>
            </p:cNvPr>
            <p:cNvSpPr/>
            <p:nvPr/>
          </p:nvSpPr>
          <p:spPr>
            <a:xfrm>
              <a:off x="474134" y="482600"/>
              <a:ext cx="9003067" cy="1574800"/>
            </a:xfrm>
            <a:prstGeom prst="roundRect">
              <a:avLst/>
            </a:prstGeom>
            <a:noFill/>
            <a:ln w="38100" cap="rnd" cmpd="sng" algn="ctr">
              <a:solidFill>
                <a:srgbClr val="1B1B1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itle 1">
              <a:extLst>
                <a:ext uri="{FF2B5EF4-FFF2-40B4-BE49-F238E27FC236}">
                  <a16:creationId xmlns:a16="http://schemas.microsoft.com/office/drawing/2014/main" id="{0200BDE3-F4E3-AE3B-359C-EF127300123E}"/>
                </a:ext>
              </a:extLst>
            </p:cNvPr>
            <p:cNvSpPr>
              <a:spLocks noGrp="1"/>
            </p:cNvSpPr>
            <p:nvPr>
              <p:ph type="title"/>
            </p:nvPr>
          </p:nvSpPr>
          <p:spPr>
            <a:xfrm>
              <a:off x="778934" y="635000"/>
              <a:ext cx="8393467" cy="1270000"/>
            </a:xfrm>
          </p:spPr>
          <p:txBody>
            <a:bodyPr>
              <a:normAutofit fontScale="90000"/>
            </a:bodyPr>
            <a:lstStyle/>
            <a:p>
              <a:r>
                <a:rPr lang="en-GB" sz="3960" b="1">
                  <a:solidFill>
                    <a:srgbClr val="1A1A1A"/>
                  </a:solidFill>
                  <a:latin typeface="Comic Sans MS" panose="030F0702030302020204" pitchFamily="66" charset="0"/>
                </a:rPr>
                <a:t>What are temporal tables and why should I care?</a:t>
              </a:r>
              <a:endParaRPr lang="LID4096" sz="3960" b="1">
                <a:solidFill>
                  <a:srgbClr val="1A1A1A"/>
                </a:solidFill>
                <a:latin typeface="Comic Sans MS" panose="030F0702030302020204" pitchFamily="66" charset="0"/>
              </a:endParaRPr>
            </a:p>
          </p:txBody>
        </p:sp>
      </p:grpSp>
    </p:spTree>
    <p:extLst>
      <p:ext uri="{BB962C8B-B14F-4D97-AF65-F5344CB8AC3E}">
        <p14:creationId xmlns:p14="http://schemas.microsoft.com/office/powerpoint/2010/main" val="2309318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7E6">
            <a:alpha val="100000"/>
          </a:srgb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E563E6-E2F4-FBD6-5A01-E5B17224FAB0}"/>
              </a:ext>
            </a:extLst>
          </p:cNvPr>
          <p:cNvSpPr>
            <a:spLocks noGrp="1"/>
          </p:cNvSpPr>
          <p:nvPr>
            <p:ph idx="1"/>
          </p:nvPr>
        </p:nvSpPr>
        <p:spPr>
          <a:xfrm>
            <a:off x="677334" y="2160589"/>
            <a:ext cx="10001268" cy="4510555"/>
          </a:xfrm>
        </p:spPr>
        <p:txBody>
          <a:bodyPr>
            <a:normAutofit/>
          </a:bodyPr>
          <a:lstStyle/>
          <a:p>
            <a:r>
              <a:rPr lang="en-GB" sz="2400" dirty="0">
                <a:latin typeface="Comic Sans MS" panose="030F0702030302020204" pitchFamily="66" charset="0"/>
              </a:rPr>
              <a:t>A new table with versioning</a:t>
            </a:r>
          </a:p>
          <a:p>
            <a:pPr lvl="1"/>
            <a:r>
              <a:rPr lang="en-GB" sz="2000" dirty="0">
                <a:solidFill>
                  <a:srgbClr val="404040"/>
                </a:solidFill>
                <a:latin typeface="Comic Sans MS" panose="030F0702030302020204" pitchFamily="66" charset="0"/>
              </a:rPr>
              <a:t>“Easy” – just create the table as system versioned</a:t>
            </a:r>
            <a:endParaRPr lang="en-GB" sz="2000" dirty="0"/>
          </a:p>
          <a:p>
            <a:r>
              <a:rPr lang="en-GB" sz="2400" dirty="0">
                <a:solidFill>
                  <a:srgbClr val="404040"/>
                </a:solidFill>
                <a:latin typeface="Comic Sans MS" panose="030F0702030302020204" pitchFamily="66" charset="0"/>
              </a:rPr>
              <a:t>An existing table that you want to start versioning</a:t>
            </a:r>
            <a:endParaRPr lang="en-GB" sz="2400" dirty="0"/>
          </a:p>
          <a:p>
            <a:pPr lvl="1"/>
            <a:r>
              <a:rPr lang="en-GB" sz="2000" dirty="0">
                <a:solidFill>
                  <a:srgbClr val="404040"/>
                </a:solidFill>
                <a:latin typeface="Comic Sans MS" panose="030F0702030302020204" pitchFamily="66" charset="0"/>
              </a:rPr>
              <a:t>“Less easy but not really too hard”. Create the From- and To-columns, give them default values and then start versioning.</a:t>
            </a:r>
            <a:endParaRPr lang="en-GB" sz="2000" dirty="0"/>
          </a:p>
          <a:p>
            <a:r>
              <a:rPr lang="en-GB" sz="2400" dirty="0">
                <a:solidFill>
                  <a:srgbClr val="404040"/>
                </a:solidFill>
                <a:latin typeface="Comic Sans MS" panose="030F0702030302020204" pitchFamily="66" charset="0"/>
              </a:rPr>
              <a:t>An existing table versioned with some sort of home-cooked temporal pattern</a:t>
            </a:r>
            <a:endParaRPr lang="en-GB" sz="2400" dirty="0"/>
          </a:p>
          <a:p>
            <a:pPr lvl="1"/>
            <a:r>
              <a:rPr lang="en-GB" sz="2000" dirty="0">
                <a:solidFill>
                  <a:srgbClr val="404040"/>
                </a:solidFill>
                <a:latin typeface="Comic Sans MS" panose="030F0702030302020204" pitchFamily="66" charset="0"/>
              </a:rPr>
              <a:t>“More complex, implementation requires downtime”. Alter existing columns to datetime2(7). Create history table. Move history rows to history table. Set new To-value, if it’s not already 9999-12-31 23:59:59.9999999. </a:t>
            </a:r>
            <a:endParaRPr lang="LID4096" sz="2000" dirty="0"/>
          </a:p>
        </p:txBody>
      </p:sp>
      <p:pic>
        <p:nvPicPr>
          <p:cNvPr id="5" name="Picture 4" descr="Cartoon sticker-style icon showing three rounded panels labeled by simple shapes (triangle, circle, square) to represent three scenarios, thick uniform dark charcoal outline, flat vector fills in warm pastel yellow, cream, and sky blue accents, minimal details, no text, no gradients, matches a playful cartoon presentation theme">
            <a:extLst>
              <a:ext uri="{FF2B5EF4-FFF2-40B4-BE49-F238E27FC236}">
                <a16:creationId xmlns:a16="http://schemas.microsoft.com/office/drawing/2014/main" id="{35CD9409-1AD7-206A-441A-0675E8830329}"/>
              </a:ext>
            </a:extLst>
          </p:cNvPr>
          <p:cNvPicPr>
            <a:picLocks noChangeAspect="1"/>
          </p:cNvPicPr>
          <p:nvPr/>
        </p:nvPicPr>
        <p:blipFill>
          <a:blip r:embed="rId2"/>
          <a:stretch>
            <a:fillRect/>
          </a:stretch>
        </p:blipFill>
        <p:spPr>
          <a:xfrm>
            <a:off x="9477201" y="737395"/>
            <a:ext cx="914400" cy="914400"/>
          </a:xfrm>
          <a:prstGeom prst="rect">
            <a:avLst/>
          </a:prstGeom>
        </p:spPr>
      </p:pic>
      <p:grpSp>
        <p:nvGrpSpPr>
          <p:cNvPr id="7" name="title_badge_group">
            <a:extLst>
              <a:ext uri="{FF2B5EF4-FFF2-40B4-BE49-F238E27FC236}">
                <a16:creationId xmlns:a16="http://schemas.microsoft.com/office/drawing/2014/main" id="{749F879E-5A8E-533C-CB0F-8EA333BCA930}"/>
              </a:ext>
            </a:extLst>
          </p:cNvPr>
          <p:cNvGrpSpPr/>
          <p:nvPr/>
        </p:nvGrpSpPr>
        <p:grpSpPr>
          <a:xfrm>
            <a:off x="474134" y="482600"/>
            <a:ext cx="9003067" cy="1574800"/>
            <a:chOff x="474134" y="482600"/>
            <a:chExt cx="9003067" cy="1574800"/>
          </a:xfrm>
        </p:grpSpPr>
        <p:pic>
          <p:nvPicPr>
            <p:cNvPr id="6" name="Picture 5" descr="Soft pastel abstract wave background with layered flowing blob-like bands, cream base (#F7F0DD), pale blush pink (#F3B6CF), light peach pink (#F6C2D8), pale sky blue (#C7EAF6), very light aqua (#D9F4F8), gentle airbrushed gradients between layers, smooth rounded edges, no outlines, no shadows, no noise, clean modern cartoon backdrop style, ABSOLUTELY no text">
              <a:extLst>
                <a:ext uri="{FF2B5EF4-FFF2-40B4-BE49-F238E27FC236}">
                  <a16:creationId xmlns:a16="http://schemas.microsoft.com/office/drawing/2014/main" id="{95D91423-5F62-5179-8C2B-E8C4CF92F772}"/>
                </a:ext>
              </a:extLst>
            </p:cNvPr>
            <p:cNvPicPr>
              <a:picLocks noChangeAspect="1"/>
            </p:cNvPicPr>
            <p:nvPr/>
          </p:nvPicPr>
          <p:blipFill>
            <a:blip r:embed="rId3"/>
            <a:stretch>
              <a:fillRect/>
            </a:stretch>
          </p:blipFill>
          <p:spPr>
            <a:xfrm>
              <a:off x="474134" y="482600"/>
              <a:ext cx="9003067" cy="1574800"/>
            </a:xfrm>
            <a:prstGeom prst="rect">
              <a:avLst/>
            </a:prstGeom>
          </p:spPr>
        </p:pic>
        <p:sp>
          <p:nvSpPr>
            <p:cNvPr id="4" name="cartoon_title_badge">
              <a:extLst>
                <a:ext uri="{FF2B5EF4-FFF2-40B4-BE49-F238E27FC236}">
                  <a16:creationId xmlns:a16="http://schemas.microsoft.com/office/drawing/2014/main" id="{81D665E3-5BE2-41F2-A76E-058D7620AB89}"/>
                </a:ext>
              </a:extLst>
            </p:cNvPr>
            <p:cNvSpPr/>
            <p:nvPr/>
          </p:nvSpPr>
          <p:spPr>
            <a:xfrm>
              <a:off x="474134" y="482600"/>
              <a:ext cx="9003067" cy="1574800"/>
            </a:xfrm>
            <a:prstGeom prst="roundRect">
              <a:avLst/>
            </a:prstGeom>
            <a:noFill/>
            <a:ln w="38100" cap="rnd" cmpd="sng" algn="ctr">
              <a:solidFill>
                <a:srgbClr val="1B1B1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itle 1">
              <a:extLst>
                <a:ext uri="{FF2B5EF4-FFF2-40B4-BE49-F238E27FC236}">
                  <a16:creationId xmlns:a16="http://schemas.microsoft.com/office/drawing/2014/main" id="{F2B3506C-F8E4-30C1-7E15-086578F66E31}"/>
                </a:ext>
              </a:extLst>
            </p:cNvPr>
            <p:cNvSpPr>
              <a:spLocks noGrp="1"/>
            </p:cNvSpPr>
            <p:nvPr>
              <p:ph type="title"/>
            </p:nvPr>
          </p:nvSpPr>
          <p:spPr>
            <a:xfrm>
              <a:off x="778934" y="635000"/>
              <a:ext cx="8393467" cy="1270000"/>
            </a:xfrm>
          </p:spPr>
          <p:txBody>
            <a:bodyPr>
              <a:normAutofit/>
            </a:bodyPr>
            <a:lstStyle/>
            <a:p>
              <a:r>
                <a:rPr lang="en-GB" sz="3960" b="1">
                  <a:solidFill>
                    <a:srgbClr val="1A1A1A"/>
                  </a:solidFill>
                  <a:latin typeface="Comic Sans MS" panose="030F0702030302020204" pitchFamily="66" charset="0"/>
                </a:rPr>
                <a:t>Three scenarios</a:t>
              </a:r>
              <a:endParaRPr lang="LID4096" sz="3960" b="1">
                <a:solidFill>
                  <a:srgbClr val="1A1A1A"/>
                </a:solidFill>
                <a:latin typeface="Comic Sans MS" panose="030F0702030302020204" pitchFamily="66" charset="0"/>
              </a:endParaRPr>
            </a:p>
          </p:txBody>
        </p:sp>
      </p:grpSp>
    </p:spTree>
    <p:extLst>
      <p:ext uri="{BB962C8B-B14F-4D97-AF65-F5344CB8AC3E}">
        <p14:creationId xmlns:p14="http://schemas.microsoft.com/office/powerpoint/2010/main" val="3712948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7E6">
            <a:alpha val="100000"/>
          </a:srgb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5B0A67-E132-A29C-7302-D99065A7C9D2}"/>
              </a:ext>
            </a:extLst>
          </p:cNvPr>
          <p:cNvSpPr>
            <a:spLocks noGrp="1"/>
          </p:cNvSpPr>
          <p:nvPr>
            <p:ph idx="1"/>
          </p:nvPr>
        </p:nvSpPr>
        <p:spPr>
          <a:xfrm>
            <a:off x="677333" y="2160589"/>
            <a:ext cx="9961511" cy="4454896"/>
          </a:xfrm>
        </p:spPr>
        <p:txBody>
          <a:bodyPr>
            <a:normAutofit/>
          </a:bodyPr>
          <a:lstStyle/>
          <a:p>
            <a:r>
              <a:rPr lang="en-GB" sz="2400" dirty="0">
                <a:latin typeface="Comic Sans MS" panose="030F0702030302020204" pitchFamily="66" charset="0"/>
              </a:rPr>
              <a:t>Selecting historical records means accessing both the “current” and the history table.</a:t>
            </a:r>
          </a:p>
          <a:p>
            <a:pPr lvl="1"/>
            <a:r>
              <a:rPr lang="en-GB" sz="2000" dirty="0">
                <a:solidFill>
                  <a:srgbClr val="404040"/>
                </a:solidFill>
                <a:latin typeface="Comic Sans MS" panose="030F0702030302020204" pitchFamily="66" charset="0"/>
              </a:rPr>
              <a:t>Look at execution plans, figure out indexing patterns for your history table</a:t>
            </a:r>
            <a:endParaRPr lang="en-GB" sz="2000" dirty="0"/>
          </a:p>
          <a:p>
            <a:r>
              <a:rPr lang="en-GB" sz="2400" dirty="0">
                <a:solidFill>
                  <a:srgbClr val="404040"/>
                </a:solidFill>
                <a:latin typeface="Comic Sans MS" panose="030F0702030302020204" pitchFamily="66" charset="0"/>
              </a:rPr>
              <a:t>Everything is duplicated. The whole row, not just the changes.</a:t>
            </a:r>
            <a:endParaRPr lang="en-GB" sz="2400" dirty="0"/>
          </a:p>
          <a:p>
            <a:pPr lvl="1"/>
            <a:r>
              <a:rPr lang="en-GB" sz="2000" dirty="0">
                <a:solidFill>
                  <a:srgbClr val="404040"/>
                </a:solidFill>
                <a:latin typeface="Comic Sans MS" panose="030F0702030302020204" pitchFamily="66" charset="0"/>
              </a:rPr>
              <a:t>80 columns in a table, two or three columns that can ever change =&gt; Probably worth reworking your data model</a:t>
            </a:r>
            <a:endParaRPr lang="en-GB" sz="2000" dirty="0"/>
          </a:p>
          <a:p>
            <a:r>
              <a:rPr lang="en-GB" sz="2400" dirty="0">
                <a:solidFill>
                  <a:srgbClr val="404040"/>
                </a:solidFill>
                <a:latin typeface="Comic Sans MS" panose="030F0702030302020204" pitchFamily="66" charset="0"/>
              </a:rPr>
              <a:t>Purging historical records</a:t>
            </a:r>
            <a:endParaRPr lang="en-GB" sz="2400" dirty="0"/>
          </a:p>
          <a:p>
            <a:pPr lvl="1"/>
            <a:r>
              <a:rPr lang="en-GB" sz="2000" dirty="0">
                <a:solidFill>
                  <a:srgbClr val="404040"/>
                </a:solidFill>
                <a:latin typeface="Comic Sans MS" panose="030F0702030302020204" pitchFamily="66" charset="0"/>
              </a:rPr>
              <a:t>Set HISTORY_RETENTION_PERIOD when you enable system versioning</a:t>
            </a:r>
            <a:endParaRPr lang="en-GB" sz="2000" dirty="0"/>
          </a:p>
          <a:p>
            <a:pPr lvl="1"/>
            <a:r>
              <a:rPr lang="en-GB" sz="2000" dirty="0">
                <a:solidFill>
                  <a:srgbClr val="404040"/>
                </a:solidFill>
                <a:latin typeface="Comic Sans MS" panose="030F0702030302020204" pitchFamily="66" charset="0"/>
              </a:rPr>
              <a:t>Or (probably more effective for you) – partition the history table and switch out the oldest partition in a scheduled job</a:t>
            </a:r>
            <a:endParaRPr lang="LID4096" sz="2000" dirty="0"/>
          </a:p>
        </p:txBody>
      </p:sp>
      <p:pic>
        <p:nvPicPr>
          <p:cNvPr id="5" name="Picture 4" descr="Cartoon sticker-style warning icon: a rounded caution sign with an exclamation mark symbol (no text), thick uniform dark charcoal outline, flat vector fills in warm pastel yellow and sky blue accents, minimal details, no gradients, matches a playful cartoon presentation theme">
            <a:extLst>
              <a:ext uri="{FF2B5EF4-FFF2-40B4-BE49-F238E27FC236}">
                <a16:creationId xmlns:a16="http://schemas.microsoft.com/office/drawing/2014/main" id="{A8C2C985-942C-841C-0704-C47D7832BE8B}"/>
              </a:ext>
            </a:extLst>
          </p:cNvPr>
          <p:cNvPicPr>
            <a:picLocks noChangeAspect="1"/>
          </p:cNvPicPr>
          <p:nvPr/>
        </p:nvPicPr>
        <p:blipFill>
          <a:blip r:embed="rId2"/>
          <a:stretch>
            <a:fillRect/>
          </a:stretch>
        </p:blipFill>
        <p:spPr>
          <a:xfrm>
            <a:off x="9680401" y="609600"/>
            <a:ext cx="914400" cy="914400"/>
          </a:xfrm>
          <a:prstGeom prst="rect">
            <a:avLst/>
          </a:prstGeom>
        </p:spPr>
      </p:pic>
      <p:grpSp>
        <p:nvGrpSpPr>
          <p:cNvPr id="7" name="title_badge_group">
            <a:extLst>
              <a:ext uri="{FF2B5EF4-FFF2-40B4-BE49-F238E27FC236}">
                <a16:creationId xmlns:a16="http://schemas.microsoft.com/office/drawing/2014/main" id="{8A6B55C9-2697-20D8-9789-47143DADFECC}"/>
              </a:ext>
            </a:extLst>
          </p:cNvPr>
          <p:cNvGrpSpPr/>
          <p:nvPr/>
        </p:nvGrpSpPr>
        <p:grpSpPr>
          <a:xfrm>
            <a:off x="474134" y="482600"/>
            <a:ext cx="9003067" cy="1574800"/>
            <a:chOff x="474134" y="482600"/>
            <a:chExt cx="9003067" cy="1574800"/>
          </a:xfrm>
        </p:grpSpPr>
        <p:pic>
          <p:nvPicPr>
            <p:cNvPr id="6" name="Picture 5" descr="Soft pastel abstract wave background with layered flowing blob-like bands, cream base (#F7F0DD), pale blush pink (#F3B6CF), light peach pink (#F6C2D8), pale sky blue (#C7EAF6), very light aqua (#D9F4F8), gentle airbrushed gradients between layers, smooth rounded edges, no outlines, no shadows, no noise, clean modern cartoon backdrop style, ABSOLUTELY no text">
              <a:extLst>
                <a:ext uri="{FF2B5EF4-FFF2-40B4-BE49-F238E27FC236}">
                  <a16:creationId xmlns:a16="http://schemas.microsoft.com/office/drawing/2014/main" id="{DEF7252C-69F5-F6C1-59B5-1DD9C7860CA0}"/>
                </a:ext>
              </a:extLst>
            </p:cNvPr>
            <p:cNvPicPr>
              <a:picLocks noChangeAspect="1"/>
            </p:cNvPicPr>
            <p:nvPr/>
          </p:nvPicPr>
          <p:blipFill>
            <a:blip r:embed="rId3"/>
            <a:stretch>
              <a:fillRect/>
            </a:stretch>
          </p:blipFill>
          <p:spPr>
            <a:xfrm>
              <a:off x="474134" y="482600"/>
              <a:ext cx="9003067" cy="1574800"/>
            </a:xfrm>
            <a:prstGeom prst="rect">
              <a:avLst/>
            </a:prstGeom>
          </p:spPr>
        </p:pic>
        <p:sp>
          <p:nvSpPr>
            <p:cNvPr id="4" name="cartoon_title_badge">
              <a:extLst>
                <a:ext uri="{FF2B5EF4-FFF2-40B4-BE49-F238E27FC236}">
                  <a16:creationId xmlns:a16="http://schemas.microsoft.com/office/drawing/2014/main" id="{A11FE5DD-08BA-42D9-A40C-425050C25411}"/>
                </a:ext>
              </a:extLst>
            </p:cNvPr>
            <p:cNvSpPr/>
            <p:nvPr/>
          </p:nvSpPr>
          <p:spPr>
            <a:xfrm>
              <a:off x="474134" y="482600"/>
              <a:ext cx="9003067" cy="1574800"/>
            </a:xfrm>
            <a:prstGeom prst="roundRect">
              <a:avLst/>
            </a:prstGeom>
            <a:noFill/>
            <a:ln w="38100" cap="rnd" cmpd="sng" algn="ctr">
              <a:solidFill>
                <a:srgbClr val="1B1B1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itle 1">
              <a:extLst>
                <a:ext uri="{FF2B5EF4-FFF2-40B4-BE49-F238E27FC236}">
                  <a16:creationId xmlns:a16="http://schemas.microsoft.com/office/drawing/2014/main" id="{D2FA1F3D-EE82-F800-E95F-B6F4B48C007C}"/>
                </a:ext>
              </a:extLst>
            </p:cNvPr>
            <p:cNvSpPr>
              <a:spLocks noGrp="1"/>
            </p:cNvSpPr>
            <p:nvPr>
              <p:ph type="title"/>
            </p:nvPr>
          </p:nvSpPr>
          <p:spPr>
            <a:xfrm>
              <a:off x="778934" y="635000"/>
              <a:ext cx="8393467" cy="1270000"/>
            </a:xfrm>
          </p:spPr>
          <p:txBody>
            <a:bodyPr>
              <a:normAutofit/>
            </a:bodyPr>
            <a:lstStyle/>
            <a:p>
              <a:r>
                <a:rPr lang="en-GB" sz="3960" b="1" dirty="0">
                  <a:solidFill>
                    <a:srgbClr val="222222"/>
                  </a:solidFill>
                  <a:latin typeface="Comic Sans MS" panose="030F0702030302020204" pitchFamily="66" charset="0"/>
                </a:rPr>
                <a:t>Gotchas</a:t>
              </a:r>
              <a:endParaRPr lang="LID4096" sz="3960" b="1" dirty="0">
                <a:solidFill>
                  <a:srgbClr val="222222"/>
                </a:solidFill>
                <a:latin typeface="Comic Sans MS" panose="030F0702030302020204" pitchFamily="66" charset="0"/>
              </a:endParaRPr>
            </a:p>
          </p:txBody>
        </p:sp>
      </p:grpSp>
    </p:spTree>
    <p:extLst>
      <p:ext uri="{BB962C8B-B14F-4D97-AF65-F5344CB8AC3E}">
        <p14:creationId xmlns:p14="http://schemas.microsoft.com/office/powerpoint/2010/main" val="1077638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7E6">
            <a:alpha val="100000"/>
          </a:srgb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1930CA-9BC4-3C7B-0266-4EAD77066D04}"/>
              </a:ext>
            </a:extLst>
          </p:cNvPr>
          <p:cNvSpPr>
            <a:spLocks noGrp="1"/>
          </p:cNvSpPr>
          <p:nvPr>
            <p:ph idx="1"/>
          </p:nvPr>
        </p:nvSpPr>
        <p:spPr/>
        <p:txBody>
          <a:bodyPr>
            <a:normAutofit/>
          </a:bodyPr>
          <a:lstStyle/>
          <a:p>
            <a:pPr marL="0" indent="0">
              <a:buNone/>
            </a:pPr>
            <a:r>
              <a:rPr lang="en-GB" sz="16000" dirty="0">
                <a:latin typeface="Comic Sans MS" panose="030F0702030302020204" pitchFamily="66" charset="0"/>
              </a:rPr>
              <a:t>Demo</a:t>
            </a:r>
          </a:p>
        </p:txBody>
      </p:sp>
      <p:pic>
        <p:nvPicPr>
          <p:cNvPr id="5" name="Picture 4" descr="Cartoon sticker-style icon of a play button inside a monitor with small gear to represent demo/how it works, thick uniform dark charcoal outline, rounded shapes, flat vector fills in warm pastel yellow, cream, and sky blue accents, minimal details, no text, no gradients, matches a playful cartoon presentation theme">
            <a:extLst>
              <a:ext uri="{FF2B5EF4-FFF2-40B4-BE49-F238E27FC236}">
                <a16:creationId xmlns:a16="http://schemas.microsoft.com/office/drawing/2014/main" id="{40B7C790-B5D7-BBC0-1658-18B75BA44A71}"/>
              </a:ext>
            </a:extLst>
          </p:cNvPr>
          <p:cNvPicPr>
            <a:picLocks noChangeAspect="1"/>
          </p:cNvPicPr>
          <p:nvPr/>
        </p:nvPicPr>
        <p:blipFill>
          <a:blip r:embed="rId2"/>
          <a:stretch>
            <a:fillRect/>
          </a:stretch>
        </p:blipFill>
        <p:spPr>
          <a:xfrm>
            <a:off x="9477201" y="609600"/>
            <a:ext cx="914400" cy="914400"/>
          </a:xfrm>
          <a:prstGeom prst="rect">
            <a:avLst/>
          </a:prstGeom>
        </p:spPr>
      </p:pic>
      <p:grpSp>
        <p:nvGrpSpPr>
          <p:cNvPr id="7" name="title_badge_group">
            <a:extLst>
              <a:ext uri="{FF2B5EF4-FFF2-40B4-BE49-F238E27FC236}">
                <a16:creationId xmlns:a16="http://schemas.microsoft.com/office/drawing/2014/main" id="{A6EE4DF2-AD08-BCBE-7388-95172F7FE2E8}"/>
              </a:ext>
            </a:extLst>
          </p:cNvPr>
          <p:cNvGrpSpPr/>
          <p:nvPr/>
        </p:nvGrpSpPr>
        <p:grpSpPr>
          <a:xfrm>
            <a:off x="474134" y="482600"/>
            <a:ext cx="9003067" cy="1574800"/>
            <a:chOff x="474134" y="482600"/>
            <a:chExt cx="9003067" cy="1574800"/>
          </a:xfrm>
        </p:grpSpPr>
        <p:pic>
          <p:nvPicPr>
            <p:cNvPr id="6" name="Picture 5" descr="Soft pastel abstract wave background with layered flowing blob-like bands, cream base (#F7F0DD), pale blush pink (#F3B6CF), light peach pink (#F6C2D8), pale sky blue (#C7EAF6), very light aqua (#D9F4F8), gentle airbrushed gradients between layers, smooth rounded edges, no outlines, no shadows, no noise, clean modern cartoon backdrop style, ABSOLUTELY no text">
              <a:extLst>
                <a:ext uri="{FF2B5EF4-FFF2-40B4-BE49-F238E27FC236}">
                  <a16:creationId xmlns:a16="http://schemas.microsoft.com/office/drawing/2014/main" id="{E7CBAFD8-68A0-AE46-3C24-6A367D03C14A}"/>
                </a:ext>
              </a:extLst>
            </p:cNvPr>
            <p:cNvPicPr>
              <a:picLocks noChangeAspect="1"/>
            </p:cNvPicPr>
            <p:nvPr/>
          </p:nvPicPr>
          <p:blipFill>
            <a:blip r:embed="rId3"/>
            <a:stretch>
              <a:fillRect/>
            </a:stretch>
          </p:blipFill>
          <p:spPr>
            <a:xfrm>
              <a:off x="474134" y="482600"/>
              <a:ext cx="9003067" cy="1574800"/>
            </a:xfrm>
            <a:prstGeom prst="rect">
              <a:avLst/>
            </a:prstGeom>
          </p:spPr>
        </p:pic>
        <p:sp>
          <p:nvSpPr>
            <p:cNvPr id="4" name="cartoon_title_badge">
              <a:extLst>
                <a:ext uri="{FF2B5EF4-FFF2-40B4-BE49-F238E27FC236}">
                  <a16:creationId xmlns:a16="http://schemas.microsoft.com/office/drawing/2014/main" id="{9442FF61-6196-4141-8998-CB98D2340E95}"/>
                </a:ext>
              </a:extLst>
            </p:cNvPr>
            <p:cNvSpPr/>
            <p:nvPr/>
          </p:nvSpPr>
          <p:spPr>
            <a:xfrm>
              <a:off x="474134" y="482600"/>
              <a:ext cx="9003067" cy="1574800"/>
            </a:xfrm>
            <a:prstGeom prst="roundRect">
              <a:avLst/>
            </a:prstGeom>
            <a:noFill/>
            <a:ln w="38100" cap="rnd" cmpd="sng" algn="ctr">
              <a:solidFill>
                <a:srgbClr val="1B1B1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itle 1">
              <a:extLst>
                <a:ext uri="{FF2B5EF4-FFF2-40B4-BE49-F238E27FC236}">
                  <a16:creationId xmlns:a16="http://schemas.microsoft.com/office/drawing/2014/main" id="{CB8A1E9D-B2EF-967E-E277-90525DD93FE1}"/>
                </a:ext>
              </a:extLst>
            </p:cNvPr>
            <p:cNvSpPr>
              <a:spLocks noGrp="1"/>
            </p:cNvSpPr>
            <p:nvPr>
              <p:ph type="title"/>
            </p:nvPr>
          </p:nvSpPr>
          <p:spPr>
            <a:xfrm>
              <a:off x="778934" y="635000"/>
              <a:ext cx="8393467" cy="1270000"/>
            </a:xfrm>
          </p:spPr>
          <p:txBody>
            <a:bodyPr>
              <a:normAutofit/>
            </a:bodyPr>
            <a:lstStyle/>
            <a:p>
              <a:r>
                <a:rPr lang="en-GB" sz="3960" b="1">
                  <a:solidFill>
                    <a:srgbClr val="222222"/>
                  </a:solidFill>
                  <a:latin typeface="Comic Sans MS" panose="030F0702030302020204" pitchFamily="66" charset="0"/>
                </a:rPr>
                <a:t>How does it work?</a:t>
              </a:r>
              <a:endParaRPr lang="LID4096" sz="3960" b="1">
                <a:solidFill>
                  <a:srgbClr val="222222"/>
                </a:solidFill>
                <a:latin typeface="Comic Sans MS" panose="030F0702030302020204" pitchFamily="66" charset="0"/>
              </a:endParaRPr>
            </a:p>
          </p:txBody>
        </p:sp>
      </p:grpSp>
    </p:spTree>
    <p:extLst>
      <p:ext uri="{BB962C8B-B14F-4D97-AF65-F5344CB8AC3E}">
        <p14:creationId xmlns:p14="http://schemas.microsoft.com/office/powerpoint/2010/main" val="476182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7E6">
            <a:alpha val="100000"/>
          </a:srgb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D5D623-1F3C-437C-D3A0-CEF6E919D443}"/>
              </a:ext>
            </a:extLst>
          </p:cNvPr>
          <p:cNvSpPr>
            <a:spLocks noGrp="1"/>
          </p:cNvSpPr>
          <p:nvPr>
            <p:ph idx="1"/>
          </p:nvPr>
        </p:nvSpPr>
        <p:spPr/>
        <p:txBody>
          <a:bodyPr>
            <a:normAutofit/>
          </a:bodyPr>
          <a:lstStyle/>
          <a:p>
            <a:r>
              <a:rPr lang="en-GB" sz="3600" dirty="0">
                <a:latin typeface="Comic Sans MS" panose="030F0702030302020204" pitchFamily="66" charset="0"/>
              </a:rPr>
              <a:t> Business time dimension</a:t>
            </a:r>
          </a:p>
          <a:p>
            <a:pPr lvl="1"/>
            <a:r>
              <a:rPr lang="en-GB" sz="3200" dirty="0">
                <a:solidFill>
                  <a:srgbClr val="404040"/>
                </a:solidFill>
                <a:latin typeface="Comic Sans MS" panose="030F0702030302020204" pitchFamily="66" charset="0"/>
              </a:rPr>
              <a:t> Price is updated. But </a:t>
            </a:r>
            <a:r>
              <a:rPr lang="en-GB" sz="3200" dirty="0" err="1">
                <a:solidFill>
                  <a:srgbClr val="404040"/>
                </a:solidFill>
                <a:latin typeface="Comic Sans MS" panose="030F0702030302020204" pitchFamily="66" charset="0"/>
              </a:rPr>
              <a:t>ValidFrom</a:t>
            </a:r>
            <a:r>
              <a:rPr lang="en-GB" sz="3200" dirty="0">
                <a:solidFill>
                  <a:srgbClr val="404040"/>
                </a:solidFill>
                <a:latin typeface="Comic Sans MS" panose="030F0702030302020204" pitchFamily="66" charset="0"/>
              </a:rPr>
              <a:t> is not when the row was physically changed</a:t>
            </a:r>
            <a:endParaRPr lang="en-GB" sz="3200" dirty="0"/>
          </a:p>
          <a:p>
            <a:r>
              <a:rPr lang="en-GB" sz="3600" dirty="0">
                <a:solidFill>
                  <a:srgbClr val="404040"/>
                </a:solidFill>
                <a:latin typeface="Comic Sans MS" panose="030F0702030302020204" pitchFamily="66" charset="0"/>
              </a:rPr>
              <a:t> DB/2 has had this since long</a:t>
            </a:r>
            <a:endParaRPr lang="en-GB" sz="3600" dirty="0"/>
          </a:p>
          <a:p>
            <a:r>
              <a:rPr lang="en-GB" sz="3600" dirty="0">
                <a:solidFill>
                  <a:srgbClr val="404040"/>
                </a:solidFill>
                <a:latin typeface="Comic Sans MS" panose="030F0702030302020204" pitchFamily="66" charset="0"/>
              </a:rPr>
              <a:t> Would be more useful for SCD2</a:t>
            </a:r>
            <a:endParaRPr lang="en-GB" sz="3600" dirty="0"/>
          </a:p>
          <a:p>
            <a:pPr lvl="1"/>
            <a:r>
              <a:rPr lang="en-GB" sz="3200" dirty="0">
                <a:solidFill>
                  <a:srgbClr val="404040"/>
                </a:solidFill>
                <a:latin typeface="Comic Sans MS" panose="030F0702030302020204" pitchFamily="66" charset="0"/>
              </a:rPr>
              <a:t> … and lots of other scenarios</a:t>
            </a:r>
            <a:endParaRPr lang="en-GB" sz="3200" dirty="0"/>
          </a:p>
        </p:txBody>
      </p:sp>
      <p:pic>
        <p:nvPicPr>
          <p:cNvPr id="5" name="Picture 4" descr="Cartoon sticker-style icon of a calendar with a price tag to suggest business-time pricing validity, thick uniform dark charcoal outline, rounded shapes, flat vector fills in warm pastel yellow, cream, and sky blue accents, minimal details, no text, no gradients, matches a playful cartoon presentation theme">
            <a:extLst>
              <a:ext uri="{FF2B5EF4-FFF2-40B4-BE49-F238E27FC236}">
                <a16:creationId xmlns:a16="http://schemas.microsoft.com/office/drawing/2014/main" id="{D22A08E9-7C42-A8D8-E65F-A0031CAA3853}"/>
              </a:ext>
            </a:extLst>
          </p:cNvPr>
          <p:cNvPicPr>
            <a:picLocks noChangeAspect="1"/>
          </p:cNvPicPr>
          <p:nvPr/>
        </p:nvPicPr>
        <p:blipFill>
          <a:blip r:embed="rId2"/>
          <a:stretch>
            <a:fillRect/>
          </a:stretch>
        </p:blipFill>
        <p:spPr>
          <a:xfrm>
            <a:off x="9477201" y="609600"/>
            <a:ext cx="914400" cy="914400"/>
          </a:xfrm>
          <a:prstGeom prst="rect">
            <a:avLst/>
          </a:prstGeom>
        </p:spPr>
      </p:pic>
      <p:grpSp>
        <p:nvGrpSpPr>
          <p:cNvPr id="7" name="title_badge_group">
            <a:extLst>
              <a:ext uri="{FF2B5EF4-FFF2-40B4-BE49-F238E27FC236}">
                <a16:creationId xmlns:a16="http://schemas.microsoft.com/office/drawing/2014/main" id="{6328EE4F-19CF-CC4B-2BF9-920D61F7F279}"/>
              </a:ext>
            </a:extLst>
          </p:cNvPr>
          <p:cNvGrpSpPr/>
          <p:nvPr/>
        </p:nvGrpSpPr>
        <p:grpSpPr>
          <a:xfrm>
            <a:off x="474134" y="482600"/>
            <a:ext cx="9003067" cy="1574800"/>
            <a:chOff x="474134" y="482600"/>
            <a:chExt cx="9003067" cy="1574800"/>
          </a:xfrm>
        </p:grpSpPr>
        <p:pic>
          <p:nvPicPr>
            <p:cNvPr id="6" name="Picture 5" descr="Soft pastel abstract wave background with layered flowing blob-like bands, cream base (#F7F0DD), pale blush pink (#F3B6CF), light peach pink (#F6C2D8), pale sky blue (#C7EAF6), very light aqua (#D9F4F8), gentle airbrushed gradients between layers, smooth rounded edges, no outlines, no shadows, no noise, clean modern cartoon backdrop style, ABSOLUTELY no text">
              <a:extLst>
                <a:ext uri="{FF2B5EF4-FFF2-40B4-BE49-F238E27FC236}">
                  <a16:creationId xmlns:a16="http://schemas.microsoft.com/office/drawing/2014/main" id="{C78C11D3-1518-0386-3D22-3674709E01BA}"/>
                </a:ext>
              </a:extLst>
            </p:cNvPr>
            <p:cNvPicPr>
              <a:picLocks noChangeAspect="1"/>
            </p:cNvPicPr>
            <p:nvPr/>
          </p:nvPicPr>
          <p:blipFill>
            <a:blip r:embed="rId3"/>
            <a:stretch>
              <a:fillRect/>
            </a:stretch>
          </p:blipFill>
          <p:spPr>
            <a:xfrm>
              <a:off x="474134" y="482600"/>
              <a:ext cx="9003067" cy="1574800"/>
            </a:xfrm>
            <a:prstGeom prst="rect">
              <a:avLst/>
            </a:prstGeom>
          </p:spPr>
        </p:pic>
        <p:sp>
          <p:nvSpPr>
            <p:cNvPr id="4" name="cartoon_title_badge">
              <a:extLst>
                <a:ext uri="{FF2B5EF4-FFF2-40B4-BE49-F238E27FC236}">
                  <a16:creationId xmlns:a16="http://schemas.microsoft.com/office/drawing/2014/main" id="{DB4206EC-1F0B-4EF8-9A9F-094EC3D28672}"/>
                </a:ext>
              </a:extLst>
            </p:cNvPr>
            <p:cNvSpPr/>
            <p:nvPr/>
          </p:nvSpPr>
          <p:spPr>
            <a:xfrm>
              <a:off x="474134" y="482600"/>
              <a:ext cx="9003067" cy="1574800"/>
            </a:xfrm>
            <a:prstGeom prst="roundRect">
              <a:avLst/>
            </a:prstGeom>
            <a:noFill/>
            <a:ln w="38100" cap="rnd" cmpd="sng" algn="ctr">
              <a:solidFill>
                <a:srgbClr val="1B1B1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itle 1">
              <a:extLst>
                <a:ext uri="{FF2B5EF4-FFF2-40B4-BE49-F238E27FC236}">
                  <a16:creationId xmlns:a16="http://schemas.microsoft.com/office/drawing/2014/main" id="{8BAB9DF0-068F-382F-D987-12A02A3C0C80}"/>
                </a:ext>
              </a:extLst>
            </p:cNvPr>
            <p:cNvSpPr>
              <a:spLocks noGrp="1"/>
            </p:cNvSpPr>
            <p:nvPr>
              <p:ph type="title"/>
            </p:nvPr>
          </p:nvSpPr>
          <p:spPr>
            <a:xfrm>
              <a:off x="778934" y="635000"/>
              <a:ext cx="8393467" cy="1270000"/>
            </a:xfrm>
          </p:spPr>
          <p:txBody>
            <a:bodyPr>
              <a:normAutofit/>
            </a:bodyPr>
            <a:lstStyle/>
            <a:p>
              <a:r>
                <a:rPr lang="en-GB" sz="3960" b="1">
                  <a:solidFill>
                    <a:srgbClr val="1A1A1A"/>
                  </a:solidFill>
                  <a:latin typeface="Comic Sans MS" panose="030F0702030302020204" pitchFamily="66" charset="0"/>
                </a:rPr>
                <a:t>How about business-time?</a:t>
              </a:r>
              <a:endParaRPr lang="LID4096" sz="3960" b="1">
                <a:solidFill>
                  <a:srgbClr val="1A1A1A"/>
                </a:solidFill>
                <a:latin typeface="Comic Sans MS" panose="030F0702030302020204" pitchFamily="66" charset="0"/>
              </a:endParaRPr>
            </a:p>
          </p:txBody>
        </p:sp>
      </p:grpSp>
    </p:spTree>
    <p:extLst>
      <p:ext uri="{BB962C8B-B14F-4D97-AF65-F5344CB8AC3E}">
        <p14:creationId xmlns:p14="http://schemas.microsoft.com/office/powerpoint/2010/main" val="17277967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asett">
  <a:themeElements>
    <a:clrScheme name="Varm blå">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GroupBy_Eight_hours_of_work_in_20_minutes_Partitioning_Rox.pptx" id="{70D7657E-FDF3-4AF8-B760-E8DCE5C23891}" vid="{32728EFA-864A-41EB-A785-94AF657B65F5}"/>
    </a:ext>
  </a:extLst>
</a:theme>
</file>

<file path=docProps/app.xml><?xml version="1.0" encoding="utf-8"?>
<Properties xmlns="http://schemas.openxmlformats.org/officeDocument/2006/extended-properties" xmlns:vt="http://schemas.openxmlformats.org/officeDocument/2006/docPropsVTypes">
  <TotalTime>0</TotalTime>
  <Words>439</Words>
  <Application>Microsoft Office PowerPoint</Application>
  <PresentationFormat>Widescreen</PresentationFormat>
  <Paragraphs>49</Paragraphs>
  <Slides>8</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8</vt:i4>
      </vt:variant>
    </vt:vector>
  </HeadingPairs>
  <TitlesOfParts>
    <vt:vector size="18" baseType="lpstr">
      <vt:lpstr>Arial</vt:lpstr>
      <vt:lpstr>Calibri</vt:lpstr>
      <vt:lpstr>Calibri Light</vt:lpstr>
      <vt:lpstr>Comic Sans MS</vt:lpstr>
      <vt:lpstr>Roboto Light</vt:lpstr>
      <vt:lpstr>Source Sans Pro</vt:lpstr>
      <vt:lpstr>Trebuchet MS</vt:lpstr>
      <vt:lpstr>Wingdings 3</vt:lpstr>
      <vt:lpstr>Office Theme</vt:lpstr>
      <vt:lpstr>Fasett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Magnus Ahlkvist</dc:creator>
  <cp:lastModifiedBy>Magnus Ahlkvist</cp:lastModifiedBy>
  <cp:revision>19</cp:revision>
  <dcterms:created xsi:type="dcterms:W3CDTF">2022-05-20T07:54:08Z</dcterms:created>
  <dcterms:modified xsi:type="dcterms:W3CDTF">2026-05-29T07:54:38Z</dcterms:modified>
</cp:coreProperties>
</file>