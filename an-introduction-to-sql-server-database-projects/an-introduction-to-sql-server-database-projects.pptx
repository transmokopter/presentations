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60" r:id="rId5"/>
    <p:sldId id="261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D700"/>
    <a:srgbClr val="E5E4E2"/>
    <a:srgbClr val="C0C0C0"/>
    <a:srgbClr val="CD7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84992" autoAdjust="0"/>
  </p:normalViewPr>
  <p:slideViewPr>
    <p:cSldViewPr snapToGrid="0">
      <p:cViewPr varScale="1">
        <p:scale>
          <a:sx n="135" d="100"/>
          <a:sy n="135" d="100"/>
        </p:scale>
        <p:origin x="1224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1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6D3B2D-3924-0B48-B558-93C031AA9A06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2716D-3A19-4347-B553-E4062DD46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15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8" name="Bild 17">
            <a:extLst>
              <a:ext uri="{FF2B5EF4-FFF2-40B4-BE49-F238E27FC236}">
                <a16:creationId xmlns:a16="http://schemas.microsoft.com/office/drawing/2014/main" id="{42BCFCD7-74CB-442B-9206-4BBDA1D162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7593" y="4100975"/>
            <a:ext cx="2736965" cy="27369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v-SE"/>
              <a:t>Klicka på ikonen för att lägga till en bild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ch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eskriv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nkort för 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t eller fals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sv-SE"/>
              <a:t>Klicka här för att ändra mall för rubrikformat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100000">
              <a:srgbClr val="FFCCCC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3/4/2025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9" name="Bild 8">
            <a:extLst>
              <a:ext uri="{FF2B5EF4-FFF2-40B4-BE49-F238E27FC236}">
                <a16:creationId xmlns:a16="http://schemas.microsoft.com/office/drawing/2014/main" id="{40A61AF8-6CA2-4DC0-AB0C-54B2BDCB308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34870" y="4988252"/>
            <a:ext cx="1849688" cy="18496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hyperlink" Target="mailto:magnus@transmokopter.s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EC31-E066-4E62-BAAB-C170893FF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0986" y="1363287"/>
            <a:ext cx="10668000" cy="2115312"/>
          </a:xfrm>
        </p:spPr>
        <p:txBody>
          <a:bodyPr/>
          <a:lstStyle/>
          <a:p>
            <a:r>
              <a:rPr lang="en-GB" sz="3200" dirty="0"/>
              <a:t>An Introduction to </a:t>
            </a:r>
            <a:br>
              <a:rPr lang="en-GB" sz="3200" dirty="0"/>
            </a:br>
            <a:r>
              <a:rPr lang="en-GB" sz="3200" dirty="0" err="1"/>
              <a:t>Sql</a:t>
            </a:r>
            <a:r>
              <a:rPr lang="en-GB" sz="3200" dirty="0"/>
              <a:t> Server Database Projects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B0E28-205D-4B8D-B72F-75D77CF216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Magnus </a:t>
            </a:r>
            <a:r>
              <a:rPr lang="en-US" dirty="0" err="1"/>
              <a:t>Ahlkvist</a:t>
            </a:r>
            <a:endParaRPr lang="en-US" dirty="0"/>
          </a:p>
          <a:p>
            <a:r>
              <a:rPr lang="en-US" dirty="0" err="1"/>
              <a:t>Transmokopter</a:t>
            </a:r>
            <a:r>
              <a:rPr lang="en-US" dirty="0"/>
              <a:t> SQL AB</a:t>
            </a:r>
          </a:p>
          <a:p>
            <a:r>
              <a:rPr lang="en-US" dirty="0"/>
              <a:t>SQL Server consultant, Data Platform MVP</a:t>
            </a:r>
          </a:p>
        </p:txBody>
      </p:sp>
      <p:pic>
        <p:nvPicPr>
          <p:cNvPr id="5" name="Picture 4" descr="A picture containing person, looking, cellphone, phone&#10;&#10;Description automatically generated">
            <a:extLst>
              <a:ext uri="{FF2B5EF4-FFF2-40B4-BE49-F238E27FC236}">
                <a16:creationId xmlns:a16="http://schemas.microsoft.com/office/drawing/2014/main" id="{099A75BC-ED83-4232-8CE1-447DBDA9BC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596"/>
          <a:stretch/>
        </p:blipFill>
        <p:spPr>
          <a:xfrm>
            <a:off x="0" y="0"/>
            <a:ext cx="4269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8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49967C5-AC23-C499-5078-7F479FD7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Content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46F8A19-07C4-A4DC-C9D4-DDFAE041E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b="0" i="0" dirty="0">
                <a:solidFill>
                  <a:srgbClr val="676A6C"/>
                </a:solidFill>
                <a:effectLst/>
                <a:latin typeface="open sans" panose="020B0606030504020204" pitchFamily="34" charset="0"/>
              </a:rPr>
              <a:t>Migration </a:t>
            </a:r>
            <a:r>
              <a:rPr lang="sv-SE" b="0" i="0" dirty="0" err="1">
                <a:solidFill>
                  <a:srgbClr val="676A6C"/>
                </a:solidFill>
                <a:effectLst/>
                <a:latin typeface="open sans" panose="020B0606030504020204" pitchFamily="34" charset="0"/>
              </a:rPr>
              <a:t>based</a:t>
            </a:r>
            <a:r>
              <a:rPr lang="sv-SE" b="0" i="0" dirty="0">
                <a:solidFill>
                  <a:srgbClr val="676A6C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sv-SE" b="0" i="0" dirty="0" err="1">
                <a:solidFill>
                  <a:srgbClr val="676A6C"/>
                </a:solidFill>
                <a:effectLst/>
                <a:latin typeface="open sans" panose="020B0606030504020204" pitchFamily="34" charset="0"/>
              </a:rPr>
              <a:t>deployments</a:t>
            </a:r>
            <a:endParaRPr lang="sv-SE" b="0" i="0" dirty="0">
              <a:solidFill>
                <a:srgbClr val="676A6C"/>
              </a:solidFill>
              <a:effectLst/>
              <a:latin typeface="open sans" panose="020B0606030504020204" pitchFamily="34" charset="0"/>
            </a:endParaRPr>
          </a:p>
          <a:p>
            <a:r>
              <a:rPr lang="sv-SE" dirty="0" err="1">
                <a:solidFill>
                  <a:srgbClr val="676A6C"/>
                </a:solidFill>
                <a:latin typeface="open sans" panose="020B0606030504020204" pitchFamily="34" charset="0"/>
              </a:rPr>
              <a:t>Model</a:t>
            </a:r>
            <a:r>
              <a:rPr lang="sv-SE" dirty="0">
                <a:solidFill>
                  <a:srgbClr val="676A6C"/>
                </a:solidFill>
                <a:latin typeface="open sans" panose="020B0606030504020204" pitchFamily="34" charset="0"/>
              </a:rPr>
              <a:t> </a:t>
            </a:r>
            <a:r>
              <a:rPr lang="sv-SE" dirty="0" err="1">
                <a:solidFill>
                  <a:srgbClr val="676A6C"/>
                </a:solidFill>
                <a:latin typeface="open sans" panose="020B0606030504020204" pitchFamily="34" charset="0"/>
              </a:rPr>
              <a:t>based</a:t>
            </a:r>
            <a:r>
              <a:rPr lang="sv-SE" dirty="0">
                <a:solidFill>
                  <a:srgbClr val="676A6C"/>
                </a:solidFill>
                <a:latin typeface="open sans" panose="020B0606030504020204" pitchFamily="34" charset="0"/>
              </a:rPr>
              <a:t> </a:t>
            </a:r>
            <a:r>
              <a:rPr lang="sv-SE" dirty="0" err="1">
                <a:solidFill>
                  <a:srgbClr val="676A6C"/>
                </a:solidFill>
                <a:latin typeface="open sans" panose="020B0606030504020204" pitchFamily="34" charset="0"/>
              </a:rPr>
              <a:t>deployments</a:t>
            </a:r>
            <a:endParaRPr lang="sv-SE" dirty="0">
              <a:solidFill>
                <a:srgbClr val="676A6C"/>
              </a:solidFill>
              <a:latin typeface="open sans" panose="020B0606030504020204" pitchFamily="34" charset="0"/>
            </a:endParaRPr>
          </a:p>
          <a:p>
            <a:r>
              <a:rPr lang="sv-SE" dirty="0" err="1"/>
              <a:t>Sql</a:t>
            </a:r>
            <a:r>
              <a:rPr lang="sv-SE" dirty="0"/>
              <a:t> Server </a:t>
            </a:r>
            <a:r>
              <a:rPr lang="sv-SE" dirty="0" err="1"/>
              <a:t>Database</a:t>
            </a:r>
            <a:r>
              <a:rPr lang="sv-SE" dirty="0"/>
              <a:t> </a:t>
            </a:r>
            <a:r>
              <a:rPr lang="sv-SE" dirty="0" err="1"/>
              <a:t>projects</a:t>
            </a:r>
            <a:endParaRPr lang="sv-SE" dirty="0"/>
          </a:p>
          <a:p>
            <a:pPr lvl="1"/>
            <a:r>
              <a:rPr lang="sv-SE" dirty="0"/>
              <a:t>.NET </a:t>
            </a:r>
            <a:r>
              <a:rPr lang="sv-SE" dirty="0" err="1"/>
              <a:t>Framework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project</a:t>
            </a:r>
            <a:r>
              <a:rPr lang="sv-SE" dirty="0"/>
              <a:t> </a:t>
            </a:r>
            <a:r>
              <a:rPr lang="sv-SE" dirty="0" err="1"/>
              <a:t>type</a:t>
            </a:r>
            <a:endParaRPr lang="sv-SE" dirty="0"/>
          </a:p>
          <a:p>
            <a:pPr lvl="1"/>
            <a:r>
              <a:rPr lang="sv-SE" dirty="0"/>
              <a:t>SDK Style </a:t>
            </a:r>
            <a:r>
              <a:rPr lang="sv-SE" dirty="0" err="1"/>
              <a:t>database</a:t>
            </a:r>
            <a:r>
              <a:rPr lang="sv-SE" dirty="0"/>
              <a:t> </a:t>
            </a:r>
            <a:r>
              <a:rPr lang="sv-SE" dirty="0" err="1"/>
              <a:t>projects</a:t>
            </a:r>
            <a:endParaRPr lang="sv-SE" dirty="0"/>
          </a:p>
          <a:p>
            <a:r>
              <a:rPr lang="sv-SE" dirty="0"/>
              <a:t>Start </a:t>
            </a:r>
            <a:r>
              <a:rPr lang="sv-SE" dirty="0" err="1"/>
              <a:t>with</a:t>
            </a:r>
            <a:r>
              <a:rPr lang="sv-SE" dirty="0"/>
              <a:t> a </a:t>
            </a:r>
            <a:r>
              <a:rPr lang="sv-SE" dirty="0" err="1"/>
              <a:t>clean</a:t>
            </a:r>
            <a:r>
              <a:rPr lang="sv-SE" dirty="0"/>
              <a:t> </a:t>
            </a:r>
            <a:r>
              <a:rPr lang="sv-SE" dirty="0" err="1"/>
              <a:t>sheet</a:t>
            </a:r>
            <a:endParaRPr lang="sv-SE" dirty="0"/>
          </a:p>
          <a:p>
            <a:r>
              <a:rPr lang="sv-SE" dirty="0"/>
              <a:t>Start </a:t>
            </a:r>
            <a:r>
              <a:rPr lang="sv-SE" dirty="0" err="1"/>
              <a:t>with</a:t>
            </a:r>
            <a:r>
              <a:rPr lang="sv-SE" dirty="0"/>
              <a:t> an </a:t>
            </a:r>
            <a:r>
              <a:rPr lang="sv-SE" dirty="0" err="1"/>
              <a:t>existing</a:t>
            </a:r>
            <a:r>
              <a:rPr lang="sv-SE" dirty="0"/>
              <a:t> </a:t>
            </a:r>
            <a:r>
              <a:rPr lang="sv-SE" dirty="0" err="1"/>
              <a:t>database</a:t>
            </a:r>
            <a:endParaRPr lang="sv-SE" dirty="0"/>
          </a:p>
          <a:p>
            <a:r>
              <a:rPr lang="sv-SE" dirty="0" err="1"/>
              <a:t>Dependencies</a:t>
            </a:r>
            <a:endParaRPr lang="sv-SE" dirty="0"/>
          </a:p>
          <a:p>
            <a:r>
              <a:rPr lang="sv-SE" dirty="0" err="1"/>
              <a:t>Refactoring</a:t>
            </a:r>
            <a:r>
              <a:rPr lang="sv-SE" dirty="0"/>
              <a:t> data </a:t>
            </a:r>
            <a:r>
              <a:rPr lang="sv-SE" dirty="0" err="1"/>
              <a:t>objects</a:t>
            </a:r>
            <a:endParaRPr lang="sv-SE" dirty="0"/>
          </a:p>
          <a:p>
            <a:endParaRPr lang="sv-SE" dirty="0"/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00023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68E2-F5AB-0607-7393-F5E74773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C45F0-0D15-3C56-8F9F-AFB5662FE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4378" y="1363287"/>
            <a:ext cx="7394607" cy="1052253"/>
          </a:xfrm>
        </p:spPr>
        <p:txBody>
          <a:bodyPr/>
          <a:lstStyle/>
          <a:p>
            <a:pPr algn="l"/>
            <a:r>
              <a:rPr lang="en-GB" sz="3200" dirty="0"/>
              <a:t>Magnus Ahlkvist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B86271-ABDB-DEF8-FC3C-0BD0FA3CE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4379" y="2537461"/>
            <a:ext cx="5417821" cy="4244340"/>
          </a:xfrm>
        </p:spPr>
        <p:txBody>
          <a:bodyPr>
            <a:normAutofit/>
          </a:bodyPr>
          <a:lstStyle/>
          <a:p>
            <a:pPr algn="l"/>
            <a:r>
              <a:rPr lang="sv-SE" dirty="0"/>
              <a:t>🏭  </a:t>
            </a:r>
            <a:r>
              <a:rPr lang="en-US" dirty="0" err="1"/>
              <a:t>Transmokopter</a:t>
            </a:r>
            <a:r>
              <a:rPr lang="en-US" dirty="0"/>
              <a:t> SQL AB, SQL Server consultant</a:t>
            </a:r>
          </a:p>
          <a:p>
            <a:pPr algn="l"/>
            <a:r>
              <a:rPr lang="en-US" dirty="0"/>
              <a:t>         Microsoft Data Platform MVP</a:t>
            </a:r>
          </a:p>
          <a:p>
            <a:pPr algn="l"/>
            <a:r>
              <a:rPr lang="en-US" dirty="0"/>
              <a:t>         github.com/</a:t>
            </a:r>
            <a:r>
              <a:rPr lang="en-US" dirty="0" err="1"/>
              <a:t>transmokopter</a:t>
            </a:r>
            <a:endParaRPr lang="en-US" dirty="0"/>
          </a:p>
          <a:p>
            <a:pPr algn="l"/>
            <a:r>
              <a:rPr lang="en-US" dirty="0"/>
              <a:t>         </a:t>
            </a:r>
            <a:r>
              <a:rPr lang="en-US" dirty="0" err="1"/>
              <a:t>transmokopter</a:t>
            </a:r>
            <a:r>
              <a:rPr lang="en-US" dirty="0"/>
              <a:t> </a:t>
            </a:r>
          </a:p>
          <a:p>
            <a:pPr algn="l"/>
            <a:r>
              <a:rPr lang="en-US" dirty="0"/>
              <a:t>         linkedin.com/in/</a:t>
            </a:r>
            <a:r>
              <a:rPr lang="en-US" dirty="0" err="1"/>
              <a:t>magnusahlkvist</a:t>
            </a:r>
            <a:endParaRPr lang="en-US" dirty="0"/>
          </a:p>
          <a:p>
            <a:pPr algn="l"/>
            <a:r>
              <a:rPr lang="sv-SE" dirty="0"/>
              <a:t>📧  </a:t>
            </a:r>
            <a:r>
              <a:rPr lang="en-US" dirty="0">
                <a:hlinkClick r:id="rId2"/>
              </a:rPr>
              <a:t>magnus@transmokopter.se</a:t>
            </a:r>
            <a:endParaRPr lang="en-US" dirty="0"/>
          </a:p>
          <a:p>
            <a:pPr algn="l"/>
            <a:r>
              <a:rPr lang="en-US" dirty="0"/>
              <a:t>         youtube.com/c/</a:t>
            </a:r>
            <a:r>
              <a:rPr lang="en-US" dirty="0" err="1"/>
              <a:t>transmokopter</a:t>
            </a:r>
            <a:endParaRPr lang="en-US" dirty="0"/>
          </a:p>
        </p:txBody>
      </p:sp>
      <p:pic>
        <p:nvPicPr>
          <p:cNvPr id="5" name="Picture 4" descr="A picture containing person, looking, cellphone, phone&#10;&#10;Description automatically generated">
            <a:extLst>
              <a:ext uri="{FF2B5EF4-FFF2-40B4-BE49-F238E27FC236}">
                <a16:creationId xmlns:a16="http://schemas.microsoft.com/office/drawing/2014/main" id="{4B8D99AC-3706-E739-DCBD-D047EDE7DA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596"/>
          <a:stretch/>
        </p:blipFill>
        <p:spPr>
          <a:xfrm>
            <a:off x="0" y="0"/>
            <a:ext cx="4269917" cy="6858000"/>
          </a:xfrm>
          <a:prstGeom prst="rect">
            <a:avLst/>
          </a:prstGeom>
        </p:spPr>
      </p:pic>
      <p:pic>
        <p:nvPicPr>
          <p:cNvPr id="7" name="Bildobjekt 6" descr="En bild som visar Electric blue, Teckensnitt, logotyp, text&#10;&#10;AI-genererat innehåll kan vara felaktigt.">
            <a:extLst>
              <a:ext uri="{FF2B5EF4-FFF2-40B4-BE49-F238E27FC236}">
                <a16:creationId xmlns:a16="http://schemas.microsoft.com/office/drawing/2014/main" id="{7448CAEB-95C6-8BF5-32C7-3DC0FB863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531" y="2952790"/>
            <a:ext cx="293329" cy="293329"/>
          </a:xfrm>
          <a:prstGeom prst="rect">
            <a:avLst/>
          </a:prstGeom>
        </p:spPr>
      </p:pic>
      <p:pic>
        <p:nvPicPr>
          <p:cNvPr id="9" name="Bildobjekt 8" descr="En bild som visar katt, däggdjur, siluett&#10;&#10;AI-genererat innehåll kan vara felaktigt.">
            <a:extLst>
              <a:ext uri="{FF2B5EF4-FFF2-40B4-BE49-F238E27FC236}">
                <a16:creationId xmlns:a16="http://schemas.microsoft.com/office/drawing/2014/main" id="{ADA5ECF0-71BF-D89E-A8C2-FD8615344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531" y="3368040"/>
            <a:ext cx="316283" cy="316283"/>
          </a:xfrm>
          <a:prstGeom prst="rect">
            <a:avLst/>
          </a:prstGeom>
        </p:spPr>
      </p:pic>
      <p:pic>
        <p:nvPicPr>
          <p:cNvPr id="11" name="Bildobjekt 10" descr="En bild som visar fjäril, kreativitet&#10;&#10;AI-genererat innehåll kan vara felaktigt.">
            <a:extLst>
              <a:ext uri="{FF2B5EF4-FFF2-40B4-BE49-F238E27FC236}">
                <a16:creationId xmlns:a16="http://schemas.microsoft.com/office/drawing/2014/main" id="{EE33515F-DDD1-D696-FFE7-6916CFEA8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2531" y="3806244"/>
            <a:ext cx="293329" cy="293329"/>
          </a:xfrm>
          <a:prstGeom prst="rect">
            <a:avLst/>
          </a:prstGeom>
        </p:spPr>
      </p:pic>
      <p:pic>
        <p:nvPicPr>
          <p:cNvPr id="13" name="Bildobjekt 12" descr="En bild som visar skärmbild, Teckensnitt, Grafik, logotyp&#10;&#10;AI-genererat innehåll kan vara felaktigt.">
            <a:extLst>
              <a:ext uri="{FF2B5EF4-FFF2-40B4-BE49-F238E27FC236}">
                <a16:creationId xmlns:a16="http://schemas.microsoft.com/office/drawing/2014/main" id="{DF6444F6-961C-E4CA-E303-543B48700A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2531" y="4221494"/>
            <a:ext cx="318034" cy="270454"/>
          </a:xfrm>
          <a:prstGeom prst="rect">
            <a:avLst/>
          </a:prstGeom>
        </p:spPr>
      </p:pic>
      <p:pic>
        <p:nvPicPr>
          <p:cNvPr id="15" name="Bildobjekt 14" descr="En bild som visar Grafik, symbol, Teckensnitt, röd&#10;&#10;AI-genererat innehåll kan vara felaktigt.">
            <a:extLst>
              <a:ext uri="{FF2B5EF4-FFF2-40B4-BE49-F238E27FC236}">
                <a16:creationId xmlns:a16="http://schemas.microsoft.com/office/drawing/2014/main" id="{57C0AFFD-06A8-9733-439D-5472FB0D16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2530" y="4983657"/>
            <a:ext cx="293329" cy="29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59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8C65C0F-3A78-7604-0F3B-0384A0F4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Migration 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deployments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CD10646-C3D8-5E43-3BBB-565BA5679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To upgrade database from version 1 to version 7, run upgrade scripts for versions 2, 3, 4, 5, 6 and 7.</a:t>
            </a:r>
          </a:p>
          <a:p>
            <a:r>
              <a:rPr lang="sv-SE"/>
              <a:t>Often together with some sort of SchemaVersions table.</a:t>
            </a:r>
          </a:p>
          <a:p>
            <a:pPr lvl="1"/>
            <a:r>
              <a:rPr lang="sv-SE"/>
              <a:t>Entity Framework migrations</a:t>
            </a:r>
          </a:p>
          <a:p>
            <a:pPr lvl="1"/>
            <a:r>
              <a:rPr lang="sv-SE"/>
              <a:t>Flyway</a:t>
            </a:r>
          </a:p>
          <a:p>
            <a:pPr lvl="1"/>
            <a:r>
              <a:rPr lang="sv-SE"/>
              <a:t>Liquibase</a:t>
            </a:r>
          </a:p>
          <a:p>
            <a:pPr lvl="1"/>
            <a:r>
              <a:rPr lang="sv-SE"/>
              <a:t>DbUp</a:t>
            </a:r>
          </a:p>
          <a:p>
            <a:pPr lvl="1"/>
            <a:r>
              <a:rPr lang="sv-SE"/>
              <a:t>Many more</a:t>
            </a:r>
          </a:p>
          <a:p>
            <a:r>
              <a:rPr lang="sv-SE"/>
              <a:t>Often idempotent scripts</a:t>
            </a:r>
          </a:p>
          <a:p>
            <a:pPr lvl="1"/>
            <a:r>
              <a:rPr lang="sv-SE"/>
              <a:t>Most often to avoid problems when old-school manual deploys happened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211127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06123B5-C240-1E22-CDE3-9130EF436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Migrations initialization</a:t>
            </a:r>
            <a:endParaRPr lang="sv-SE" dirty="0"/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69EA7FA3-11CD-235E-4278-873E519EA4EB}"/>
              </a:ext>
            </a:extLst>
          </p:cNvPr>
          <p:cNvSpPr txBox="1"/>
          <p:nvPr/>
        </p:nvSpPr>
        <p:spPr>
          <a:xfrm>
            <a:off x="677334" y="1724085"/>
            <a:ext cx="9883140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800" dirty="0">
                <a:solidFill>
                  <a:srgbClr val="008000"/>
                </a:solidFill>
                <a:latin typeface="Consolas" panose="020B0609020204030204" pitchFamily="49" charset="0"/>
              </a:rPr>
              <a:t>-- </a:t>
            </a:r>
            <a:r>
              <a:rPr lang="sv-SE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Initiatialize</a:t>
            </a:r>
            <a:r>
              <a:rPr lang="sv-SE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empty</a:t>
            </a:r>
            <a:r>
              <a:rPr lang="sv-SE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database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DB_ID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MigrationDb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	CREATE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DATABASE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MigrationDb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v-SE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USE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MigrationDb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EXISTS(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FF00"/>
                </a:solidFill>
                <a:latin typeface="Consolas" panose="020B0609020204030204" pitchFamily="49" charset="0"/>
              </a:rPr>
              <a:t>sys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FF00"/>
                </a:solidFill>
                <a:latin typeface="Consolas" panose="020B0609020204030204" pitchFamily="49" charset="0"/>
              </a:rPr>
              <a:t>tables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SchemaVersions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’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	CREATE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sv-SE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sv-SE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SchemaVersions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sv-SE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SchemaVersion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		CONSTRAINT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pk_SchemaVersion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CLUSTERED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sv-SE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Applied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DATETIME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	);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64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96650-C3F7-4088-49A3-B82557DB1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DCB58B6-F474-7C95-CAB4-AADBED3B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Version 1.0.0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15A0F2E9-7E05-100D-6B85-502D84C29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870" y="0"/>
            <a:ext cx="6473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10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C7FC-7A09-107A-EDC9-0909D3CA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B7B1F15-2E6C-2333-CBE7-DE227368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Version 1.1.0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6BEEE4E5-0E15-AA43-E170-E7E55D31C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024" y="609600"/>
            <a:ext cx="6289616" cy="547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49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CB45-0FED-AB92-18B7-D6035CE0D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EC8900D-BCFA-CE4B-83F1-3C9668EBF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Version 1.2.0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56D2E51E-E6AB-AC40-D569-664A64441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07" y="609600"/>
            <a:ext cx="6478854" cy="568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08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BFF07C0-1EBD-0808-1199-66A4D307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deployment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1539999-38DF-6F25-D7AF-B1B565954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Create</a:t>
            </a:r>
            <a:r>
              <a:rPr lang="sv-SE" dirty="0"/>
              <a:t> a data </a:t>
            </a:r>
            <a:r>
              <a:rPr lang="sv-SE" dirty="0" err="1"/>
              <a:t>model</a:t>
            </a:r>
            <a:r>
              <a:rPr lang="sv-SE" dirty="0"/>
              <a:t> in </a:t>
            </a:r>
            <a:r>
              <a:rPr lang="sv-SE" dirty="0" err="1"/>
              <a:t>code</a:t>
            </a:r>
            <a:endParaRPr lang="sv-SE" dirty="0"/>
          </a:p>
          <a:p>
            <a:pPr lvl="1"/>
            <a:r>
              <a:rPr lang="sv-SE" dirty="0"/>
              <a:t>SSDT </a:t>
            </a:r>
            <a:r>
              <a:rPr lang="sv-SE" dirty="0" err="1"/>
              <a:t>Database</a:t>
            </a:r>
            <a:r>
              <a:rPr lang="sv-SE" dirty="0"/>
              <a:t> Projects</a:t>
            </a:r>
          </a:p>
          <a:p>
            <a:pPr lvl="1"/>
            <a:r>
              <a:rPr lang="sv-SE" dirty="0"/>
              <a:t>SDK Style </a:t>
            </a:r>
            <a:r>
              <a:rPr lang="sv-SE" dirty="0" err="1"/>
              <a:t>Database</a:t>
            </a:r>
            <a:r>
              <a:rPr lang="sv-SE" dirty="0"/>
              <a:t> Projects</a:t>
            </a:r>
          </a:p>
          <a:p>
            <a:r>
              <a:rPr lang="sv-SE" dirty="0" err="1"/>
              <a:t>Compile</a:t>
            </a:r>
            <a:r>
              <a:rPr lang="sv-SE" dirty="0"/>
              <a:t> the </a:t>
            </a:r>
            <a:r>
              <a:rPr lang="sv-SE" dirty="0" err="1"/>
              <a:t>model</a:t>
            </a:r>
            <a:r>
              <a:rPr lang="sv-SE" dirty="0"/>
              <a:t> to a </a:t>
            </a:r>
            <a:r>
              <a:rPr lang="sv-SE" dirty="0" err="1"/>
              <a:t>dacpac</a:t>
            </a:r>
            <a:endParaRPr lang="sv-SE" dirty="0"/>
          </a:p>
          <a:p>
            <a:pPr lvl="1"/>
            <a:r>
              <a:rPr lang="sv-SE" dirty="0" err="1"/>
              <a:t>sqlpackage</a:t>
            </a:r>
            <a:r>
              <a:rPr lang="sv-SE" dirty="0"/>
              <a:t> </a:t>
            </a:r>
          </a:p>
          <a:p>
            <a:pPr lvl="1"/>
            <a:r>
              <a:rPr lang="sv-SE" dirty="0"/>
              <a:t>dotnet </a:t>
            </a:r>
            <a:r>
              <a:rPr lang="sv-SE" dirty="0" err="1"/>
              <a:t>build</a:t>
            </a:r>
            <a:endParaRPr lang="sv-SE" dirty="0"/>
          </a:p>
          <a:p>
            <a:r>
              <a:rPr lang="sv-SE" dirty="0" err="1"/>
              <a:t>Deploy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a </a:t>
            </a:r>
            <a:r>
              <a:rPr lang="sv-SE" dirty="0" err="1"/>
              <a:t>tool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compare</a:t>
            </a:r>
            <a:r>
              <a:rPr lang="sv-SE" dirty="0"/>
              <a:t> the </a:t>
            </a:r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the </a:t>
            </a:r>
            <a:r>
              <a:rPr lang="sv-SE" dirty="0" err="1"/>
              <a:t>target</a:t>
            </a:r>
            <a:r>
              <a:rPr lang="sv-SE" dirty="0"/>
              <a:t> data </a:t>
            </a:r>
            <a:r>
              <a:rPr lang="sv-SE" dirty="0" err="1"/>
              <a:t>model</a:t>
            </a:r>
            <a:r>
              <a:rPr lang="sv-SE" dirty="0"/>
              <a:t> and make </a:t>
            </a:r>
            <a:r>
              <a:rPr lang="sv-SE" dirty="0" err="1"/>
              <a:t>corrections</a:t>
            </a:r>
            <a:r>
              <a:rPr lang="sv-SE" dirty="0"/>
              <a:t> to the </a:t>
            </a:r>
            <a:r>
              <a:rPr lang="sv-SE" dirty="0" err="1"/>
              <a:t>target</a:t>
            </a:r>
            <a:endParaRPr lang="sv-SE" dirty="0"/>
          </a:p>
          <a:p>
            <a:pPr lvl="1"/>
            <a:r>
              <a:rPr lang="sv-SE" dirty="0" err="1"/>
              <a:t>Sqlpackage</a:t>
            </a:r>
            <a:endParaRPr lang="sv-SE" dirty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75718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1BD2D2D-8C5C-76A0-ADED-C851B8A4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SQL Server </a:t>
            </a:r>
            <a:r>
              <a:rPr lang="sv-SE" dirty="0" err="1"/>
              <a:t>Database</a:t>
            </a:r>
            <a:r>
              <a:rPr lang="sv-SE" dirty="0"/>
              <a:t> Projects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EB283A5-1724-8B3C-3E44-780DC660A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Mainly</a:t>
            </a:r>
            <a:r>
              <a:rPr lang="sv-SE" dirty="0"/>
              <a:t> a </a:t>
            </a:r>
            <a:r>
              <a:rPr lang="sv-SE" dirty="0" err="1"/>
              <a:t>tool</a:t>
            </a:r>
            <a:r>
              <a:rPr lang="sv-SE" dirty="0"/>
              <a:t> for </a:t>
            </a:r>
            <a:r>
              <a:rPr lang="sv-SE" dirty="0" err="1"/>
              <a:t>model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deployments</a:t>
            </a:r>
            <a:endParaRPr lang="sv-SE" dirty="0"/>
          </a:p>
          <a:p>
            <a:r>
              <a:rPr lang="sv-SE" dirty="0"/>
              <a:t>Supports migrations </a:t>
            </a:r>
            <a:r>
              <a:rPr lang="sv-SE" dirty="0" err="1"/>
              <a:t>with</a:t>
            </a:r>
            <a:r>
              <a:rPr lang="sv-SE" dirty="0"/>
              <a:t> Pre- and Post </a:t>
            </a:r>
            <a:r>
              <a:rPr lang="sv-SE" dirty="0" err="1"/>
              <a:t>Deploy</a:t>
            </a:r>
            <a:r>
              <a:rPr lang="sv-SE" dirty="0"/>
              <a:t> scripts and </a:t>
            </a:r>
            <a:r>
              <a:rPr lang="sv-SE" dirty="0" err="1"/>
              <a:t>refactor</a:t>
            </a:r>
            <a:r>
              <a:rPr lang="sv-SE" dirty="0"/>
              <a:t>-log.</a:t>
            </a:r>
          </a:p>
        </p:txBody>
      </p:sp>
    </p:spTree>
    <p:extLst>
      <p:ext uri="{BB962C8B-B14F-4D97-AF65-F5344CB8AC3E}">
        <p14:creationId xmlns:p14="http://schemas.microsoft.com/office/powerpoint/2010/main" val="2425775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2255877-C3B2-3DA3-1D07-F0737210D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SDK Style </a:t>
            </a:r>
            <a:r>
              <a:rPr lang="sv-SE" dirty="0" err="1"/>
              <a:t>Database</a:t>
            </a:r>
            <a:r>
              <a:rPr lang="sv-SE" dirty="0"/>
              <a:t> Projects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B54F8F6-6C3F-39C4-28EA-5125DF9BC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10935546" cy="3880773"/>
          </a:xfrm>
        </p:spPr>
        <p:txBody>
          <a:bodyPr>
            <a:normAutofit fontScale="92500" lnSpcReduction="20000"/>
          </a:bodyPr>
          <a:lstStyle/>
          <a:p>
            <a:r>
              <a:rPr lang="sv-SE" dirty="0"/>
              <a:t>.NET </a:t>
            </a:r>
            <a:r>
              <a:rPr lang="sv-SE" dirty="0" err="1"/>
              <a:t>Core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project</a:t>
            </a:r>
            <a:r>
              <a:rPr lang="sv-SE" dirty="0"/>
              <a:t> </a:t>
            </a:r>
            <a:r>
              <a:rPr lang="sv-SE" dirty="0" err="1"/>
              <a:t>file</a:t>
            </a:r>
            <a:endParaRPr lang="sv-SE" dirty="0"/>
          </a:p>
          <a:p>
            <a:r>
              <a:rPr lang="sv-SE" dirty="0"/>
              <a:t>Minimalistic </a:t>
            </a:r>
            <a:r>
              <a:rPr lang="sv-SE" dirty="0" err="1"/>
              <a:t>project</a:t>
            </a:r>
            <a:r>
              <a:rPr lang="sv-SE" dirty="0"/>
              <a:t> </a:t>
            </a:r>
            <a:r>
              <a:rPr lang="sv-SE" dirty="0" err="1"/>
              <a:t>file</a:t>
            </a:r>
            <a:r>
              <a:rPr lang="sv-SE" dirty="0"/>
              <a:t> </a:t>
            </a:r>
            <a:r>
              <a:rPr lang="sv-SE" dirty="0" err="1"/>
              <a:t>compared</a:t>
            </a:r>
            <a:r>
              <a:rPr lang="sv-SE" dirty="0"/>
              <a:t> to SSDT </a:t>
            </a:r>
            <a:r>
              <a:rPr lang="sv-SE" dirty="0" err="1"/>
              <a:t>Database</a:t>
            </a:r>
            <a:r>
              <a:rPr lang="sv-SE" dirty="0"/>
              <a:t> Project</a:t>
            </a:r>
          </a:p>
          <a:p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using</a:t>
            </a:r>
            <a:r>
              <a:rPr lang="sv-SE" dirty="0"/>
              <a:t> dotnet cli, </a:t>
            </a:r>
            <a:r>
              <a:rPr lang="sv-SE" dirty="0" err="1"/>
              <a:t>Azure</a:t>
            </a:r>
            <a:r>
              <a:rPr lang="sv-SE" dirty="0"/>
              <a:t> Data Studio or </a:t>
            </a:r>
            <a:r>
              <a:rPr lang="sv-SE" dirty="0" err="1"/>
              <a:t>VSCode</a:t>
            </a:r>
            <a:r>
              <a:rPr lang="sv-SE" dirty="0"/>
              <a:t> (or </a:t>
            </a:r>
            <a:r>
              <a:rPr lang="sv-SE" dirty="0" err="1"/>
              <a:t>preview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SDK Style </a:t>
            </a:r>
            <a:r>
              <a:rPr lang="sv-SE" dirty="0" err="1"/>
              <a:t>projects</a:t>
            </a:r>
            <a:r>
              <a:rPr lang="sv-SE" dirty="0"/>
              <a:t> in Visual Studio 2022)</a:t>
            </a:r>
          </a:p>
          <a:p>
            <a:pPr lvl="1"/>
            <a:r>
              <a:rPr lang="sv-SE" dirty="0" err="1"/>
              <a:t>Install</a:t>
            </a:r>
            <a:r>
              <a:rPr lang="sv-SE" dirty="0"/>
              <a:t> </a:t>
            </a:r>
            <a:r>
              <a:rPr lang="sv-SE" dirty="0" err="1"/>
              <a:t>sqlpackage</a:t>
            </a:r>
            <a:r>
              <a:rPr lang="sv-SE" dirty="0"/>
              <a:t> and the </a:t>
            </a:r>
            <a:r>
              <a:rPr lang="sv-SE" dirty="0" err="1"/>
              <a:t>sqlproj</a:t>
            </a:r>
            <a:r>
              <a:rPr lang="sv-SE" dirty="0"/>
              <a:t> </a:t>
            </a:r>
            <a:r>
              <a:rPr lang="sv-SE" dirty="0" err="1"/>
              <a:t>project</a:t>
            </a:r>
            <a:r>
              <a:rPr lang="sv-SE" dirty="0"/>
              <a:t> template</a:t>
            </a:r>
          </a:p>
          <a:p>
            <a:pPr lvl="2"/>
            <a:r>
              <a:rPr lang="sv-SE" dirty="0">
                <a:latin typeface="Consolas" panose="020B0609020204030204" pitchFamily="49" charset="0"/>
              </a:rPr>
              <a:t>dotnet </a:t>
            </a:r>
            <a:r>
              <a:rPr lang="sv-SE" dirty="0" err="1">
                <a:latin typeface="Consolas" panose="020B0609020204030204" pitchFamily="49" charset="0"/>
              </a:rPr>
              <a:t>tool</a:t>
            </a:r>
            <a:r>
              <a:rPr lang="sv-SE" dirty="0">
                <a:latin typeface="Consolas" panose="020B0609020204030204" pitchFamily="49" charset="0"/>
              </a:rPr>
              <a:t> </a:t>
            </a:r>
            <a:r>
              <a:rPr lang="sv-SE" dirty="0" err="1">
                <a:latin typeface="Consolas" panose="020B0609020204030204" pitchFamily="49" charset="0"/>
              </a:rPr>
              <a:t>install</a:t>
            </a:r>
            <a:r>
              <a:rPr lang="sv-SE" dirty="0">
                <a:latin typeface="Consolas" panose="020B0609020204030204" pitchFamily="49" charset="0"/>
              </a:rPr>
              <a:t> –g </a:t>
            </a:r>
            <a:r>
              <a:rPr lang="sv-SE" dirty="0" err="1">
                <a:latin typeface="Consolas" panose="020B0609020204030204" pitchFamily="49" charset="0"/>
              </a:rPr>
              <a:t>microsoft.sqlpackage</a:t>
            </a:r>
            <a:endParaRPr lang="sv-SE" dirty="0">
              <a:latin typeface="Consolas" panose="020B0609020204030204" pitchFamily="49" charset="0"/>
            </a:endParaRPr>
          </a:p>
          <a:p>
            <a:pPr lvl="2"/>
            <a:r>
              <a:rPr lang="sv-SE" dirty="0">
                <a:latin typeface="Consolas" panose="020B0609020204030204" pitchFamily="49" charset="0"/>
              </a:rPr>
              <a:t>dotnet new </a:t>
            </a:r>
            <a:r>
              <a:rPr lang="sv-SE" dirty="0" err="1">
                <a:latin typeface="Consolas" panose="020B0609020204030204" pitchFamily="49" charset="0"/>
              </a:rPr>
              <a:t>install</a:t>
            </a:r>
            <a:r>
              <a:rPr lang="sv-SE" dirty="0">
                <a:latin typeface="Consolas" panose="020B0609020204030204" pitchFamily="49" charset="0"/>
              </a:rPr>
              <a:t> </a:t>
            </a:r>
            <a:r>
              <a:rPr lang="sv-SE" dirty="0" err="1">
                <a:latin typeface="Consolas" panose="020B0609020204030204" pitchFamily="49" charset="0"/>
              </a:rPr>
              <a:t>Microsoft.Build.Sql.Templates</a:t>
            </a:r>
            <a:endParaRPr lang="sv-SE" dirty="0">
              <a:latin typeface="Consolas" panose="020B0609020204030204" pitchFamily="49" charset="0"/>
            </a:endParaRPr>
          </a:p>
          <a:p>
            <a:pPr lvl="1"/>
            <a:r>
              <a:rPr lang="sv-SE" dirty="0" err="1"/>
              <a:t>Create</a:t>
            </a:r>
            <a:r>
              <a:rPr lang="sv-SE" dirty="0"/>
              <a:t> a new DB-</a:t>
            </a:r>
            <a:r>
              <a:rPr lang="sv-SE" dirty="0" err="1"/>
              <a:t>project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target</a:t>
            </a:r>
            <a:r>
              <a:rPr lang="sv-SE" dirty="0"/>
              <a:t> </a:t>
            </a:r>
            <a:r>
              <a:rPr lang="sv-SE" dirty="0" err="1"/>
              <a:t>platform</a:t>
            </a:r>
            <a:r>
              <a:rPr lang="sv-SE" dirty="0"/>
              <a:t> = </a:t>
            </a:r>
            <a:r>
              <a:rPr lang="sv-SE" dirty="0" err="1"/>
              <a:t>Sql</a:t>
            </a:r>
            <a:r>
              <a:rPr lang="sv-SE" dirty="0"/>
              <a:t> Server 2022 or </a:t>
            </a:r>
            <a:r>
              <a:rPr lang="sv-SE" dirty="0" err="1"/>
              <a:t>Azure</a:t>
            </a:r>
            <a:r>
              <a:rPr lang="sv-SE" dirty="0"/>
              <a:t> </a:t>
            </a:r>
            <a:r>
              <a:rPr lang="sv-SE" dirty="0" err="1"/>
              <a:t>Sql</a:t>
            </a:r>
            <a:r>
              <a:rPr lang="sv-SE" dirty="0"/>
              <a:t> (default)</a:t>
            </a:r>
          </a:p>
          <a:p>
            <a:pPr lvl="2"/>
            <a:r>
              <a:rPr lang="sv-SE" dirty="0">
                <a:latin typeface="Consolas" panose="020B0609020204030204" pitchFamily="49" charset="0"/>
              </a:rPr>
              <a:t>dotnet new </a:t>
            </a:r>
            <a:r>
              <a:rPr lang="sv-SE" dirty="0" err="1">
                <a:latin typeface="Consolas" panose="020B0609020204030204" pitchFamily="49" charset="0"/>
              </a:rPr>
              <a:t>sqlproj</a:t>
            </a:r>
            <a:r>
              <a:rPr lang="sv-SE" dirty="0">
                <a:latin typeface="Consolas" panose="020B0609020204030204" pitchFamily="49" charset="0"/>
              </a:rPr>
              <a:t> –n </a:t>
            </a:r>
            <a:r>
              <a:rPr lang="sv-SE" dirty="0" err="1">
                <a:latin typeface="Consolas" panose="020B0609020204030204" pitchFamily="49" charset="0"/>
              </a:rPr>
              <a:t>ArtyPartyDatabaseName</a:t>
            </a:r>
            <a:r>
              <a:rPr lang="sv-SE" dirty="0">
                <a:latin typeface="Consolas" panose="020B0609020204030204" pitchFamily="49" charset="0"/>
              </a:rPr>
              <a:t> –o c:\git\ArtyPartyDatabaseName –</a:t>
            </a:r>
            <a:r>
              <a:rPr lang="sv-SE" dirty="0" err="1">
                <a:latin typeface="Consolas" panose="020B0609020204030204" pitchFamily="49" charset="0"/>
              </a:rPr>
              <a:t>tp</a:t>
            </a:r>
            <a:r>
              <a:rPr lang="sv-SE" dirty="0">
                <a:latin typeface="Consolas" panose="020B0609020204030204" pitchFamily="49" charset="0"/>
              </a:rPr>
              <a:t> Sql160</a:t>
            </a:r>
          </a:p>
          <a:p>
            <a:pPr lvl="1"/>
            <a:r>
              <a:rPr lang="sv-SE" dirty="0" err="1"/>
              <a:t>Create</a:t>
            </a:r>
            <a:r>
              <a:rPr lang="sv-SE" dirty="0"/>
              <a:t> a new DB-</a:t>
            </a:r>
            <a:r>
              <a:rPr lang="sv-SE" dirty="0" err="1"/>
              <a:t>project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target</a:t>
            </a:r>
            <a:r>
              <a:rPr lang="sv-SE" dirty="0"/>
              <a:t> </a:t>
            </a:r>
            <a:r>
              <a:rPr lang="sv-SE" dirty="0" err="1"/>
              <a:t>platform</a:t>
            </a:r>
            <a:r>
              <a:rPr lang="sv-SE" dirty="0"/>
              <a:t> = </a:t>
            </a:r>
            <a:r>
              <a:rPr lang="sv-SE" dirty="0" err="1"/>
              <a:t>Fabric</a:t>
            </a:r>
            <a:r>
              <a:rPr lang="sv-SE" dirty="0"/>
              <a:t> DW</a:t>
            </a:r>
          </a:p>
          <a:p>
            <a:pPr lvl="2"/>
            <a:r>
              <a:rPr lang="sv-SE" dirty="0">
                <a:latin typeface="Consolas" panose="020B0609020204030204" pitchFamily="49" charset="0"/>
              </a:rPr>
              <a:t>dotnet new </a:t>
            </a:r>
            <a:r>
              <a:rPr lang="sv-SE" dirty="0" err="1">
                <a:latin typeface="Consolas" panose="020B0609020204030204" pitchFamily="49" charset="0"/>
              </a:rPr>
              <a:t>sqlproj</a:t>
            </a:r>
            <a:r>
              <a:rPr lang="sv-SE" dirty="0">
                <a:latin typeface="Consolas" panose="020B0609020204030204" pitchFamily="49" charset="0"/>
              </a:rPr>
              <a:t> –n </a:t>
            </a:r>
            <a:r>
              <a:rPr lang="sv-SE" dirty="0" err="1">
                <a:latin typeface="Consolas" panose="020B0609020204030204" pitchFamily="49" charset="0"/>
              </a:rPr>
              <a:t>FabricateStuff</a:t>
            </a:r>
            <a:r>
              <a:rPr lang="sv-SE" dirty="0">
                <a:latin typeface="Consolas" panose="020B0609020204030204" pitchFamily="49" charset="0"/>
              </a:rPr>
              <a:t> –o c:\git\Fabric\db\FabricateStuff –</a:t>
            </a:r>
            <a:r>
              <a:rPr lang="sv-SE" dirty="0" err="1">
                <a:latin typeface="Consolas" panose="020B0609020204030204" pitchFamily="49" charset="0"/>
              </a:rPr>
              <a:t>tp</a:t>
            </a:r>
            <a:r>
              <a:rPr lang="sv-SE" dirty="0">
                <a:latin typeface="Consolas" panose="020B0609020204030204" pitchFamily="49" charset="0"/>
              </a:rPr>
              <a:t> </a:t>
            </a:r>
            <a:r>
              <a:rPr lang="sv-SE" dirty="0" err="1">
                <a:latin typeface="Consolas" panose="020B0609020204030204" pitchFamily="49" charset="0"/>
              </a:rPr>
              <a:t>SqlDwUnified</a:t>
            </a:r>
            <a:endParaRPr lang="sv-SE" dirty="0">
              <a:latin typeface="Consolas" panose="020B0609020204030204" pitchFamily="49" charset="0"/>
            </a:endParaRPr>
          </a:p>
          <a:p>
            <a:pPr lvl="1"/>
            <a:r>
              <a:rPr lang="sv-SE" dirty="0"/>
              <a:t> Get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help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options for dotnet new </a:t>
            </a:r>
            <a:r>
              <a:rPr lang="sv-SE" dirty="0" err="1"/>
              <a:t>sqlproj</a:t>
            </a:r>
            <a:endParaRPr lang="sv-SE" dirty="0"/>
          </a:p>
          <a:p>
            <a:pPr lvl="2"/>
            <a:r>
              <a:rPr lang="sv-SE" dirty="0">
                <a:latin typeface="Consolas" panose="020B0609020204030204" pitchFamily="49" charset="0"/>
              </a:rPr>
              <a:t>dotnet new </a:t>
            </a:r>
            <a:r>
              <a:rPr lang="sv-SE" dirty="0" err="1">
                <a:latin typeface="Consolas" panose="020B0609020204030204" pitchFamily="49" charset="0"/>
              </a:rPr>
              <a:t>sqlproj</a:t>
            </a:r>
            <a:r>
              <a:rPr lang="sv-SE" dirty="0">
                <a:latin typeface="Consolas" panose="020B0609020204030204" pitchFamily="49" charset="0"/>
              </a:rPr>
              <a:t> -h</a:t>
            </a:r>
          </a:p>
        </p:txBody>
      </p:sp>
    </p:spTree>
    <p:extLst>
      <p:ext uri="{BB962C8B-B14F-4D97-AF65-F5344CB8AC3E}">
        <p14:creationId xmlns:p14="http://schemas.microsoft.com/office/powerpoint/2010/main" val="318998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BA59C8D-A0B5-92CB-01C5-435A152E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SSDT </a:t>
            </a:r>
            <a:r>
              <a:rPr lang="sv-SE" dirty="0" err="1"/>
              <a:t>Database</a:t>
            </a:r>
            <a:r>
              <a:rPr lang="sv-SE" dirty="0"/>
              <a:t> Projects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489E1F7-AEA4-DEF2-6DD6-BE777B457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.NET </a:t>
            </a:r>
            <a:r>
              <a:rPr lang="sv-SE" dirty="0" err="1"/>
              <a:t>Framework</a:t>
            </a:r>
            <a:r>
              <a:rPr lang="sv-SE" dirty="0"/>
              <a:t> </a:t>
            </a:r>
            <a:r>
              <a:rPr lang="sv-SE" dirty="0" err="1"/>
              <a:t>based</a:t>
            </a:r>
            <a:r>
              <a:rPr lang="sv-SE" dirty="0"/>
              <a:t> </a:t>
            </a:r>
            <a:r>
              <a:rPr lang="sv-SE" dirty="0" err="1"/>
              <a:t>project</a:t>
            </a:r>
            <a:r>
              <a:rPr lang="sv-SE" dirty="0"/>
              <a:t> </a:t>
            </a:r>
            <a:r>
              <a:rPr lang="sv-SE" dirty="0" err="1"/>
              <a:t>type</a:t>
            </a:r>
            <a:endParaRPr lang="sv-SE" dirty="0"/>
          </a:p>
          <a:p>
            <a:r>
              <a:rPr lang="sv-SE" dirty="0"/>
              <a:t>Visual Studio support </a:t>
            </a:r>
            <a:r>
              <a:rPr lang="sv-SE" dirty="0" err="1"/>
              <a:t>since</a:t>
            </a:r>
            <a:r>
              <a:rPr lang="sv-SE" dirty="0"/>
              <a:t> long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64475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8322C01-6142-FDFA-F4A2-24D0A2DA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Project </a:t>
            </a:r>
            <a:r>
              <a:rPr lang="sv-SE" dirty="0" err="1"/>
              <a:t>file</a:t>
            </a:r>
            <a:r>
              <a:rPr lang="sv-SE" dirty="0"/>
              <a:t> </a:t>
            </a:r>
            <a:r>
              <a:rPr lang="sv-SE" dirty="0" err="1"/>
              <a:t>differences</a:t>
            </a:r>
            <a:endParaRPr lang="sv-SE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E106960D-7F25-F57F-5B95-A71EB92AC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83" y="1463040"/>
            <a:ext cx="5583830" cy="4457700"/>
          </a:xfrm>
          <a:prstGeom prst="rect">
            <a:avLst/>
          </a:prstGeom>
        </p:spPr>
      </p:pic>
      <p:pic>
        <p:nvPicPr>
          <p:cNvPr id="9" name="Bildobjekt 8">
            <a:extLst>
              <a:ext uri="{FF2B5EF4-FFF2-40B4-BE49-F238E27FC236}">
                <a16:creationId xmlns:a16="http://schemas.microsoft.com/office/drawing/2014/main" id="{BC4EDB47-3148-4143-C865-18B4EFC96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86817"/>
            <a:ext cx="5611008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32795"/>
      </p:ext>
    </p:extLst>
  </p:cSld>
  <p:clrMapOvr>
    <a:masterClrMapping/>
  </p:clrMapOvr>
</p:sld>
</file>

<file path=ppt/theme/theme1.xml><?xml version="1.0" encoding="utf-8"?>
<a:theme xmlns:a="http://schemas.openxmlformats.org/drawingml/2006/main" name="Fasett">
  <a:themeElements>
    <a:clrScheme name="Varm blå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oupBy_Eight_hours_of_work_in_20_minutes_Partitioning_Rox.pptx" id="{70D7657E-FDF3-4AF8-B760-E8DCE5C23891}" vid="{32728EFA-864A-41EB-A785-94AF657B65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9DF362DDD05A45B86D781376AAC476" ma:contentTypeVersion="7" ma:contentTypeDescription="Create a new document." ma:contentTypeScope="" ma:versionID="3a57987203f074c548de98d113b4286b">
  <xsd:schema xmlns:xsd="http://www.w3.org/2001/XMLSchema" xmlns:xs="http://www.w3.org/2001/XMLSchema" xmlns:p="http://schemas.microsoft.com/office/2006/metadata/properties" xmlns:ns2="d199752a-3aa5-47db-8ae7-beef1561cea0" targetNamespace="http://schemas.microsoft.com/office/2006/metadata/properties" ma:root="true" ma:fieldsID="70b53b01044eee4a42e00434b4075c16" ns2:_="">
    <xsd:import namespace="d199752a-3aa5-47db-8ae7-beef1561ce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99752a-3aa5-47db-8ae7-beef1561ce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AA9653-386D-4377-A986-DC4A02C60CD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542A527-91EE-49D6-AF42-393E29B98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6C713D-8D2B-492D-A52A-375696712C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99752a-3aa5-47db-8ae7-beef1561ce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PPTMALL</Template>
  <TotalTime>5624</TotalTime>
  <Words>472</Words>
  <Application>Microsoft Office PowerPoint</Application>
  <PresentationFormat>Bredbild</PresentationFormat>
  <Paragraphs>81</Paragraphs>
  <Slides>13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8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13</vt:i4>
      </vt:variant>
    </vt:vector>
  </HeadingPairs>
  <TitlesOfParts>
    <vt:vector size="22" baseType="lpstr">
      <vt:lpstr>Arial</vt:lpstr>
      <vt:lpstr>Calibri</vt:lpstr>
      <vt:lpstr>Consolas</vt:lpstr>
      <vt:lpstr>open sans</vt:lpstr>
      <vt:lpstr>Roboto Light</vt:lpstr>
      <vt:lpstr>Source Sans Pro</vt:lpstr>
      <vt:lpstr>Trebuchet MS</vt:lpstr>
      <vt:lpstr>Wingdings 3</vt:lpstr>
      <vt:lpstr>Fasett</vt:lpstr>
      <vt:lpstr>An Introduction to  Sql Server Database Projects</vt:lpstr>
      <vt:lpstr>Content</vt:lpstr>
      <vt:lpstr>Magnus Ahlkvist</vt:lpstr>
      <vt:lpstr>Migration based deployments</vt:lpstr>
      <vt:lpstr>Migrations initialization</vt:lpstr>
      <vt:lpstr>Version 1.0.0</vt:lpstr>
      <vt:lpstr>Version 1.1.0</vt:lpstr>
      <vt:lpstr>Version 1.2.0</vt:lpstr>
      <vt:lpstr>Model based deployment</vt:lpstr>
      <vt:lpstr>SQL Server Database Projects</vt:lpstr>
      <vt:lpstr>SDK Style Database Projects</vt:lpstr>
      <vt:lpstr>SSDT Database Projects</vt:lpstr>
      <vt:lpstr>Project file differences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Magnus Ahlkvist</dc:creator>
  <cp:lastModifiedBy>Magnus Ahlkvist</cp:lastModifiedBy>
  <cp:revision>32</cp:revision>
  <dcterms:created xsi:type="dcterms:W3CDTF">2019-10-13T08:45:28Z</dcterms:created>
  <dcterms:modified xsi:type="dcterms:W3CDTF">2025-03-07T10:38:01Z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0x010100BE9DF362DDD05A45B86D781376AAC476</vt:lpwstr>
  </property>
</Properties>
</file>