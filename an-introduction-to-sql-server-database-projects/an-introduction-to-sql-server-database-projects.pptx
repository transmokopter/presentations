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8" r:id="rId5"/>
  </p:sldMasterIdLst>
  <p:notesMasterIdLst>
    <p:notesMasterId r:id="rId30"/>
  </p:notesMasterIdLst>
  <p:sldIdLst>
    <p:sldId id="260" r:id="rId6"/>
    <p:sldId id="279" r:id="rId7"/>
    <p:sldId id="256" r:id="rId8"/>
    <p:sldId id="261" r:id="rId9"/>
    <p:sldId id="264" r:id="rId10"/>
    <p:sldId id="430" r:id="rId11"/>
    <p:sldId id="262" r:id="rId12"/>
    <p:sldId id="263" r:id="rId13"/>
    <p:sldId id="265" r:id="rId14"/>
    <p:sldId id="266" r:id="rId15"/>
    <p:sldId id="267" r:id="rId16"/>
    <p:sldId id="429" r:id="rId17"/>
    <p:sldId id="268" r:id="rId18"/>
    <p:sldId id="269" r:id="rId19"/>
    <p:sldId id="270" r:id="rId20"/>
    <p:sldId id="271" r:id="rId21"/>
    <p:sldId id="272" r:id="rId22"/>
    <p:sldId id="273" r:id="rId23"/>
    <p:sldId id="275" r:id="rId24"/>
    <p:sldId id="276" r:id="rId25"/>
    <p:sldId id="274" r:id="rId26"/>
    <p:sldId id="277" r:id="rId27"/>
    <p:sldId id="431" r:id="rId28"/>
    <p:sldId id="278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FFD700"/>
    <a:srgbClr val="E5E4E2"/>
    <a:srgbClr val="C0C0C0"/>
    <a:srgbClr val="CD7F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84992" autoAdjust="0"/>
  </p:normalViewPr>
  <p:slideViewPr>
    <p:cSldViewPr snapToGrid="0">
      <p:cViewPr varScale="1">
        <p:scale>
          <a:sx n="87" d="100"/>
          <a:sy n="87" d="100"/>
        </p:scale>
        <p:origin x="796" y="28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112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6D3B2D-3924-0B48-B558-93C031AA9A06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72716D-3A19-4347-B553-E4062DD46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515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6F2ADC0-909F-0543-A922-13880F1A3B43}" type="slidenum">
              <a:rPr kumimoji="0" lang="en-NO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N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46953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8/30/2025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pic>
        <p:nvPicPr>
          <p:cNvPr id="18" name="Bild 17">
            <a:extLst>
              <a:ext uri="{FF2B5EF4-FFF2-40B4-BE49-F238E27FC236}">
                <a16:creationId xmlns:a16="http://schemas.microsoft.com/office/drawing/2014/main" id="{42BCFCD7-74CB-442B-9206-4BBDA1D162E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7593" y="4100975"/>
            <a:ext cx="2736965" cy="273696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8/30/2025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8/30/2025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/>
              <a:t>8/30/2025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8/30/2025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8/30/2025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8/30/2025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/>
              <a:t>8/30/2025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sv-SE"/>
              <a:t>Klicka på ikonen för att lägga till en bild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8/30/2025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ch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8/30/2025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med beskriv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8/30/2025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nk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8/30/2025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nkort för 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8/30/2025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nt eller fals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8/30/2025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/>
              <a:t>8/30/2025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8/30/2025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67486-45A9-B79B-F1B7-853953B6BD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39D6A9-55A2-5AEF-5E80-8A8BC740B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E1C332-43B1-784F-86CE-FABB95A3F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EBC61-6493-6943-BFC0-FEDAB404CC17}" type="datetimeFigureOut">
              <a:rPr lang="en-NO" smtClean="0"/>
              <a:t>08/30/2025</a:t>
            </a:fld>
            <a:endParaRPr lang="en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15C634-8243-5D4E-0C27-008C83CB4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174C78-BB59-C152-C15F-C91CD1592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158FF-A7DF-BF42-A1A6-DB8EC7A9882E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713091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0F42F-14DF-F8FE-A721-5E3A30CF7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A785CA-D898-055F-F655-A1A2199B4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491E6-29C6-FB54-8E5C-7177D2F79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EBC61-6493-6943-BFC0-FEDAB404CC17}" type="datetimeFigureOut">
              <a:rPr lang="en-NO" smtClean="0"/>
              <a:t>08/30/2025</a:t>
            </a:fld>
            <a:endParaRPr lang="en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0FA81E-1DF3-D085-6F88-735C98EAF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7BE55-35C6-EECF-CB6D-DC522BA9D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158FF-A7DF-BF42-A1A6-DB8EC7A9882E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0884231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BFA6D-111E-9570-32BF-96B824C98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87E193-7CC3-3210-53A9-77375C82E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B23E5-56BF-518B-BC01-7A58EC247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EBC61-6493-6943-BFC0-FEDAB404CC17}" type="datetimeFigureOut">
              <a:rPr lang="en-NO" smtClean="0"/>
              <a:t>08/30/2025</a:t>
            </a:fld>
            <a:endParaRPr lang="en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A98D9-ADE9-F622-EB7C-C34CF76C3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7A8CF-028B-46F6-2ED2-3BAF03C52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158FF-A7DF-BF42-A1A6-DB8EC7A9882E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4982864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0BB59-83BB-3DC3-DED6-13C776FC0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9F86E2-F533-B021-7BEC-44B5C51B3B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C4F9B0-A736-A1BB-5878-1E3C47435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772C37-5FD2-E400-7DD6-CE6231DB2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EBC61-6493-6943-BFC0-FEDAB404CC17}" type="datetimeFigureOut">
              <a:rPr lang="en-NO" smtClean="0"/>
              <a:t>08/30/2025</a:t>
            </a:fld>
            <a:endParaRPr lang="en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469EB1-10F6-7AB2-3AA8-D96977872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96596F-D125-3A93-2F55-CE3E319A8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158FF-A7DF-BF42-A1A6-DB8EC7A9882E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6380789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3BD46-B2DA-2FE6-4E3E-E569AAD4B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788DCE-CB1C-CF73-DEE2-0E162DD0B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B37499-7F8D-0C01-8709-E86D0AD17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E012BC1-ABA8-02B0-5E1B-DBAAB7EE3B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C7B3B7-2053-CD19-12BB-23144DABC1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97BA41-FD5F-D012-37F1-1D013481D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EBC61-6493-6943-BFC0-FEDAB404CC17}" type="datetimeFigureOut">
              <a:rPr lang="en-NO" smtClean="0"/>
              <a:t>08/30/2025</a:t>
            </a:fld>
            <a:endParaRPr lang="en-N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07797C-737C-61AB-B45E-892A29DA2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FB60D1-81D5-CFE3-8454-2EF0052FA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158FF-A7DF-BF42-A1A6-DB8EC7A9882E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5444867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6B01A-92A8-01CD-3EF4-48BE45078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D03904-975F-536D-6BBE-248696E48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EBC61-6493-6943-BFC0-FEDAB404CC17}" type="datetimeFigureOut">
              <a:rPr lang="en-NO" smtClean="0"/>
              <a:t>08/30/2025</a:t>
            </a:fld>
            <a:endParaRPr lang="en-N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94E7DD-991E-8A33-418C-74A555DC4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5CC7F7-2F46-6D7B-F0C3-BFD6FC004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158FF-A7DF-BF42-A1A6-DB8EC7A9882E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1223549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EE5288-F0A3-F9CB-F7E5-66B81BB59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EBC61-6493-6943-BFC0-FEDAB404CC17}" type="datetimeFigureOut">
              <a:rPr lang="en-NO" smtClean="0"/>
              <a:t>08/30/2025</a:t>
            </a:fld>
            <a:endParaRPr lang="en-N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48B219-3E8B-3320-CAAF-5EFBBB4E7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193DAA-AD53-7489-568C-005EAEFF1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158FF-A7DF-BF42-A1A6-DB8EC7A9882E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64911116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E6ED0-08DB-00E8-AE01-79ECEEC5B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3DD02-C41B-3B83-F9A3-F468F9FAB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135E61-918F-3C45-F118-392A2BC8AA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5A81E5-F2D3-4795-6537-E9665DE32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EBC61-6493-6943-BFC0-FEDAB404CC17}" type="datetimeFigureOut">
              <a:rPr lang="en-NO" smtClean="0"/>
              <a:t>08/30/2025</a:t>
            </a:fld>
            <a:endParaRPr lang="en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F95264-43C8-CB4C-D04F-7F40F33AB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52CCD9-BAAC-E2B0-F364-19B9ACDE5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158FF-A7DF-BF42-A1A6-DB8EC7A9882E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511980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C2248-12FC-D658-16F1-6F8A2381F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37C41A-A1F7-4E7C-4C04-D995969900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0696B0-C746-B4A6-1F99-D51A5217F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E135C5-5369-8F43-0FDA-FFC61CE44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EBC61-6493-6943-BFC0-FEDAB404CC17}" type="datetimeFigureOut">
              <a:rPr lang="en-NO" smtClean="0"/>
              <a:t>08/30/2025</a:t>
            </a:fld>
            <a:endParaRPr lang="en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144886-AB42-A3B9-3A4C-34A7EC7F8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36630B-E468-4C4E-8D09-D62654DF9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158FF-A7DF-BF42-A1A6-DB8EC7A9882E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81755980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77DDE-E58A-F882-5693-3677113E5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2F361E-C12C-1A89-8474-308A975570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8D924-1BC5-D794-4DD9-1FAA004DD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EBC61-6493-6943-BFC0-FEDAB404CC17}" type="datetimeFigureOut">
              <a:rPr lang="en-NO" smtClean="0"/>
              <a:t>08/30/2025</a:t>
            </a:fld>
            <a:endParaRPr lang="en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5C02EF-4417-C4C2-C048-B050F7404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AAB4C4-4F2F-E306-3D2A-E703AA69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158FF-A7DF-BF42-A1A6-DB8EC7A9882E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27184664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D423F-7794-68D0-A867-145334D83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947388-7409-506A-8002-B8ED97FD4C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7B418C-4E65-3506-2DF6-699A7A506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EBC61-6493-6943-BFC0-FEDAB404CC17}" type="datetimeFigureOut">
              <a:rPr lang="en-NO" smtClean="0"/>
              <a:t>08/30/2025</a:t>
            </a:fld>
            <a:endParaRPr lang="en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2C2B6E-1506-167A-03BC-965F8BFE1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2969C-9A2A-3393-EA5C-9AD911918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158FF-A7DF-BF42-A1A6-DB8EC7A9882E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280957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5000"/>
                <a:lumOff val="95000"/>
              </a:schemeClr>
            </a:gs>
            <a:gs pos="100000">
              <a:srgbClr val="FFCCCC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/>
              <a:pPr/>
              <a:t>8/30/2025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pic>
        <p:nvPicPr>
          <p:cNvPr id="9" name="Bild 8">
            <a:extLst>
              <a:ext uri="{FF2B5EF4-FFF2-40B4-BE49-F238E27FC236}">
                <a16:creationId xmlns:a16="http://schemas.microsoft.com/office/drawing/2014/main" id="{40A61AF8-6CA2-4DC0-AB0C-54B2BDCB308E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634870" y="4988252"/>
            <a:ext cx="1849688" cy="184968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CE41E0-4198-634A-5109-D9D570D38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C549B9-70F4-0315-693E-E0D11FC911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076994-A343-2FE2-2885-EB961F7E8E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6EBC61-6493-6943-BFC0-FEDAB404CC17}" type="datetimeFigureOut">
              <a:rPr lang="en-NO" smtClean="0"/>
              <a:t>08/30/2025</a:t>
            </a:fld>
            <a:endParaRPr lang="en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0FE761-BE5D-2F46-4641-26C400DFE3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C6E91-15C1-AB93-9E2E-E6B863374A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8158FF-A7DF-BF42-A1A6-DB8EC7A9882E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235716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jpe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7.svg"/><Relationship Id="rId11" Type="http://schemas.openxmlformats.org/officeDocument/2006/relationships/image" Target="../media/image12.svg"/><Relationship Id="rId5" Type="http://schemas.openxmlformats.org/officeDocument/2006/relationships/image" Target="../media/image6.png"/><Relationship Id="rId15" Type="http://schemas.openxmlformats.org/officeDocument/2006/relationships/image" Target="../media/image16.svg"/><Relationship Id="rId10" Type="http://schemas.openxmlformats.org/officeDocument/2006/relationships/image" Target="../media/image11.png"/><Relationship Id="rId4" Type="http://schemas.openxmlformats.org/officeDocument/2006/relationships/image" Target="../media/image5.sv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3.jpg"/><Relationship Id="rId7" Type="http://schemas.openxmlformats.org/officeDocument/2006/relationships/image" Target="../media/image23.png"/><Relationship Id="rId2" Type="http://schemas.openxmlformats.org/officeDocument/2006/relationships/hyperlink" Target="mailto:magnus@transmokopter.se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EEC31-E066-4E62-BAAB-C170893FFE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0986" y="1363287"/>
            <a:ext cx="10668000" cy="2115312"/>
          </a:xfrm>
        </p:spPr>
        <p:txBody>
          <a:bodyPr/>
          <a:lstStyle/>
          <a:p>
            <a:r>
              <a:rPr lang="en-GB" sz="3200" dirty="0"/>
              <a:t>An Introduction to </a:t>
            </a:r>
            <a:br>
              <a:rPr lang="en-GB" sz="3200" dirty="0"/>
            </a:br>
            <a:r>
              <a:rPr lang="en-GB" sz="3200" dirty="0" err="1"/>
              <a:t>Sql</a:t>
            </a:r>
            <a:r>
              <a:rPr lang="en-GB" sz="3200" dirty="0"/>
              <a:t> Server Database Projects</a:t>
            </a: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9B0E28-205D-4B8D-B72F-75D77CF216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Magnus </a:t>
            </a:r>
            <a:r>
              <a:rPr lang="en-US" dirty="0" err="1"/>
              <a:t>Ahlkvist</a:t>
            </a:r>
            <a:endParaRPr lang="en-US" dirty="0"/>
          </a:p>
          <a:p>
            <a:r>
              <a:rPr lang="en-US" dirty="0" err="1"/>
              <a:t>Transmokopter</a:t>
            </a:r>
            <a:r>
              <a:rPr lang="en-US" dirty="0"/>
              <a:t> SQL AB</a:t>
            </a:r>
          </a:p>
          <a:p>
            <a:r>
              <a:rPr lang="en-US" dirty="0"/>
              <a:t>SQL Server consultant, Data Platform MVP</a:t>
            </a:r>
          </a:p>
        </p:txBody>
      </p:sp>
      <p:pic>
        <p:nvPicPr>
          <p:cNvPr id="5" name="Picture 4" descr="A picture containing person, looking, cellphone, phone&#10;&#10;Description automatically generated">
            <a:extLst>
              <a:ext uri="{FF2B5EF4-FFF2-40B4-BE49-F238E27FC236}">
                <a16:creationId xmlns:a16="http://schemas.microsoft.com/office/drawing/2014/main" id="{099A75BC-ED83-4232-8CE1-447DBDA9BC2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0596"/>
          <a:stretch/>
        </p:blipFill>
        <p:spPr>
          <a:xfrm>
            <a:off x="0" y="0"/>
            <a:ext cx="42699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188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D8742-F3DF-DA82-5FEB-E75171352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Free events aren’t really free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A4567-296C-7C0B-D1BA-6EB2293ABB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Visit the sponsors!!!!!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078720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4">
            <a:extLst>
              <a:ext uri="{FF2B5EF4-FFF2-40B4-BE49-F238E27FC236}">
                <a16:creationId xmlns:a16="http://schemas.microsoft.com/office/drawing/2014/main" id="{A280507D-CA14-E682-CC12-B4F4F48EEC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AutoShape 8" descr="signature_2217393165">
            <a:extLst>
              <a:ext uri="{FF2B5EF4-FFF2-40B4-BE49-F238E27FC236}">
                <a16:creationId xmlns:a16="http://schemas.microsoft.com/office/drawing/2014/main" id="{8E02CA26-DFA6-50C3-BFEC-779A63D71C0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AutoShape 10" descr="DataBrothers">
            <a:extLst>
              <a:ext uri="{FF2B5EF4-FFF2-40B4-BE49-F238E27FC236}">
                <a16:creationId xmlns:a16="http://schemas.microsoft.com/office/drawing/2014/main" id="{28AB2310-E80C-D142-A16A-AA62E769FF9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7D6DC8-F446-93B3-B577-CB84D41AE2E5}"/>
              </a:ext>
            </a:extLst>
          </p:cNvPr>
          <p:cNvSpPr txBox="1"/>
          <p:nvPr/>
        </p:nvSpPr>
        <p:spPr>
          <a:xfrm>
            <a:off x="3831981" y="445520"/>
            <a:ext cx="4161215" cy="2794383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10670077"/>
              </a:avLst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NO" sz="8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otham Medium" pitchFamily="2" charset="0"/>
                <a:ea typeface="+mn-ea"/>
                <a:cs typeface="Gotham Medium" pitchFamily="2" charset="0"/>
              </a:rPr>
              <a:t>Thank you to our sponsors</a:t>
            </a: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E51DE4C2-F060-B536-024C-B2D02DEE83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07577" y="3073834"/>
            <a:ext cx="2098377" cy="1616761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0A1E68C9-5DE7-5624-7A91-EEFE800662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8487" y="2900132"/>
            <a:ext cx="3191097" cy="1062698"/>
          </a:xfrm>
          <a:prstGeom prst="rect">
            <a:avLst/>
          </a:prstGeom>
        </p:spPr>
      </p:pic>
      <p:pic>
        <p:nvPicPr>
          <p:cNvPr id="52" name="Picture 5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DC134D0-2A42-6F67-B55A-8DA4DB61F0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1301" y="3737769"/>
            <a:ext cx="2705277" cy="479821"/>
          </a:xfrm>
          <a:prstGeom prst="rect">
            <a:avLst/>
          </a:prstGeom>
        </p:spPr>
      </p:pic>
      <p:pic>
        <p:nvPicPr>
          <p:cNvPr id="56" name="Picture 55" descr="A black and white logo&#10;&#10;Description automatically generated">
            <a:extLst>
              <a:ext uri="{FF2B5EF4-FFF2-40B4-BE49-F238E27FC236}">
                <a16:creationId xmlns:a16="http://schemas.microsoft.com/office/drawing/2014/main" id="{5CD93F81-DDFF-1D00-C01D-C8B9B27F33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015" y="775221"/>
            <a:ext cx="2048929" cy="1053734"/>
          </a:xfrm>
          <a:prstGeom prst="rect">
            <a:avLst/>
          </a:prstGeom>
        </p:spPr>
      </p:pic>
      <p:pic>
        <p:nvPicPr>
          <p:cNvPr id="5" name="Picture 4" descr="A heart with a blue and yellow flag on it&#10;&#10;Description automatically generated">
            <a:extLst>
              <a:ext uri="{FF2B5EF4-FFF2-40B4-BE49-F238E27FC236}">
                <a16:creationId xmlns:a16="http://schemas.microsoft.com/office/drawing/2014/main" id="{E248FEED-3EE0-92C0-FBC7-FF9B63E29F00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1326" t="-871" b="13000"/>
          <a:stretch>
            <a:fillRect/>
          </a:stretch>
        </p:blipFill>
        <p:spPr>
          <a:xfrm>
            <a:off x="4241957" y="449814"/>
            <a:ext cx="3299190" cy="2861077"/>
          </a:xfrm>
          <a:prstGeom prst="rect">
            <a:avLst/>
          </a:prstGeom>
        </p:spPr>
      </p:pic>
      <p:pic>
        <p:nvPicPr>
          <p:cNvPr id="6" name="Grafikk 5">
            <a:extLst>
              <a:ext uri="{FF2B5EF4-FFF2-40B4-BE49-F238E27FC236}">
                <a16:creationId xmlns:a16="http://schemas.microsoft.com/office/drawing/2014/main" id="{4FC612B2-D645-A870-F662-1360ADBE184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89791" y="981470"/>
            <a:ext cx="3110993" cy="736873"/>
          </a:xfrm>
          <a:prstGeom prst="rect">
            <a:avLst/>
          </a:prstGeom>
        </p:spPr>
      </p:pic>
      <p:pic>
        <p:nvPicPr>
          <p:cNvPr id="8" name="Bilde 7" descr="Et bilde som inneholder Font, tekst, Grafikk, logo&#10;&#10;KI-generert innhold kan være feil.">
            <a:extLst>
              <a:ext uri="{FF2B5EF4-FFF2-40B4-BE49-F238E27FC236}">
                <a16:creationId xmlns:a16="http://schemas.microsoft.com/office/drawing/2014/main" id="{8949F131-4DC4-4AAB-60A2-64780EC3368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06292" y="4936587"/>
            <a:ext cx="3515316" cy="737097"/>
          </a:xfrm>
          <a:prstGeom prst="rect">
            <a:avLst/>
          </a:prstGeom>
        </p:spPr>
      </p:pic>
      <p:pic>
        <p:nvPicPr>
          <p:cNvPr id="9" name="Bilde 8" descr="Et bilde som inneholder logo, symbol, Font, design&#10;&#10;KI-generert innhold kan være feil.">
            <a:extLst>
              <a:ext uri="{FF2B5EF4-FFF2-40B4-BE49-F238E27FC236}">
                <a16:creationId xmlns:a16="http://schemas.microsoft.com/office/drawing/2014/main" id="{9335216A-3AE8-F64B-63CA-1F4A309220A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308149" y="4508669"/>
            <a:ext cx="3045424" cy="1818625"/>
          </a:xfrm>
          <a:prstGeom prst="rect">
            <a:avLst/>
          </a:prstGeom>
        </p:spPr>
      </p:pic>
      <p:pic>
        <p:nvPicPr>
          <p:cNvPr id="10" name="Grafikk 9">
            <a:extLst>
              <a:ext uri="{FF2B5EF4-FFF2-40B4-BE49-F238E27FC236}">
                <a16:creationId xmlns:a16="http://schemas.microsoft.com/office/drawing/2014/main" id="{F1A910C6-4EC6-F638-89F9-368CF1D5E81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98629" y="2740102"/>
            <a:ext cx="3093372" cy="1384859"/>
          </a:xfrm>
          <a:prstGeom prst="rect">
            <a:avLst/>
          </a:prstGeom>
        </p:spPr>
      </p:pic>
      <p:pic>
        <p:nvPicPr>
          <p:cNvPr id="4" name="Picture 3" descr="A close up of a logo&#10;&#10;AI-generated content may be incorrect.">
            <a:extLst>
              <a:ext uri="{FF2B5EF4-FFF2-40B4-BE49-F238E27FC236}">
                <a16:creationId xmlns:a16="http://schemas.microsoft.com/office/drawing/2014/main" id="{BDEED1EA-7691-4D10-1395-A28AF5FDD93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40400" y="1910872"/>
            <a:ext cx="1378834" cy="578161"/>
          </a:xfrm>
          <a:prstGeom prst="rect">
            <a:avLst/>
          </a:prstGeom>
        </p:spPr>
      </p:pic>
      <p:pic>
        <p:nvPicPr>
          <p:cNvPr id="11" name="Bilde 10" descr="A logo of a horse head&#10;&#10;Description automatically generated">
            <a:extLst>
              <a:ext uri="{FF2B5EF4-FFF2-40B4-BE49-F238E27FC236}">
                <a16:creationId xmlns:a16="http://schemas.microsoft.com/office/drawing/2014/main" id="{9674F16B-3694-E92B-843E-CC85BC3B61E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48671" y="5676281"/>
            <a:ext cx="992827" cy="1057152"/>
          </a:xfrm>
          <a:prstGeom prst="rect">
            <a:avLst/>
          </a:prstGeom>
        </p:spPr>
      </p:pic>
      <p:pic>
        <p:nvPicPr>
          <p:cNvPr id="3" name="Picture 2" descr="A black letter g&#10;&#10;Description automatically generated">
            <a:extLst>
              <a:ext uri="{FF2B5EF4-FFF2-40B4-BE49-F238E27FC236}">
                <a16:creationId xmlns:a16="http://schemas.microsoft.com/office/drawing/2014/main" id="{CCDFE0FF-D7FE-325F-6318-00638A557BA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03566" y="4102191"/>
            <a:ext cx="2743198" cy="589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240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49967C5-AC23-C499-5078-7F479FD7C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Content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B46F8A19-07C4-A4DC-C9D4-DDFAE041E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 b="0" i="0" dirty="0">
                <a:solidFill>
                  <a:srgbClr val="676A6C"/>
                </a:solidFill>
                <a:effectLst/>
                <a:latin typeface="open sans" panose="020B0606030504020204" pitchFamily="34" charset="0"/>
              </a:rPr>
              <a:t>Migration </a:t>
            </a:r>
            <a:r>
              <a:rPr lang="sv-SE" b="0" i="0" dirty="0" err="1">
                <a:solidFill>
                  <a:srgbClr val="676A6C"/>
                </a:solidFill>
                <a:effectLst/>
                <a:latin typeface="open sans" panose="020B0606030504020204" pitchFamily="34" charset="0"/>
              </a:rPr>
              <a:t>based</a:t>
            </a:r>
            <a:r>
              <a:rPr lang="sv-SE" b="0" i="0" dirty="0">
                <a:solidFill>
                  <a:srgbClr val="676A6C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sv-SE" b="0" i="0" dirty="0" err="1">
                <a:solidFill>
                  <a:srgbClr val="676A6C"/>
                </a:solidFill>
                <a:effectLst/>
                <a:latin typeface="open sans" panose="020B0606030504020204" pitchFamily="34" charset="0"/>
              </a:rPr>
              <a:t>deployments</a:t>
            </a:r>
            <a:endParaRPr lang="sv-SE" b="0" i="0" dirty="0">
              <a:solidFill>
                <a:srgbClr val="676A6C"/>
              </a:solidFill>
              <a:effectLst/>
              <a:latin typeface="open sans" panose="020B0606030504020204" pitchFamily="34" charset="0"/>
            </a:endParaRPr>
          </a:p>
          <a:p>
            <a:r>
              <a:rPr lang="sv-SE" dirty="0" err="1">
                <a:solidFill>
                  <a:srgbClr val="676A6C"/>
                </a:solidFill>
                <a:latin typeface="open sans" panose="020B0606030504020204" pitchFamily="34" charset="0"/>
              </a:rPr>
              <a:t>Model</a:t>
            </a:r>
            <a:r>
              <a:rPr lang="sv-SE" dirty="0">
                <a:solidFill>
                  <a:srgbClr val="676A6C"/>
                </a:solidFill>
                <a:latin typeface="open sans" panose="020B0606030504020204" pitchFamily="34" charset="0"/>
              </a:rPr>
              <a:t> </a:t>
            </a:r>
            <a:r>
              <a:rPr lang="sv-SE" dirty="0" err="1">
                <a:solidFill>
                  <a:srgbClr val="676A6C"/>
                </a:solidFill>
                <a:latin typeface="open sans" panose="020B0606030504020204" pitchFamily="34" charset="0"/>
              </a:rPr>
              <a:t>based</a:t>
            </a:r>
            <a:r>
              <a:rPr lang="sv-SE" dirty="0">
                <a:solidFill>
                  <a:srgbClr val="676A6C"/>
                </a:solidFill>
                <a:latin typeface="open sans" panose="020B0606030504020204" pitchFamily="34" charset="0"/>
              </a:rPr>
              <a:t> </a:t>
            </a:r>
            <a:r>
              <a:rPr lang="sv-SE" dirty="0" err="1">
                <a:solidFill>
                  <a:srgbClr val="676A6C"/>
                </a:solidFill>
                <a:latin typeface="open sans" panose="020B0606030504020204" pitchFamily="34" charset="0"/>
              </a:rPr>
              <a:t>deployments</a:t>
            </a:r>
            <a:endParaRPr lang="sv-SE" dirty="0">
              <a:solidFill>
                <a:srgbClr val="676A6C"/>
              </a:solidFill>
              <a:latin typeface="open sans" panose="020B0606030504020204" pitchFamily="34" charset="0"/>
            </a:endParaRPr>
          </a:p>
          <a:p>
            <a:r>
              <a:rPr lang="sv-SE" dirty="0" err="1"/>
              <a:t>Sql</a:t>
            </a:r>
            <a:r>
              <a:rPr lang="sv-SE" dirty="0"/>
              <a:t> Server </a:t>
            </a:r>
            <a:r>
              <a:rPr lang="sv-SE" dirty="0" err="1"/>
              <a:t>Database</a:t>
            </a:r>
            <a:r>
              <a:rPr lang="sv-SE" dirty="0"/>
              <a:t> </a:t>
            </a:r>
            <a:r>
              <a:rPr lang="sv-SE" dirty="0" err="1"/>
              <a:t>projects</a:t>
            </a:r>
            <a:endParaRPr lang="sv-SE" dirty="0"/>
          </a:p>
          <a:p>
            <a:pPr lvl="1"/>
            <a:r>
              <a:rPr lang="sv-SE" dirty="0"/>
              <a:t>.NET </a:t>
            </a:r>
            <a:r>
              <a:rPr lang="sv-SE" dirty="0" err="1"/>
              <a:t>Framework</a:t>
            </a:r>
            <a:r>
              <a:rPr lang="sv-SE" dirty="0"/>
              <a:t> </a:t>
            </a:r>
            <a:r>
              <a:rPr lang="sv-SE" dirty="0" err="1"/>
              <a:t>based</a:t>
            </a:r>
            <a:r>
              <a:rPr lang="sv-SE" dirty="0"/>
              <a:t> </a:t>
            </a:r>
            <a:r>
              <a:rPr lang="sv-SE" dirty="0" err="1"/>
              <a:t>project</a:t>
            </a:r>
            <a:r>
              <a:rPr lang="sv-SE" dirty="0"/>
              <a:t> </a:t>
            </a:r>
            <a:r>
              <a:rPr lang="sv-SE" dirty="0" err="1"/>
              <a:t>type</a:t>
            </a:r>
            <a:endParaRPr lang="sv-SE" dirty="0"/>
          </a:p>
          <a:p>
            <a:pPr lvl="1"/>
            <a:r>
              <a:rPr lang="sv-SE" dirty="0"/>
              <a:t>SDK Style </a:t>
            </a:r>
            <a:r>
              <a:rPr lang="sv-SE" dirty="0" err="1"/>
              <a:t>database</a:t>
            </a:r>
            <a:r>
              <a:rPr lang="sv-SE" dirty="0"/>
              <a:t> </a:t>
            </a:r>
            <a:r>
              <a:rPr lang="sv-SE" dirty="0" err="1"/>
              <a:t>projects</a:t>
            </a:r>
            <a:endParaRPr lang="sv-SE" dirty="0"/>
          </a:p>
          <a:p>
            <a:r>
              <a:rPr lang="sv-SE" dirty="0"/>
              <a:t>Start </a:t>
            </a:r>
            <a:r>
              <a:rPr lang="sv-SE" dirty="0" err="1"/>
              <a:t>with</a:t>
            </a:r>
            <a:r>
              <a:rPr lang="sv-SE" dirty="0"/>
              <a:t> a </a:t>
            </a:r>
            <a:r>
              <a:rPr lang="sv-SE" dirty="0" err="1"/>
              <a:t>clean</a:t>
            </a:r>
            <a:r>
              <a:rPr lang="sv-SE" dirty="0"/>
              <a:t> </a:t>
            </a:r>
            <a:r>
              <a:rPr lang="sv-SE" dirty="0" err="1"/>
              <a:t>sheet</a:t>
            </a:r>
            <a:endParaRPr lang="sv-SE" dirty="0"/>
          </a:p>
          <a:p>
            <a:r>
              <a:rPr lang="sv-SE" dirty="0"/>
              <a:t>Start </a:t>
            </a:r>
            <a:r>
              <a:rPr lang="sv-SE" dirty="0" err="1"/>
              <a:t>with</a:t>
            </a:r>
            <a:r>
              <a:rPr lang="sv-SE" dirty="0"/>
              <a:t> an </a:t>
            </a:r>
            <a:r>
              <a:rPr lang="sv-SE" dirty="0" err="1"/>
              <a:t>existing</a:t>
            </a:r>
            <a:r>
              <a:rPr lang="sv-SE" dirty="0"/>
              <a:t> </a:t>
            </a:r>
            <a:r>
              <a:rPr lang="sv-SE" dirty="0" err="1"/>
              <a:t>database</a:t>
            </a:r>
            <a:endParaRPr lang="sv-SE" dirty="0"/>
          </a:p>
          <a:p>
            <a:r>
              <a:rPr lang="sv-SE" dirty="0" err="1"/>
              <a:t>Dependencies</a:t>
            </a:r>
            <a:endParaRPr lang="sv-SE" dirty="0"/>
          </a:p>
          <a:p>
            <a:r>
              <a:rPr lang="sv-SE" dirty="0" err="1"/>
              <a:t>Refactoring</a:t>
            </a:r>
            <a:r>
              <a:rPr lang="sv-SE" dirty="0"/>
              <a:t> data </a:t>
            </a:r>
            <a:r>
              <a:rPr lang="sv-SE" dirty="0" err="1"/>
              <a:t>objects</a:t>
            </a:r>
            <a:endParaRPr lang="sv-SE" dirty="0"/>
          </a:p>
          <a:p>
            <a:endParaRPr lang="sv-SE" dirty="0"/>
          </a:p>
          <a:p>
            <a:pPr lvl="1"/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4000232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D68E2-F5AB-0607-7393-F5E747731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C45F0-0D15-3C56-8F9F-AFB5662FE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4378" y="1363287"/>
            <a:ext cx="7394607" cy="1052253"/>
          </a:xfrm>
        </p:spPr>
        <p:txBody>
          <a:bodyPr/>
          <a:lstStyle/>
          <a:p>
            <a:pPr algn="l"/>
            <a:r>
              <a:rPr lang="en-GB" sz="3200" dirty="0"/>
              <a:t>Magnus Ahlkvist</a:t>
            </a: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B86271-ABDB-DEF8-FC3C-0BD0FA3CE8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64379" y="2537461"/>
            <a:ext cx="5417821" cy="4244340"/>
          </a:xfrm>
        </p:spPr>
        <p:txBody>
          <a:bodyPr>
            <a:normAutofit/>
          </a:bodyPr>
          <a:lstStyle/>
          <a:p>
            <a:pPr algn="l"/>
            <a:r>
              <a:rPr lang="sv-SE" dirty="0"/>
              <a:t>🏭  </a:t>
            </a:r>
            <a:r>
              <a:rPr lang="en-US" dirty="0" err="1"/>
              <a:t>Transmokopter</a:t>
            </a:r>
            <a:r>
              <a:rPr lang="en-US" dirty="0"/>
              <a:t> SQL AB, SQL Server consultant</a:t>
            </a:r>
          </a:p>
          <a:p>
            <a:pPr algn="l"/>
            <a:r>
              <a:rPr lang="en-US" dirty="0"/>
              <a:t>         Microsoft Data Platform MVP</a:t>
            </a:r>
          </a:p>
          <a:p>
            <a:pPr algn="l"/>
            <a:r>
              <a:rPr lang="en-US" dirty="0"/>
              <a:t>         github.com/</a:t>
            </a:r>
            <a:r>
              <a:rPr lang="en-US" dirty="0" err="1"/>
              <a:t>transmokopter</a:t>
            </a:r>
            <a:endParaRPr lang="en-US" dirty="0"/>
          </a:p>
          <a:p>
            <a:pPr algn="l"/>
            <a:r>
              <a:rPr lang="en-US" dirty="0"/>
              <a:t>         </a:t>
            </a:r>
            <a:r>
              <a:rPr lang="en-US" dirty="0" err="1"/>
              <a:t>transmokopter</a:t>
            </a:r>
            <a:r>
              <a:rPr lang="en-US" dirty="0"/>
              <a:t> </a:t>
            </a:r>
          </a:p>
          <a:p>
            <a:pPr algn="l"/>
            <a:r>
              <a:rPr lang="en-US" dirty="0"/>
              <a:t>         linkedin.com/in/</a:t>
            </a:r>
            <a:r>
              <a:rPr lang="en-US" dirty="0" err="1"/>
              <a:t>magnusahlkvist</a:t>
            </a:r>
            <a:endParaRPr lang="en-US" dirty="0"/>
          </a:p>
          <a:p>
            <a:pPr algn="l"/>
            <a:r>
              <a:rPr lang="sv-SE" dirty="0"/>
              <a:t>📧  </a:t>
            </a:r>
            <a:r>
              <a:rPr lang="en-US" dirty="0">
                <a:hlinkClick r:id="rId2"/>
              </a:rPr>
              <a:t>magnus@transmokopter.se</a:t>
            </a:r>
            <a:endParaRPr lang="en-US" dirty="0"/>
          </a:p>
          <a:p>
            <a:pPr algn="l"/>
            <a:r>
              <a:rPr lang="en-US" dirty="0"/>
              <a:t>         youtube.com/c/</a:t>
            </a:r>
            <a:r>
              <a:rPr lang="en-US" dirty="0" err="1"/>
              <a:t>transmokopter</a:t>
            </a:r>
            <a:endParaRPr lang="en-US" dirty="0"/>
          </a:p>
        </p:txBody>
      </p:sp>
      <p:pic>
        <p:nvPicPr>
          <p:cNvPr id="5" name="Picture 4" descr="A picture containing person, looking, cellphone, phone&#10;&#10;Description automatically generated">
            <a:extLst>
              <a:ext uri="{FF2B5EF4-FFF2-40B4-BE49-F238E27FC236}">
                <a16:creationId xmlns:a16="http://schemas.microsoft.com/office/drawing/2014/main" id="{4B8D99AC-3706-E739-DCBD-D047EDE7DAB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0596"/>
          <a:stretch/>
        </p:blipFill>
        <p:spPr>
          <a:xfrm>
            <a:off x="0" y="0"/>
            <a:ext cx="4269917" cy="6858000"/>
          </a:xfrm>
          <a:prstGeom prst="rect">
            <a:avLst/>
          </a:prstGeom>
        </p:spPr>
      </p:pic>
      <p:pic>
        <p:nvPicPr>
          <p:cNvPr id="7" name="Bildobjekt 6" descr="En bild som visar Electric blue, Teckensnitt, logotyp, text&#10;&#10;AI-genererat innehåll kan vara felaktigt.">
            <a:extLst>
              <a:ext uri="{FF2B5EF4-FFF2-40B4-BE49-F238E27FC236}">
                <a16:creationId xmlns:a16="http://schemas.microsoft.com/office/drawing/2014/main" id="{7448CAEB-95C6-8BF5-32C7-3DC0FB8634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2531" y="2952790"/>
            <a:ext cx="293329" cy="293329"/>
          </a:xfrm>
          <a:prstGeom prst="rect">
            <a:avLst/>
          </a:prstGeom>
        </p:spPr>
      </p:pic>
      <p:pic>
        <p:nvPicPr>
          <p:cNvPr id="9" name="Bildobjekt 8" descr="En bild som visar katt, däggdjur, siluett&#10;&#10;AI-genererat innehåll kan vara felaktigt.">
            <a:extLst>
              <a:ext uri="{FF2B5EF4-FFF2-40B4-BE49-F238E27FC236}">
                <a16:creationId xmlns:a16="http://schemas.microsoft.com/office/drawing/2014/main" id="{ADA5ECF0-71BF-D89E-A8C2-FD8615344E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2531" y="3368040"/>
            <a:ext cx="316283" cy="316283"/>
          </a:xfrm>
          <a:prstGeom prst="rect">
            <a:avLst/>
          </a:prstGeom>
        </p:spPr>
      </p:pic>
      <p:pic>
        <p:nvPicPr>
          <p:cNvPr id="11" name="Bildobjekt 10" descr="En bild som visar fjäril, kreativitet&#10;&#10;AI-genererat innehåll kan vara felaktigt.">
            <a:extLst>
              <a:ext uri="{FF2B5EF4-FFF2-40B4-BE49-F238E27FC236}">
                <a16:creationId xmlns:a16="http://schemas.microsoft.com/office/drawing/2014/main" id="{EE33515F-DDD1-D696-FFE7-6916CFEA87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2531" y="3806244"/>
            <a:ext cx="293329" cy="293329"/>
          </a:xfrm>
          <a:prstGeom prst="rect">
            <a:avLst/>
          </a:prstGeom>
        </p:spPr>
      </p:pic>
      <p:pic>
        <p:nvPicPr>
          <p:cNvPr id="13" name="Bildobjekt 12" descr="En bild som visar skärmbild, Teckensnitt, Grafik, logotyp&#10;&#10;AI-genererat innehåll kan vara felaktigt.">
            <a:extLst>
              <a:ext uri="{FF2B5EF4-FFF2-40B4-BE49-F238E27FC236}">
                <a16:creationId xmlns:a16="http://schemas.microsoft.com/office/drawing/2014/main" id="{DF6444F6-961C-E4CA-E303-543B48700A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2531" y="4221494"/>
            <a:ext cx="318034" cy="270454"/>
          </a:xfrm>
          <a:prstGeom prst="rect">
            <a:avLst/>
          </a:prstGeom>
        </p:spPr>
      </p:pic>
      <p:pic>
        <p:nvPicPr>
          <p:cNvPr id="15" name="Bildobjekt 14" descr="En bild som visar Grafik, symbol, Teckensnitt, röd&#10;&#10;AI-genererat innehåll kan vara felaktigt.">
            <a:extLst>
              <a:ext uri="{FF2B5EF4-FFF2-40B4-BE49-F238E27FC236}">
                <a16:creationId xmlns:a16="http://schemas.microsoft.com/office/drawing/2014/main" id="{57C0AFFD-06A8-9733-439D-5472FB0D168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82530" y="4983657"/>
            <a:ext cx="293329" cy="293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59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75FBDA-298A-AA0E-87CD-E32A36DFA2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324" y="0"/>
            <a:ext cx="70693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605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8C65C0F-3A78-7604-0F3B-0384A0F4B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Migration </a:t>
            </a:r>
            <a:r>
              <a:rPr lang="sv-SE" dirty="0" err="1"/>
              <a:t>based</a:t>
            </a:r>
            <a:r>
              <a:rPr lang="sv-SE" dirty="0"/>
              <a:t> </a:t>
            </a:r>
            <a:r>
              <a:rPr lang="sv-SE" dirty="0" err="1"/>
              <a:t>deployments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0CD10646-C3D8-5E43-3BBB-565BA5679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To upgrade database from version 1 to version 7, run upgrade scripts for versions 2, 3, 4, 5, 6 and 7.</a:t>
            </a:r>
          </a:p>
          <a:p>
            <a:r>
              <a:rPr lang="sv-SE"/>
              <a:t>Often together with some sort of SchemaVersions table.</a:t>
            </a:r>
          </a:p>
          <a:p>
            <a:pPr lvl="1"/>
            <a:r>
              <a:rPr lang="sv-SE"/>
              <a:t>Entity Framework migrations</a:t>
            </a:r>
          </a:p>
          <a:p>
            <a:pPr lvl="1"/>
            <a:r>
              <a:rPr lang="sv-SE"/>
              <a:t>Flyway</a:t>
            </a:r>
          </a:p>
          <a:p>
            <a:pPr lvl="1"/>
            <a:r>
              <a:rPr lang="sv-SE"/>
              <a:t>Liquibase</a:t>
            </a:r>
          </a:p>
          <a:p>
            <a:pPr lvl="1"/>
            <a:r>
              <a:rPr lang="sv-SE"/>
              <a:t>DbUp</a:t>
            </a:r>
          </a:p>
          <a:p>
            <a:pPr lvl="1"/>
            <a:r>
              <a:rPr lang="sv-SE"/>
              <a:t>Many more</a:t>
            </a:r>
          </a:p>
          <a:p>
            <a:r>
              <a:rPr lang="sv-SE"/>
              <a:t>Often idempotent scripts</a:t>
            </a:r>
          </a:p>
          <a:p>
            <a:pPr lvl="1"/>
            <a:r>
              <a:rPr lang="sv-SE"/>
              <a:t>Most often to avoid problems when old-school manual deploys happened</a:t>
            </a:r>
            <a:endParaRPr lang="sv-S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FC78F8-69C1-911D-29E5-23C8DCC0094B}"/>
              </a:ext>
            </a:extLst>
          </p:cNvPr>
          <p:cNvSpPr txBox="1"/>
          <p:nvPr/>
        </p:nvSpPr>
        <p:spPr>
          <a:xfrm rot="21035740">
            <a:off x="3694839" y="3513529"/>
            <a:ext cx="8062190" cy="646331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sv-SE" dirty="0"/>
              <a:t>Migrations </a:t>
            </a:r>
            <a:r>
              <a:rPr lang="sv-SE" dirty="0" err="1"/>
              <a:t>based</a:t>
            </a:r>
            <a:r>
              <a:rPr lang="sv-SE" dirty="0"/>
              <a:t> </a:t>
            </a:r>
            <a:r>
              <a:rPr lang="sv-SE" dirty="0" err="1"/>
              <a:t>deployments</a:t>
            </a:r>
            <a:r>
              <a:rPr lang="sv-SE" dirty="0"/>
              <a:t>. </a:t>
            </a:r>
            <a:r>
              <a:rPr lang="sv-SE" dirty="0" err="1"/>
              <a:t>What</a:t>
            </a:r>
            <a:r>
              <a:rPr lang="sv-SE" dirty="0"/>
              <a:t> </a:t>
            </a:r>
            <a:r>
              <a:rPr lang="sv-SE" dirty="0" err="1"/>
              <a:t>they</a:t>
            </a:r>
            <a:r>
              <a:rPr lang="sv-SE" dirty="0"/>
              <a:t> </a:t>
            </a:r>
            <a:r>
              <a:rPr lang="sv-SE" dirty="0" err="1"/>
              <a:t>are</a:t>
            </a:r>
            <a:r>
              <a:rPr lang="sv-SE" dirty="0"/>
              <a:t> and </a:t>
            </a:r>
            <a:r>
              <a:rPr lang="sv-SE" dirty="0" err="1"/>
              <a:t>why</a:t>
            </a:r>
            <a:r>
              <a:rPr lang="sv-SE" dirty="0"/>
              <a:t> I </a:t>
            </a:r>
            <a:r>
              <a:rPr lang="sv-SE" dirty="0" err="1"/>
              <a:t>don’t</a:t>
            </a:r>
            <a:r>
              <a:rPr lang="sv-SE" dirty="0"/>
              <a:t> like </a:t>
            </a:r>
            <a:r>
              <a:rPr lang="sv-SE" dirty="0" err="1"/>
              <a:t>them</a:t>
            </a:r>
            <a:r>
              <a:rPr lang="sv-SE" dirty="0"/>
              <a:t>.</a:t>
            </a:r>
          </a:p>
          <a:p>
            <a:r>
              <a:rPr lang="sv-SE" dirty="0"/>
              <a:t>https://www.youtube.com/watch?v=-WR-XA_1aXA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211127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306123B5-C240-1E22-CDE3-9130EF436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Migrations initialization</a:t>
            </a:r>
            <a:endParaRPr lang="sv-SE" dirty="0"/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69EA7FA3-11CD-235E-4278-873E519EA4EB}"/>
              </a:ext>
            </a:extLst>
          </p:cNvPr>
          <p:cNvSpPr txBox="1"/>
          <p:nvPr/>
        </p:nvSpPr>
        <p:spPr>
          <a:xfrm>
            <a:off x="677334" y="1724085"/>
            <a:ext cx="9883140" cy="452431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sz="1800" dirty="0">
                <a:solidFill>
                  <a:srgbClr val="008000"/>
                </a:solidFill>
                <a:latin typeface="Consolas" panose="020B0609020204030204" pitchFamily="49" charset="0"/>
              </a:rPr>
              <a:t>-- </a:t>
            </a:r>
            <a:r>
              <a:rPr lang="sv-SE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Initiatialize</a:t>
            </a:r>
            <a:r>
              <a:rPr lang="sv-SE" sz="18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empty</a:t>
            </a:r>
            <a:r>
              <a:rPr lang="sv-SE" sz="18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database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DB_ID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MigrationDb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IS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	CREATE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DATABASE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MigrationDb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GO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sv-SE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USE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MigrationDb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EXISTS(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FF00"/>
                </a:solidFill>
                <a:latin typeface="Consolas" panose="020B0609020204030204" pitchFamily="49" charset="0"/>
              </a:rPr>
              <a:t>sys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FF00"/>
                </a:solidFill>
                <a:latin typeface="Consolas" panose="020B0609020204030204" pitchFamily="49" charset="0"/>
              </a:rPr>
              <a:t>tables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name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SchemaVersions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’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	CREATE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TABLE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sv-SE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sv-SE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SchemaVersions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		</a:t>
            </a:r>
            <a:r>
              <a:rPr lang="sv-SE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SchemaVersion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30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			CONSTRAINT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pk_SchemaVersion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PRIMARY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KEY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CLUSTERED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		</a:t>
            </a:r>
            <a:r>
              <a:rPr lang="sv-SE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Applied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DATETIME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	);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36475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96650-C3F7-4088-49A3-B82557DB1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DCB58B6-F474-7C95-CAB4-AADBED3B5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Version 1.0.0</a:t>
            </a:r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15A0F2E9-7E05-100D-6B85-502D84C29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5870" y="0"/>
            <a:ext cx="647373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104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3C7FC-7A09-107A-EDC9-0909D3CAD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B7B1F15-2E6C-2333-CBE7-DE2273685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Version 1.1.0</a:t>
            </a:r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6BEEE4E5-0E15-AA43-E170-E7E55D31C1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024" y="609600"/>
            <a:ext cx="6289616" cy="5470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499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CB45-0FED-AB92-18B7-D6035CE0D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DEC8900D-BCFA-CE4B-83F1-3C9668EBF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Version 1.2.0</a:t>
            </a:r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56D2E51E-E6AB-AC40-D569-664A64441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8607" y="609600"/>
            <a:ext cx="6478854" cy="5680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008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B0CC8-6C08-B949-7F94-6E6B5C4DA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Short demo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2D2805-BF0E-C045-BFF8-12A430A10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Migrations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4830472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BFF07C0-1EBD-0808-1199-66A4D3075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Model</a:t>
            </a:r>
            <a:r>
              <a:rPr lang="sv-SE" dirty="0"/>
              <a:t> </a:t>
            </a:r>
            <a:r>
              <a:rPr lang="sv-SE" dirty="0" err="1"/>
              <a:t>based</a:t>
            </a:r>
            <a:r>
              <a:rPr lang="sv-SE" dirty="0"/>
              <a:t> </a:t>
            </a:r>
            <a:r>
              <a:rPr lang="sv-SE" dirty="0" err="1"/>
              <a:t>deployment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D1539999-38DF-6F25-D7AF-B1B5659547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 dirty="0" err="1"/>
              <a:t>Create</a:t>
            </a:r>
            <a:r>
              <a:rPr lang="sv-SE" dirty="0"/>
              <a:t> a data </a:t>
            </a:r>
            <a:r>
              <a:rPr lang="sv-SE" dirty="0" err="1"/>
              <a:t>model</a:t>
            </a:r>
            <a:r>
              <a:rPr lang="sv-SE" dirty="0"/>
              <a:t> in </a:t>
            </a:r>
            <a:r>
              <a:rPr lang="sv-SE" dirty="0" err="1"/>
              <a:t>code</a:t>
            </a:r>
            <a:endParaRPr lang="sv-SE" dirty="0"/>
          </a:p>
          <a:p>
            <a:pPr lvl="1"/>
            <a:r>
              <a:rPr lang="sv-SE" dirty="0"/>
              <a:t>SSDT </a:t>
            </a:r>
            <a:r>
              <a:rPr lang="sv-SE" dirty="0" err="1"/>
              <a:t>Database</a:t>
            </a:r>
            <a:r>
              <a:rPr lang="sv-SE" dirty="0"/>
              <a:t> Projects</a:t>
            </a:r>
          </a:p>
          <a:p>
            <a:pPr lvl="1"/>
            <a:r>
              <a:rPr lang="sv-SE" dirty="0"/>
              <a:t>SDK Style </a:t>
            </a:r>
            <a:r>
              <a:rPr lang="sv-SE" dirty="0" err="1"/>
              <a:t>Database</a:t>
            </a:r>
            <a:r>
              <a:rPr lang="sv-SE" dirty="0"/>
              <a:t> Projects</a:t>
            </a:r>
          </a:p>
          <a:p>
            <a:r>
              <a:rPr lang="sv-SE" dirty="0" err="1"/>
              <a:t>Compile</a:t>
            </a:r>
            <a:r>
              <a:rPr lang="sv-SE" dirty="0"/>
              <a:t> the </a:t>
            </a:r>
            <a:r>
              <a:rPr lang="sv-SE" dirty="0" err="1"/>
              <a:t>model</a:t>
            </a:r>
            <a:r>
              <a:rPr lang="sv-SE" dirty="0"/>
              <a:t> to a </a:t>
            </a:r>
            <a:r>
              <a:rPr lang="sv-SE" dirty="0" err="1"/>
              <a:t>dacpac</a:t>
            </a:r>
            <a:endParaRPr lang="sv-SE" dirty="0"/>
          </a:p>
          <a:p>
            <a:pPr lvl="1"/>
            <a:r>
              <a:rPr lang="sv-SE" dirty="0" err="1"/>
              <a:t>sqlpackage</a:t>
            </a:r>
            <a:r>
              <a:rPr lang="sv-SE" dirty="0"/>
              <a:t> </a:t>
            </a:r>
          </a:p>
          <a:p>
            <a:pPr lvl="1"/>
            <a:r>
              <a:rPr lang="sv-SE" dirty="0"/>
              <a:t>dotnet </a:t>
            </a:r>
            <a:r>
              <a:rPr lang="sv-SE" dirty="0" err="1"/>
              <a:t>build</a:t>
            </a:r>
            <a:endParaRPr lang="sv-SE" dirty="0"/>
          </a:p>
          <a:p>
            <a:r>
              <a:rPr lang="sv-SE" dirty="0" err="1"/>
              <a:t>Deploy</a:t>
            </a:r>
            <a:r>
              <a:rPr lang="sv-SE" dirty="0"/>
              <a:t> </a:t>
            </a:r>
            <a:r>
              <a:rPr lang="sv-SE" dirty="0" err="1"/>
              <a:t>using</a:t>
            </a:r>
            <a:r>
              <a:rPr lang="sv-SE" dirty="0"/>
              <a:t> a </a:t>
            </a:r>
            <a:r>
              <a:rPr lang="sv-SE" dirty="0" err="1"/>
              <a:t>tool</a:t>
            </a:r>
            <a:r>
              <a:rPr lang="sv-SE" dirty="0"/>
              <a:t> </a:t>
            </a:r>
            <a:r>
              <a:rPr lang="sv-SE" dirty="0" err="1"/>
              <a:t>that</a:t>
            </a:r>
            <a:r>
              <a:rPr lang="sv-SE" dirty="0"/>
              <a:t> </a:t>
            </a:r>
            <a:r>
              <a:rPr lang="sv-SE" dirty="0" err="1"/>
              <a:t>can</a:t>
            </a:r>
            <a:r>
              <a:rPr lang="sv-SE" dirty="0"/>
              <a:t> </a:t>
            </a:r>
            <a:r>
              <a:rPr lang="sv-SE" dirty="0" err="1"/>
              <a:t>compare</a:t>
            </a:r>
            <a:r>
              <a:rPr lang="sv-SE" dirty="0"/>
              <a:t> the </a:t>
            </a:r>
            <a:r>
              <a:rPr lang="sv-SE" dirty="0" err="1"/>
              <a:t>model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the </a:t>
            </a:r>
            <a:r>
              <a:rPr lang="sv-SE" dirty="0" err="1"/>
              <a:t>target</a:t>
            </a:r>
            <a:r>
              <a:rPr lang="sv-SE" dirty="0"/>
              <a:t> data </a:t>
            </a:r>
            <a:r>
              <a:rPr lang="sv-SE" dirty="0" err="1"/>
              <a:t>model</a:t>
            </a:r>
            <a:r>
              <a:rPr lang="sv-SE" dirty="0"/>
              <a:t> and make </a:t>
            </a:r>
            <a:r>
              <a:rPr lang="sv-SE" dirty="0" err="1"/>
              <a:t>corrections</a:t>
            </a:r>
            <a:r>
              <a:rPr lang="sv-SE" dirty="0"/>
              <a:t> to the </a:t>
            </a:r>
            <a:r>
              <a:rPr lang="sv-SE" dirty="0" err="1"/>
              <a:t>target</a:t>
            </a:r>
            <a:endParaRPr lang="sv-SE" dirty="0"/>
          </a:p>
          <a:p>
            <a:pPr lvl="1"/>
            <a:r>
              <a:rPr lang="sv-SE" dirty="0" err="1"/>
              <a:t>Sqlpackage</a:t>
            </a:r>
            <a:endParaRPr lang="sv-SE" dirty="0"/>
          </a:p>
          <a:p>
            <a:pPr marL="0" indent="0">
              <a:buNone/>
            </a:pP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475718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1BD2D2D-8C5C-76A0-ADED-C851B8A4A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SQL Server </a:t>
            </a:r>
            <a:r>
              <a:rPr lang="sv-SE" dirty="0" err="1"/>
              <a:t>Database</a:t>
            </a:r>
            <a:r>
              <a:rPr lang="sv-SE" dirty="0"/>
              <a:t> Projects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7EB283A5-1724-8B3C-3E44-780DC660A1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 dirty="0" err="1"/>
              <a:t>Mainly</a:t>
            </a:r>
            <a:r>
              <a:rPr lang="sv-SE" dirty="0"/>
              <a:t> a </a:t>
            </a:r>
            <a:r>
              <a:rPr lang="sv-SE" dirty="0" err="1"/>
              <a:t>tool</a:t>
            </a:r>
            <a:r>
              <a:rPr lang="sv-SE" dirty="0"/>
              <a:t> for </a:t>
            </a:r>
            <a:r>
              <a:rPr lang="sv-SE" dirty="0" err="1"/>
              <a:t>model</a:t>
            </a:r>
            <a:r>
              <a:rPr lang="sv-SE" dirty="0"/>
              <a:t> </a:t>
            </a:r>
            <a:r>
              <a:rPr lang="sv-SE" dirty="0" err="1"/>
              <a:t>based</a:t>
            </a:r>
            <a:r>
              <a:rPr lang="sv-SE" dirty="0"/>
              <a:t> </a:t>
            </a:r>
            <a:r>
              <a:rPr lang="sv-SE" dirty="0" err="1"/>
              <a:t>deployments</a:t>
            </a:r>
            <a:endParaRPr lang="sv-SE" dirty="0"/>
          </a:p>
          <a:p>
            <a:r>
              <a:rPr lang="sv-SE" dirty="0"/>
              <a:t>Supports migrations </a:t>
            </a:r>
            <a:r>
              <a:rPr lang="sv-SE" dirty="0" err="1"/>
              <a:t>with</a:t>
            </a:r>
            <a:r>
              <a:rPr lang="sv-SE" dirty="0"/>
              <a:t> Pre- and Post </a:t>
            </a:r>
            <a:r>
              <a:rPr lang="sv-SE" dirty="0" err="1"/>
              <a:t>Deploy</a:t>
            </a:r>
            <a:r>
              <a:rPr lang="sv-SE" dirty="0"/>
              <a:t> scripts and </a:t>
            </a:r>
            <a:r>
              <a:rPr lang="sv-SE" dirty="0" err="1"/>
              <a:t>refactor</a:t>
            </a:r>
            <a:r>
              <a:rPr lang="sv-SE" dirty="0"/>
              <a:t>-log.</a:t>
            </a:r>
          </a:p>
        </p:txBody>
      </p:sp>
    </p:spTree>
    <p:extLst>
      <p:ext uri="{BB962C8B-B14F-4D97-AF65-F5344CB8AC3E}">
        <p14:creationId xmlns:p14="http://schemas.microsoft.com/office/powerpoint/2010/main" val="24257754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4F8E6A7D-FFAA-B823-8804-EC93946E6E19}"/>
              </a:ext>
            </a:extLst>
          </p:cNvPr>
          <p:cNvSpPr/>
          <p:nvPr/>
        </p:nvSpPr>
        <p:spPr>
          <a:xfrm>
            <a:off x="7337146" y="365760"/>
            <a:ext cx="4440326" cy="2106778"/>
          </a:xfrm>
          <a:prstGeom prst="wedgeRoundRectCallout">
            <a:avLst>
              <a:gd name="adj1" fmla="val -25605"/>
              <a:gd name="adj2" fmla="val 139359"/>
              <a:gd name="adj3" fmla="val 16667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Warning!</a:t>
            </a:r>
          </a:p>
          <a:p>
            <a:pPr algn="ctr"/>
            <a:r>
              <a:rPr lang="en-GB" b="1" dirty="0">
                <a:solidFill>
                  <a:schemeClr val="tx1"/>
                </a:solidFill>
              </a:rPr>
              <a:t>Copy/Paste of these commands from PowerPoint won’t work.</a:t>
            </a:r>
          </a:p>
          <a:p>
            <a:pPr algn="ctr"/>
            <a:r>
              <a:rPr lang="en-GB" b="1" dirty="0">
                <a:solidFill>
                  <a:schemeClr val="tx1"/>
                </a:solidFill>
              </a:rPr>
              <a:t>Because hyphens are broken.</a:t>
            </a:r>
          </a:p>
          <a:p>
            <a:pPr algn="ctr"/>
            <a:r>
              <a:rPr lang="en-GB" b="1" dirty="0">
                <a:solidFill>
                  <a:schemeClr val="tx1"/>
                </a:solidFill>
              </a:rPr>
              <a:t>-o is not the same as </a:t>
            </a:r>
            <a:r>
              <a:rPr lang="sv-SE" b="1" dirty="0">
                <a:solidFill>
                  <a:schemeClr val="tx1"/>
                </a:solidFill>
                <a:latin typeface="Consolas" panose="020B0609020204030204" pitchFamily="49" charset="0"/>
              </a:rPr>
              <a:t>–o</a:t>
            </a:r>
            <a:endParaRPr lang="LID4096" b="1" dirty="0">
              <a:solidFill>
                <a:schemeClr val="tx1"/>
              </a:solidFill>
            </a:endParaRP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2255877-C3B2-3DA3-1D07-F0737210D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SDK Style </a:t>
            </a:r>
            <a:r>
              <a:rPr lang="sv-SE" dirty="0" err="1"/>
              <a:t>Database</a:t>
            </a:r>
            <a:r>
              <a:rPr lang="sv-SE" dirty="0"/>
              <a:t> Projects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7B54F8F6-6C3F-39C4-28EA-5125DF9BC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10935546" cy="3880773"/>
          </a:xfrm>
        </p:spPr>
        <p:txBody>
          <a:bodyPr>
            <a:normAutofit fontScale="92500" lnSpcReduction="20000"/>
          </a:bodyPr>
          <a:lstStyle/>
          <a:p>
            <a:r>
              <a:rPr lang="sv-SE" dirty="0"/>
              <a:t>.NET </a:t>
            </a:r>
            <a:r>
              <a:rPr lang="sv-SE" dirty="0" err="1"/>
              <a:t>Core</a:t>
            </a:r>
            <a:r>
              <a:rPr lang="sv-SE" dirty="0"/>
              <a:t> </a:t>
            </a:r>
            <a:r>
              <a:rPr lang="sv-SE" dirty="0" err="1"/>
              <a:t>based</a:t>
            </a:r>
            <a:r>
              <a:rPr lang="sv-SE" dirty="0"/>
              <a:t> </a:t>
            </a:r>
            <a:r>
              <a:rPr lang="sv-SE" dirty="0" err="1"/>
              <a:t>project</a:t>
            </a:r>
            <a:r>
              <a:rPr lang="sv-SE" dirty="0"/>
              <a:t> </a:t>
            </a:r>
            <a:r>
              <a:rPr lang="sv-SE" dirty="0" err="1"/>
              <a:t>file</a:t>
            </a:r>
            <a:endParaRPr lang="sv-SE" dirty="0"/>
          </a:p>
          <a:p>
            <a:r>
              <a:rPr lang="sv-SE" dirty="0"/>
              <a:t>Minimalistic </a:t>
            </a:r>
            <a:r>
              <a:rPr lang="sv-SE" dirty="0" err="1"/>
              <a:t>project</a:t>
            </a:r>
            <a:r>
              <a:rPr lang="sv-SE" dirty="0"/>
              <a:t> </a:t>
            </a:r>
            <a:r>
              <a:rPr lang="sv-SE" dirty="0" err="1"/>
              <a:t>file</a:t>
            </a:r>
            <a:r>
              <a:rPr lang="sv-SE" dirty="0"/>
              <a:t> </a:t>
            </a:r>
            <a:r>
              <a:rPr lang="sv-SE" dirty="0" err="1"/>
              <a:t>compared</a:t>
            </a:r>
            <a:r>
              <a:rPr lang="sv-SE" dirty="0"/>
              <a:t> to SSDT </a:t>
            </a:r>
            <a:r>
              <a:rPr lang="sv-SE" dirty="0" err="1"/>
              <a:t>Database</a:t>
            </a:r>
            <a:r>
              <a:rPr lang="sv-SE" dirty="0"/>
              <a:t> Project</a:t>
            </a:r>
          </a:p>
          <a:p>
            <a:r>
              <a:rPr lang="sv-SE" dirty="0" err="1"/>
              <a:t>Create</a:t>
            </a:r>
            <a:r>
              <a:rPr lang="sv-SE" dirty="0"/>
              <a:t> </a:t>
            </a:r>
            <a:r>
              <a:rPr lang="sv-SE" dirty="0" err="1"/>
              <a:t>using</a:t>
            </a:r>
            <a:r>
              <a:rPr lang="sv-SE" dirty="0"/>
              <a:t> dotnet cli, </a:t>
            </a:r>
            <a:r>
              <a:rPr lang="sv-SE" dirty="0" err="1"/>
              <a:t>Azure</a:t>
            </a:r>
            <a:r>
              <a:rPr lang="sv-SE" dirty="0"/>
              <a:t> Data Studio or </a:t>
            </a:r>
            <a:r>
              <a:rPr lang="sv-SE" dirty="0" err="1"/>
              <a:t>VSCode</a:t>
            </a:r>
            <a:r>
              <a:rPr lang="sv-SE" dirty="0"/>
              <a:t> (or </a:t>
            </a:r>
            <a:r>
              <a:rPr lang="sv-SE" dirty="0" err="1"/>
              <a:t>preview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SDK Style </a:t>
            </a:r>
            <a:r>
              <a:rPr lang="sv-SE" dirty="0" err="1"/>
              <a:t>projects</a:t>
            </a:r>
            <a:r>
              <a:rPr lang="sv-SE" dirty="0"/>
              <a:t> in Visual Studio 2022)</a:t>
            </a:r>
          </a:p>
          <a:p>
            <a:pPr lvl="1"/>
            <a:r>
              <a:rPr lang="sv-SE" dirty="0" err="1"/>
              <a:t>Install</a:t>
            </a:r>
            <a:r>
              <a:rPr lang="sv-SE" dirty="0"/>
              <a:t> </a:t>
            </a:r>
            <a:r>
              <a:rPr lang="sv-SE" dirty="0" err="1"/>
              <a:t>sqlpackage</a:t>
            </a:r>
            <a:r>
              <a:rPr lang="sv-SE" dirty="0"/>
              <a:t> and the </a:t>
            </a:r>
            <a:r>
              <a:rPr lang="sv-SE" dirty="0" err="1"/>
              <a:t>sqlproj</a:t>
            </a:r>
            <a:r>
              <a:rPr lang="sv-SE" dirty="0"/>
              <a:t> </a:t>
            </a:r>
            <a:r>
              <a:rPr lang="sv-SE" dirty="0" err="1"/>
              <a:t>project</a:t>
            </a:r>
            <a:r>
              <a:rPr lang="sv-SE" dirty="0"/>
              <a:t> template</a:t>
            </a:r>
          </a:p>
          <a:p>
            <a:pPr lvl="2"/>
            <a:r>
              <a:rPr lang="sv-SE" dirty="0">
                <a:latin typeface="Consolas" panose="020B0609020204030204" pitchFamily="49" charset="0"/>
              </a:rPr>
              <a:t>dotnet </a:t>
            </a:r>
            <a:r>
              <a:rPr lang="sv-SE" dirty="0" err="1">
                <a:latin typeface="Consolas" panose="020B0609020204030204" pitchFamily="49" charset="0"/>
              </a:rPr>
              <a:t>tool</a:t>
            </a:r>
            <a:r>
              <a:rPr lang="sv-SE" dirty="0">
                <a:latin typeface="Consolas" panose="020B0609020204030204" pitchFamily="49" charset="0"/>
              </a:rPr>
              <a:t> </a:t>
            </a:r>
            <a:r>
              <a:rPr lang="sv-SE" dirty="0" err="1">
                <a:latin typeface="Consolas" panose="020B0609020204030204" pitchFamily="49" charset="0"/>
              </a:rPr>
              <a:t>install</a:t>
            </a:r>
            <a:r>
              <a:rPr lang="sv-SE" dirty="0">
                <a:latin typeface="Consolas" panose="020B0609020204030204" pitchFamily="49" charset="0"/>
              </a:rPr>
              <a:t> --global </a:t>
            </a:r>
            <a:r>
              <a:rPr lang="sv-SE" dirty="0" err="1">
                <a:latin typeface="Consolas" panose="020B0609020204030204" pitchFamily="49" charset="0"/>
              </a:rPr>
              <a:t>microsoft.sqlpackage</a:t>
            </a:r>
            <a:endParaRPr lang="sv-SE" dirty="0">
              <a:latin typeface="Consolas" panose="020B0609020204030204" pitchFamily="49" charset="0"/>
            </a:endParaRPr>
          </a:p>
          <a:p>
            <a:pPr lvl="2"/>
            <a:r>
              <a:rPr lang="sv-SE" dirty="0">
                <a:latin typeface="Consolas" panose="020B0609020204030204" pitchFamily="49" charset="0"/>
              </a:rPr>
              <a:t>dotnet new </a:t>
            </a:r>
            <a:r>
              <a:rPr lang="sv-SE" dirty="0" err="1">
                <a:latin typeface="Consolas" panose="020B0609020204030204" pitchFamily="49" charset="0"/>
              </a:rPr>
              <a:t>install</a:t>
            </a:r>
            <a:r>
              <a:rPr lang="sv-SE" dirty="0">
                <a:latin typeface="Consolas" panose="020B0609020204030204" pitchFamily="49" charset="0"/>
              </a:rPr>
              <a:t> </a:t>
            </a:r>
            <a:r>
              <a:rPr lang="sv-SE" dirty="0" err="1">
                <a:latin typeface="Consolas" panose="020B0609020204030204" pitchFamily="49" charset="0"/>
              </a:rPr>
              <a:t>Microsoft.Build.Sql.Templates</a:t>
            </a:r>
            <a:endParaRPr lang="sv-SE" dirty="0">
              <a:latin typeface="Consolas" panose="020B0609020204030204" pitchFamily="49" charset="0"/>
            </a:endParaRPr>
          </a:p>
          <a:p>
            <a:pPr lvl="1"/>
            <a:r>
              <a:rPr lang="sv-SE" dirty="0" err="1"/>
              <a:t>Create</a:t>
            </a:r>
            <a:r>
              <a:rPr lang="sv-SE" dirty="0"/>
              <a:t> a new DB-</a:t>
            </a:r>
            <a:r>
              <a:rPr lang="sv-SE" dirty="0" err="1"/>
              <a:t>project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</a:t>
            </a:r>
            <a:r>
              <a:rPr lang="sv-SE" dirty="0" err="1"/>
              <a:t>target</a:t>
            </a:r>
            <a:r>
              <a:rPr lang="sv-SE" dirty="0"/>
              <a:t> </a:t>
            </a:r>
            <a:r>
              <a:rPr lang="sv-SE" dirty="0" err="1"/>
              <a:t>platform</a:t>
            </a:r>
            <a:r>
              <a:rPr lang="sv-SE" dirty="0"/>
              <a:t> = </a:t>
            </a:r>
            <a:r>
              <a:rPr lang="sv-SE" dirty="0" err="1"/>
              <a:t>Sql</a:t>
            </a:r>
            <a:r>
              <a:rPr lang="sv-SE" dirty="0"/>
              <a:t> Server 2022 or </a:t>
            </a:r>
            <a:r>
              <a:rPr lang="sv-SE" dirty="0" err="1"/>
              <a:t>Azure</a:t>
            </a:r>
            <a:r>
              <a:rPr lang="sv-SE" dirty="0"/>
              <a:t> </a:t>
            </a:r>
            <a:r>
              <a:rPr lang="sv-SE" dirty="0" err="1"/>
              <a:t>Sql</a:t>
            </a:r>
            <a:r>
              <a:rPr lang="sv-SE" dirty="0"/>
              <a:t> (default)</a:t>
            </a:r>
          </a:p>
          <a:p>
            <a:pPr lvl="2"/>
            <a:r>
              <a:rPr lang="sv-SE" dirty="0">
                <a:latin typeface="Consolas" panose="020B0609020204030204" pitchFamily="49" charset="0"/>
              </a:rPr>
              <a:t>dotnet new </a:t>
            </a:r>
            <a:r>
              <a:rPr lang="sv-SE" dirty="0" err="1">
                <a:latin typeface="Consolas" panose="020B0609020204030204" pitchFamily="49" charset="0"/>
              </a:rPr>
              <a:t>sqlproj</a:t>
            </a:r>
            <a:r>
              <a:rPr lang="sv-SE" dirty="0">
                <a:latin typeface="Consolas" panose="020B0609020204030204" pitchFamily="49" charset="0"/>
              </a:rPr>
              <a:t> –n </a:t>
            </a:r>
            <a:r>
              <a:rPr lang="sv-SE" dirty="0" err="1">
                <a:latin typeface="Consolas" panose="020B0609020204030204" pitchFamily="49" charset="0"/>
              </a:rPr>
              <a:t>ArtyPartyDatabaseName</a:t>
            </a:r>
            <a:r>
              <a:rPr lang="sv-SE" dirty="0">
                <a:latin typeface="Consolas" panose="020B0609020204030204" pitchFamily="49" charset="0"/>
              </a:rPr>
              <a:t> –o c:\git\ArtyPartyDatabaseName –</a:t>
            </a:r>
            <a:r>
              <a:rPr lang="sv-SE" dirty="0" err="1">
                <a:latin typeface="Consolas" panose="020B0609020204030204" pitchFamily="49" charset="0"/>
              </a:rPr>
              <a:t>tp</a:t>
            </a:r>
            <a:r>
              <a:rPr lang="sv-SE" dirty="0">
                <a:latin typeface="Consolas" panose="020B0609020204030204" pitchFamily="49" charset="0"/>
              </a:rPr>
              <a:t> Sql160</a:t>
            </a:r>
          </a:p>
          <a:p>
            <a:pPr lvl="1"/>
            <a:r>
              <a:rPr lang="sv-SE" dirty="0" err="1"/>
              <a:t>Create</a:t>
            </a:r>
            <a:r>
              <a:rPr lang="sv-SE" dirty="0"/>
              <a:t> a new DB-</a:t>
            </a:r>
            <a:r>
              <a:rPr lang="sv-SE" dirty="0" err="1"/>
              <a:t>project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</a:t>
            </a:r>
            <a:r>
              <a:rPr lang="sv-SE" dirty="0" err="1"/>
              <a:t>target</a:t>
            </a:r>
            <a:r>
              <a:rPr lang="sv-SE" dirty="0"/>
              <a:t> </a:t>
            </a:r>
            <a:r>
              <a:rPr lang="sv-SE" dirty="0" err="1"/>
              <a:t>platform</a:t>
            </a:r>
            <a:r>
              <a:rPr lang="sv-SE" dirty="0"/>
              <a:t> = </a:t>
            </a:r>
            <a:r>
              <a:rPr lang="sv-SE" dirty="0" err="1"/>
              <a:t>Fabric</a:t>
            </a:r>
            <a:r>
              <a:rPr lang="sv-SE" dirty="0"/>
              <a:t> DW</a:t>
            </a:r>
          </a:p>
          <a:p>
            <a:pPr lvl="2"/>
            <a:r>
              <a:rPr lang="sv-SE" dirty="0">
                <a:latin typeface="Consolas" panose="020B0609020204030204" pitchFamily="49" charset="0"/>
              </a:rPr>
              <a:t>dotnet new </a:t>
            </a:r>
            <a:r>
              <a:rPr lang="sv-SE" dirty="0" err="1">
                <a:latin typeface="Consolas" panose="020B0609020204030204" pitchFamily="49" charset="0"/>
              </a:rPr>
              <a:t>sqlproj</a:t>
            </a:r>
            <a:r>
              <a:rPr lang="sv-SE" dirty="0">
                <a:latin typeface="Consolas" panose="020B0609020204030204" pitchFamily="49" charset="0"/>
              </a:rPr>
              <a:t> –n </a:t>
            </a:r>
            <a:r>
              <a:rPr lang="sv-SE" dirty="0" err="1">
                <a:latin typeface="Consolas" panose="020B0609020204030204" pitchFamily="49" charset="0"/>
              </a:rPr>
              <a:t>FabricateStuff</a:t>
            </a:r>
            <a:r>
              <a:rPr lang="sv-SE" dirty="0">
                <a:latin typeface="Consolas" panose="020B0609020204030204" pitchFamily="49" charset="0"/>
              </a:rPr>
              <a:t> –o c:\git\Fabric\db\FabricateStuff –</a:t>
            </a:r>
            <a:r>
              <a:rPr lang="sv-SE" dirty="0" err="1">
                <a:latin typeface="Consolas" panose="020B0609020204030204" pitchFamily="49" charset="0"/>
              </a:rPr>
              <a:t>tp</a:t>
            </a:r>
            <a:r>
              <a:rPr lang="sv-SE" dirty="0">
                <a:latin typeface="Consolas" panose="020B0609020204030204" pitchFamily="49" charset="0"/>
              </a:rPr>
              <a:t> </a:t>
            </a:r>
            <a:r>
              <a:rPr lang="sv-SE" dirty="0" err="1">
                <a:latin typeface="Consolas" panose="020B0609020204030204" pitchFamily="49" charset="0"/>
              </a:rPr>
              <a:t>SqlDwUnified</a:t>
            </a:r>
            <a:endParaRPr lang="sv-SE" dirty="0">
              <a:latin typeface="Consolas" panose="020B0609020204030204" pitchFamily="49" charset="0"/>
            </a:endParaRPr>
          </a:p>
          <a:p>
            <a:pPr lvl="1"/>
            <a:r>
              <a:rPr lang="sv-SE" dirty="0"/>
              <a:t> Get </a:t>
            </a:r>
            <a:r>
              <a:rPr lang="sv-SE" dirty="0" err="1"/>
              <a:t>some</a:t>
            </a:r>
            <a:r>
              <a:rPr lang="sv-SE" dirty="0"/>
              <a:t> </a:t>
            </a:r>
            <a:r>
              <a:rPr lang="sv-SE" dirty="0" err="1"/>
              <a:t>help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options for dotnet new </a:t>
            </a:r>
            <a:r>
              <a:rPr lang="sv-SE" dirty="0" err="1"/>
              <a:t>sqlproj</a:t>
            </a:r>
            <a:endParaRPr lang="sv-SE" dirty="0"/>
          </a:p>
          <a:p>
            <a:pPr lvl="2"/>
            <a:r>
              <a:rPr lang="sv-SE" dirty="0">
                <a:latin typeface="Consolas" panose="020B0609020204030204" pitchFamily="49" charset="0"/>
              </a:rPr>
              <a:t>dotnet new </a:t>
            </a:r>
            <a:r>
              <a:rPr lang="sv-SE" dirty="0" err="1">
                <a:latin typeface="Consolas" panose="020B0609020204030204" pitchFamily="49" charset="0"/>
              </a:rPr>
              <a:t>sqlproj</a:t>
            </a:r>
            <a:r>
              <a:rPr lang="sv-SE" dirty="0">
                <a:latin typeface="Consolas" panose="020B0609020204030204" pitchFamily="49" charset="0"/>
              </a:rPr>
              <a:t> -h</a:t>
            </a:r>
          </a:p>
        </p:txBody>
      </p:sp>
    </p:spTree>
    <p:extLst>
      <p:ext uri="{BB962C8B-B14F-4D97-AF65-F5344CB8AC3E}">
        <p14:creationId xmlns:p14="http://schemas.microsoft.com/office/powerpoint/2010/main" val="3189988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BA59C8D-A0B5-92CB-01C5-435A152EC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SSDT </a:t>
            </a:r>
            <a:r>
              <a:rPr lang="sv-SE" dirty="0" err="1"/>
              <a:t>Database</a:t>
            </a:r>
            <a:r>
              <a:rPr lang="sv-SE" dirty="0"/>
              <a:t> Projects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D489E1F7-AEA4-DEF2-6DD6-BE777B4575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 dirty="0"/>
              <a:t>.NET </a:t>
            </a:r>
            <a:r>
              <a:rPr lang="sv-SE" dirty="0" err="1"/>
              <a:t>Framework</a:t>
            </a:r>
            <a:r>
              <a:rPr lang="sv-SE" dirty="0"/>
              <a:t> </a:t>
            </a:r>
            <a:r>
              <a:rPr lang="sv-SE" dirty="0" err="1"/>
              <a:t>based</a:t>
            </a:r>
            <a:r>
              <a:rPr lang="sv-SE" dirty="0"/>
              <a:t> </a:t>
            </a:r>
            <a:r>
              <a:rPr lang="sv-SE" dirty="0" err="1"/>
              <a:t>project</a:t>
            </a:r>
            <a:r>
              <a:rPr lang="sv-SE" dirty="0"/>
              <a:t> </a:t>
            </a:r>
            <a:r>
              <a:rPr lang="sv-SE" dirty="0" err="1"/>
              <a:t>type</a:t>
            </a:r>
            <a:endParaRPr lang="sv-SE" dirty="0"/>
          </a:p>
          <a:p>
            <a:r>
              <a:rPr lang="sv-SE" dirty="0"/>
              <a:t>Visual Studio support </a:t>
            </a:r>
            <a:r>
              <a:rPr lang="sv-SE" dirty="0" err="1"/>
              <a:t>since</a:t>
            </a:r>
            <a:r>
              <a:rPr lang="sv-SE" dirty="0"/>
              <a:t> long</a:t>
            </a:r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6644759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8322C01-6142-FDFA-F4A2-24D0A2DAC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Project </a:t>
            </a:r>
            <a:r>
              <a:rPr lang="sv-SE" dirty="0" err="1"/>
              <a:t>file</a:t>
            </a:r>
            <a:r>
              <a:rPr lang="sv-SE" dirty="0"/>
              <a:t> </a:t>
            </a:r>
            <a:r>
              <a:rPr lang="sv-SE" dirty="0" err="1"/>
              <a:t>differences</a:t>
            </a:r>
            <a:endParaRPr lang="sv-SE" dirty="0"/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E106960D-7F25-F57F-5B95-A71EB92AC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83" y="1463040"/>
            <a:ext cx="5583830" cy="4457700"/>
          </a:xfrm>
          <a:prstGeom prst="rect">
            <a:avLst/>
          </a:prstGeom>
        </p:spPr>
      </p:pic>
      <p:pic>
        <p:nvPicPr>
          <p:cNvPr id="9" name="Bildobjekt 8">
            <a:extLst>
              <a:ext uri="{FF2B5EF4-FFF2-40B4-BE49-F238E27FC236}">
                <a16:creationId xmlns:a16="http://schemas.microsoft.com/office/drawing/2014/main" id="{BC4EDB47-3148-4143-C865-18B4EFC963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586817"/>
            <a:ext cx="5611008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432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8F760-B367-6E08-C5A6-FA249A9DA3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Create, don’t alter</a:t>
            </a:r>
            <a:endParaRPr lang="LID4096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610C7DCB-DAE1-0CD7-C8ED-063D70AD4AA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…except in pre- and post-deploy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318765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AB30D-54DA-3A1F-3B93-84F647E0A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Get started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71478-AF36-5F1B-AA7C-A686E5AB4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Start clean</a:t>
            </a:r>
          </a:p>
          <a:p>
            <a:r>
              <a:rPr lang="en-GB" dirty="0"/>
              <a:t>Import existing database with Schema Comparison</a:t>
            </a:r>
          </a:p>
        </p:txBody>
      </p:sp>
    </p:spTree>
    <p:extLst>
      <p:ext uri="{BB962C8B-B14F-4D97-AF65-F5344CB8AC3E}">
        <p14:creationId xmlns:p14="http://schemas.microsoft.com/office/powerpoint/2010/main" val="23163560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EF7FE-4AD3-24F3-DFAC-A603E30D4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Database references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3214C-7556-D124-FFBE-2C39A324D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Cross database</a:t>
            </a:r>
          </a:p>
          <a:p>
            <a:pPr lvl="1"/>
            <a:r>
              <a:rPr lang="en-GB" dirty="0"/>
              <a:t>Reference system databases</a:t>
            </a:r>
          </a:p>
          <a:p>
            <a:pPr lvl="1"/>
            <a:r>
              <a:rPr lang="en-GB" dirty="0"/>
              <a:t>Reference user databases</a:t>
            </a:r>
          </a:p>
          <a:p>
            <a:pPr lvl="2"/>
            <a:r>
              <a:rPr lang="en-GB" dirty="0"/>
              <a:t>Database project reference</a:t>
            </a:r>
          </a:p>
          <a:p>
            <a:pPr lvl="2"/>
            <a:r>
              <a:rPr lang="en-GB" dirty="0" err="1"/>
              <a:t>Dacpac</a:t>
            </a:r>
            <a:r>
              <a:rPr lang="en-GB" dirty="0"/>
              <a:t> reference</a:t>
            </a:r>
          </a:p>
          <a:p>
            <a:pPr lvl="2"/>
            <a:r>
              <a:rPr lang="en-GB" dirty="0" err="1"/>
              <a:t>Nuget</a:t>
            </a:r>
            <a:r>
              <a:rPr lang="en-GB" dirty="0"/>
              <a:t> reference (SDK-style only)</a:t>
            </a:r>
          </a:p>
          <a:p>
            <a:r>
              <a:rPr lang="en-GB" dirty="0"/>
              <a:t>Reference as inheritance</a:t>
            </a:r>
          </a:p>
          <a:p>
            <a:pPr lvl="1"/>
            <a:r>
              <a:rPr lang="en-GB" dirty="0"/>
              <a:t>Useful </a:t>
            </a:r>
            <a:r>
              <a:rPr lang="en-GB" dirty="0" err="1"/>
              <a:t>eg</a:t>
            </a:r>
            <a:r>
              <a:rPr lang="en-GB" dirty="0"/>
              <a:t> when using </a:t>
            </a:r>
            <a:r>
              <a:rPr lang="en-GB" dirty="0" err="1"/>
              <a:t>tSQLt</a:t>
            </a:r>
            <a:r>
              <a:rPr lang="en-GB" dirty="0"/>
              <a:t> for tests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4033536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DD853DA-0891-1F38-3928-1627F615C8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5472" y="1161057"/>
            <a:ext cx="6356527" cy="236486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70F726-3103-E09B-3850-C19C0BB43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</a:t>
            </a:r>
            <a:r>
              <a:rPr lang="en-GB" dirty="0" err="1"/>
              <a:t>dacpac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297819-062B-1B1A-C3DF-9CDF049D3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5335760" cy="3880773"/>
          </a:xfrm>
        </p:spPr>
        <p:txBody>
          <a:bodyPr/>
          <a:lstStyle/>
          <a:p>
            <a:r>
              <a:rPr lang="en-GB" dirty="0"/>
              <a:t>Zip-file with .</a:t>
            </a:r>
            <a:r>
              <a:rPr lang="en-GB" dirty="0" err="1"/>
              <a:t>dacpac</a:t>
            </a:r>
            <a:r>
              <a:rPr lang="en-GB" dirty="0"/>
              <a:t> extension</a:t>
            </a:r>
          </a:p>
          <a:p>
            <a:r>
              <a:rPr lang="en-GB" dirty="0"/>
              <a:t>Contains xml-files</a:t>
            </a:r>
          </a:p>
          <a:p>
            <a:pPr lvl="1"/>
            <a:r>
              <a:rPr lang="en-GB" dirty="0"/>
              <a:t>[Content types.xml]</a:t>
            </a:r>
          </a:p>
          <a:p>
            <a:pPr lvl="1"/>
            <a:r>
              <a:rPr lang="en-GB" dirty="0"/>
              <a:t>DacMetadata.xml – Build version of the </a:t>
            </a:r>
            <a:r>
              <a:rPr lang="en-GB" dirty="0" err="1"/>
              <a:t>dacpac</a:t>
            </a:r>
            <a:endParaRPr lang="en-GB" dirty="0"/>
          </a:p>
          <a:p>
            <a:pPr lvl="1"/>
            <a:r>
              <a:rPr lang="en-GB" dirty="0"/>
              <a:t>Origin.xml – Schema version of model-file</a:t>
            </a:r>
          </a:p>
          <a:p>
            <a:pPr lvl="1"/>
            <a:r>
              <a:rPr lang="en-GB" dirty="0"/>
              <a:t>Model.xml – the data model for the database</a:t>
            </a:r>
          </a:p>
          <a:p>
            <a:pPr marL="0" indent="0">
              <a:buNone/>
            </a:pPr>
            <a:endParaRPr lang="en-GB" dirty="0"/>
          </a:p>
          <a:p>
            <a:pPr lvl="1"/>
            <a:endParaRPr lang="LID4096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C74ADE-6770-E178-A225-92AF86F39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356" y="31866"/>
            <a:ext cx="5982256" cy="50097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DEBAE6-7A5D-368F-E822-2E64CE6FE7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047" y="31866"/>
            <a:ext cx="5922874" cy="504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30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2E17D-6843-9CA5-6E77-CE249D89D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Deploy </a:t>
            </a:r>
            <a:r>
              <a:rPr lang="en-GB" dirty="0" err="1"/>
              <a:t>dacpac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2DC42A-F835-EC06-1EAD-6160065B1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Publish action from Visual Studio/Azure Data Studio/</a:t>
            </a:r>
            <a:r>
              <a:rPr lang="en-GB" dirty="0" err="1"/>
              <a:t>VSCode</a:t>
            </a:r>
            <a:endParaRPr lang="en-GB" dirty="0"/>
          </a:p>
          <a:p>
            <a:r>
              <a:rPr lang="en-GB" dirty="0"/>
              <a:t>Sqlpackage.exe /Action=Publish</a:t>
            </a:r>
          </a:p>
          <a:p>
            <a:r>
              <a:rPr lang="en-GB" dirty="0"/>
              <a:t>Azure DevOps pipeline</a:t>
            </a:r>
          </a:p>
          <a:p>
            <a:r>
              <a:rPr lang="en-GB" dirty="0"/>
              <a:t>GitHub action</a:t>
            </a:r>
          </a:p>
          <a:p>
            <a:r>
              <a:rPr lang="en-GB" dirty="0"/>
              <a:t>…</a:t>
            </a:r>
          </a:p>
          <a:p>
            <a:r>
              <a:rPr lang="en-GB" dirty="0"/>
              <a:t>…</a:t>
            </a:r>
          </a:p>
          <a:p>
            <a:r>
              <a:rPr lang="en-GB" dirty="0"/>
              <a:t>…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72651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75352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42C689-C3E5-FBBC-6CD1-73FF8D04F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747709"/>
            <a:ext cx="8596668" cy="1826581"/>
          </a:xfrm>
        </p:spPr>
        <p:txBody>
          <a:bodyPr/>
          <a:lstStyle/>
          <a:p>
            <a:r>
              <a:rPr lang="en-GB" dirty="0"/>
              <a:t>DEMO</a:t>
            </a:r>
            <a:endParaRPr lang="LID4096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9A438A-8EDA-FCC9-F817-316FD95AC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3240964"/>
            <a:ext cx="8596668" cy="2085493"/>
          </a:xfrm>
        </p:spPr>
        <p:txBody>
          <a:bodyPr>
            <a:normAutofit lnSpcReduction="10000"/>
          </a:bodyPr>
          <a:lstStyle/>
          <a:p>
            <a:r>
              <a:rPr lang="en-GB" dirty="0"/>
              <a:t>Create database project</a:t>
            </a:r>
          </a:p>
          <a:p>
            <a:r>
              <a:rPr lang="en-GB" dirty="0"/>
              <a:t>Import existing database</a:t>
            </a:r>
          </a:p>
          <a:p>
            <a:r>
              <a:rPr lang="en-GB" dirty="0"/>
              <a:t>Database references</a:t>
            </a:r>
          </a:p>
          <a:p>
            <a:r>
              <a:rPr lang="en-GB" dirty="0"/>
              <a:t>Refactoring objects</a:t>
            </a:r>
          </a:p>
          <a:p>
            <a:r>
              <a:rPr lang="en-GB" dirty="0"/>
              <a:t>Deploy using publish action</a:t>
            </a:r>
            <a:endParaRPr lang="LID4096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0447CC-E54C-0212-1B76-FF1CDF03B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874" y="-17066"/>
            <a:ext cx="5307126" cy="5148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902318"/>
      </p:ext>
    </p:extLst>
  </p:cSld>
  <p:clrMapOvr>
    <a:masterClrMapping/>
  </p:clrMapOvr>
</p:sld>
</file>

<file path=ppt/theme/theme1.xml><?xml version="1.0" encoding="utf-8"?>
<a:theme xmlns:a="http://schemas.openxmlformats.org/drawingml/2006/main" name="Fasett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oupBy_Eight_hours_of_work_in_20_minutes_Partitioning_Rox.pptx" id="{70D7657E-FDF3-4AF8-B760-E8DCE5C23891}" vid="{32728EFA-864A-41EB-A785-94AF657B65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E9DF362DDD05A45B86D781376AAC476" ma:contentTypeVersion="7" ma:contentTypeDescription="Create a new document." ma:contentTypeScope="" ma:versionID="3a57987203f074c548de98d113b4286b">
  <xsd:schema xmlns:xsd="http://www.w3.org/2001/XMLSchema" xmlns:xs="http://www.w3.org/2001/XMLSchema" xmlns:p="http://schemas.microsoft.com/office/2006/metadata/properties" xmlns:ns2="d199752a-3aa5-47db-8ae7-beef1561cea0" targetNamespace="http://schemas.microsoft.com/office/2006/metadata/properties" ma:root="true" ma:fieldsID="70b53b01044eee4a42e00434b4075c16" ns2:_="">
    <xsd:import namespace="d199752a-3aa5-47db-8ae7-beef1561cea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199752a-3aa5-47db-8ae7-beef1561cea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76C713D-8D2B-492D-A52A-375696712CF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199752a-3aa5-47db-8ae7-beef1561cea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542A527-91EE-49D6-AF42-393E29B9863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5AA9653-386D-4377-A986-DC4A02C60CD5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PPTMALL</Template>
  <TotalTime>0</TotalTime>
  <Words>682</Words>
  <Application>Microsoft Office PowerPoint</Application>
  <PresentationFormat>Widescreen</PresentationFormat>
  <Paragraphs>128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24</vt:i4>
      </vt:variant>
    </vt:vector>
  </HeadingPairs>
  <TitlesOfParts>
    <vt:vector size="36" baseType="lpstr">
      <vt:lpstr>Arial</vt:lpstr>
      <vt:lpstr>Calibri</vt:lpstr>
      <vt:lpstr>Calibri Light</vt:lpstr>
      <vt:lpstr>Consolas</vt:lpstr>
      <vt:lpstr>Gotham Medium</vt:lpstr>
      <vt:lpstr>open sans</vt:lpstr>
      <vt:lpstr>Roboto Light</vt:lpstr>
      <vt:lpstr>Source Sans Pro</vt:lpstr>
      <vt:lpstr>Trebuchet MS</vt:lpstr>
      <vt:lpstr>Wingdings 3</vt:lpstr>
      <vt:lpstr>Fasett</vt:lpstr>
      <vt:lpstr>Office Theme</vt:lpstr>
      <vt:lpstr>An Introduction to  Sql Server Database Projects</vt:lpstr>
      <vt:lpstr>Free events aren’t really free</vt:lpstr>
      <vt:lpstr>PowerPoint Presentation</vt:lpstr>
      <vt:lpstr>Content</vt:lpstr>
      <vt:lpstr>Magnus Ahlkvist</vt:lpstr>
      <vt:lpstr>PowerPoint Presentation</vt:lpstr>
      <vt:lpstr>Migration based deployments</vt:lpstr>
      <vt:lpstr>Migrations initialization</vt:lpstr>
      <vt:lpstr>Version 1.0.0</vt:lpstr>
      <vt:lpstr>Version 1.1.0</vt:lpstr>
      <vt:lpstr>Version 1.2.0</vt:lpstr>
      <vt:lpstr>Short demo</vt:lpstr>
      <vt:lpstr>Model based deployment</vt:lpstr>
      <vt:lpstr>SQL Server Database Projects</vt:lpstr>
      <vt:lpstr>SDK Style Database Projects</vt:lpstr>
      <vt:lpstr>SSDT Database Projects</vt:lpstr>
      <vt:lpstr>Project file differences</vt:lpstr>
      <vt:lpstr>Create, don’t alter</vt:lpstr>
      <vt:lpstr>Get started</vt:lpstr>
      <vt:lpstr>Database references</vt:lpstr>
      <vt:lpstr>The dacpac</vt:lpstr>
      <vt:lpstr>Deploy dacpac</vt:lpstr>
      <vt:lpstr>PowerPoint Presentation</vt:lpstr>
      <vt:lpstr>DEMO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Magnus Ahlkvist</dc:creator>
  <cp:lastModifiedBy>Magnus Ahlkvist</cp:lastModifiedBy>
  <cp:revision>42</cp:revision>
  <dcterms:created xsi:type="dcterms:W3CDTF">2019-10-13T08:45:28Z</dcterms:created>
  <dcterms:modified xsi:type="dcterms:W3CDTF">2025-08-30T11:07:04Z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0x010100BE9DF362DDD05A45B86D781376AAC476</vt:lpwstr>
  </property>
</Properties>
</file>