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6"/>
  </p:notesMasterIdLst>
  <p:sldIdLst>
    <p:sldId id="260" r:id="rId5"/>
    <p:sldId id="279" r:id="rId6"/>
    <p:sldId id="261" r:id="rId7"/>
    <p:sldId id="264" r:id="rId8"/>
    <p:sldId id="262" r:id="rId9"/>
    <p:sldId id="263" r:id="rId10"/>
    <p:sldId id="265" r:id="rId11"/>
    <p:sldId id="266" r:id="rId12"/>
    <p:sldId id="267" r:id="rId13"/>
    <p:sldId id="429" r:id="rId14"/>
    <p:sldId id="268" r:id="rId15"/>
    <p:sldId id="269" r:id="rId16"/>
    <p:sldId id="270" r:id="rId17"/>
    <p:sldId id="271" r:id="rId18"/>
    <p:sldId id="272" r:id="rId19"/>
    <p:sldId id="273" r:id="rId20"/>
    <p:sldId id="275" r:id="rId21"/>
    <p:sldId id="276" r:id="rId22"/>
    <p:sldId id="274" r:id="rId23"/>
    <p:sldId id="277" r:id="rId24"/>
    <p:sldId id="278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FFD700"/>
    <a:srgbClr val="E5E4E2"/>
    <a:srgbClr val="C0C0C0"/>
    <a:srgbClr val="CD7F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84992" autoAdjust="0"/>
  </p:normalViewPr>
  <p:slideViewPr>
    <p:cSldViewPr snapToGrid="0">
      <p:cViewPr>
        <p:scale>
          <a:sx n="80" d="100"/>
          <a:sy n="80" d="100"/>
        </p:scale>
        <p:origin x="196" y="3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112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6D3B2D-3924-0B48-B558-93C031AA9A0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72716D-3A19-4347-B553-E4062DD46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515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pic>
        <p:nvPicPr>
          <p:cNvPr id="18" name="Bild 17">
            <a:extLst>
              <a:ext uri="{FF2B5EF4-FFF2-40B4-BE49-F238E27FC236}">
                <a16:creationId xmlns:a16="http://schemas.microsoft.com/office/drawing/2014/main" id="{42BCFCD7-74CB-442B-9206-4BBDA1D162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7593" y="4100975"/>
            <a:ext cx="2736965" cy="27369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ch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eskriv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n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nkort för 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nt eller fals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sv-SE"/>
              <a:t>Klicka här för att ändra mall för rubrikformat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5000"/>
                <a:lumOff val="95000"/>
              </a:schemeClr>
            </a:gs>
            <a:gs pos="100000">
              <a:srgbClr val="FFCCCC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/>
              <a:pPr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/>
              <a:pPr/>
              <a:t>‹#›</a:t>
            </a:fld>
            <a:endParaRPr lang="en-US"/>
          </a:p>
        </p:txBody>
      </p:sp>
      <p:pic>
        <p:nvPicPr>
          <p:cNvPr id="9" name="Bild 8">
            <a:extLst>
              <a:ext uri="{FF2B5EF4-FFF2-40B4-BE49-F238E27FC236}">
                <a16:creationId xmlns:a16="http://schemas.microsoft.com/office/drawing/2014/main" id="{40A61AF8-6CA2-4DC0-AB0C-54B2BDCB308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634870" y="4988252"/>
            <a:ext cx="1849688" cy="18496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Roboto Light" panose="02000000000000000000" pitchFamily="2" charset="0"/>
          <a:ea typeface="Roboto Light" panose="02000000000000000000" pitchFamily="2" charset="0"/>
          <a:cs typeface="Roboto Light" panose="02000000000000000000" pitchFamily="2" charset="0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hyperlink" Target="mailto:magnus@transmokopter.s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4.jpeg"/><Relationship Id="rId4" Type="http://schemas.openxmlformats.org/officeDocument/2006/relationships/image" Target="../media/image9.png"/><Relationship Id="rId9" Type="http://schemas.openxmlformats.org/officeDocument/2006/relationships/image" Target="../media/image1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jpg"/><Relationship Id="rId4" Type="http://schemas.openxmlformats.org/officeDocument/2006/relationships/image" Target="../media/image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36.jpg"/><Relationship Id="rId4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B9B0E28-205D-4B8D-B72F-75D77CF216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>
                <a:latin typeface="Comic Sans MS" panose="030F0702030302020204" pitchFamily="66" charset="0"/>
              </a:rPr>
              <a:t>Magnus </a:t>
            </a:r>
            <a:r>
              <a:rPr lang="en-US" err="1">
                <a:latin typeface="Comic Sans MS" panose="030F0702030302020204" pitchFamily="66" charset="0"/>
              </a:rPr>
              <a:t>Ahlkvist</a:t>
            </a:r>
            <a:endParaRPr lang="en-US">
              <a:latin typeface="Comic Sans MS" panose="030F0702030302020204" pitchFamily="66" charset="0"/>
            </a:endParaRPr>
          </a:p>
          <a:p>
            <a:r>
              <a:rPr lang="en-US" err="1">
                <a:latin typeface="Comic Sans MS" panose="030F0702030302020204" pitchFamily="66" charset="0"/>
              </a:rPr>
              <a:t>Transmokopter</a:t>
            </a:r>
            <a:r>
              <a:rPr lang="en-US">
                <a:latin typeface="Comic Sans MS" panose="030F0702030302020204" pitchFamily="66" charset="0"/>
              </a:rPr>
              <a:t> SQL AB</a:t>
            </a:r>
          </a:p>
          <a:p>
            <a:r>
              <a:rPr lang="en-US">
                <a:latin typeface="Comic Sans MS" panose="030F0702030302020204" pitchFamily="66" charset="0"/>
              </a:rPr>
              <a:t>SQL Server consultant, Data Platform MVP</a:t>
            </a:r>
          </a:p>
        </p:txBody>
      </p:sp>
      <p:grpSp>
        <p:nvGrpSpPr>
          <p:cNvPr id="8" name="title_badge_group">
            <a:extLst>
              <a:ext uri="{FF2B5EF4-FFF2-40B4-BE49-F238E27FC236}">
                <a16:creationId xmlns:a16="http://schemas.microsoft.com/office/drawing/2014/main" id="{25C8AE55-25CB-4C5A-925E-D584E288065D}"/>
              </a:ext>
            </a:extLst>
          </p:cNvPr>
          <p:cNvGrpSpPr/>
          <p:nvPr/>
        </p:nvGrpSpPr>
        <p:grpSpPr>
          <a:xfrm>
            <a:off x="4476584" y="624177"/>
            <a:ext cx="7535186" cy="2057400"/>
            <a:chOff x="1524000" y="1371600"/>
            <a:chExt cx="9144000" cy="2057400"/>
          </a:xfrm>
        </p:grpSpPr>
        <p:pic>
          <p:nvPicPr>
            <p:cNvPr id="6" name="wave_bg">
              <a:extLst>
                <a:ext uri="{FF2B5EF4-FFF2-40B4-BE49-F238E27FC236}">
                  <a16:creationId xmlns:a16="http://schemas.microsoft.com/office/drawing/2014/main" id="{B93642EE-D77C-4748-A9EE-383CB54A51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24000" y="1371600"/>
              <a:ext cx="9144000" cy="2057400"/>
            </a:xfrm>
            <a:prstGeom prst="rect">
              <a:avLst/>
            </a:prstGeom>
          </p:spPr>
        </p:pic>
        <p:sp>
          <p:nvSpPr>
            <p:cNvPr id="7" name="cartoon_title_badge">
              <a:extLst>
                <a:ext uri="{FF2B5EF4-FFF2-40B4-BE49-F238E27FC236}">
                  <a16:creationId xmlns:a16="http://schemas.microsoft.com/office/drawing/2014/main" id="{495F7E4A-5B10-4535-872F-718A85B064A9}"/>
                </a:ext>
              </a:extLst>
            </p:cNvPr>
            <p:cNvSpPr/>
            <p:nvPr/>
          </p:nvSpPr>
          <p:spPr>
            <a:xfrm>
              <a:off x="1524000" y="1371600"/>
              <a:ext cx="9144000" cy="20574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Title 1">
              <a:extLst>
                <a:ext uri="{FF2B5EF4-FFF2-40B4-BE49-F238E27FC236}">
                  <a16:creationId xmlns:a16="http://schemas.microsoft.com/office/drawing/2014/main" id="{3A9EEC31-E066-4E62-BAAB-C170893FFE25}"/>
                </a:ext>
              </a:extLst>
            </p:cNvPr>
            <p:cNvSpPr>
              <a:spLocks noGrp="1"/>
            </p:cNvSpPr>
            <p:nvPr>
              <p:ph type="ctrTitle"/>
            </p:nvPr>
          </p:nvSpPr>
          <p:spPr>
            <a:xfrm>
              <a:off x="1828800" y="1524000"/>
              <a:ext cx="8534400" cy="1752600"/>
            </a:xfrm>
          </p:spPr>
          <p:txBody>
            <a:bodyPr>
              <a:normAutofit/>
            </a:bodyPr>
            <a:lstStyle/>
            <a:p>
              <a:r>
                <a:rPr lang="en-GB" sz="352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An Introduction to </a:t>
              </a:r>
              <a:br>
                <a:rPr lang="en-GB" sz="3520" b="1">
                  <a:solidFill>
                    <a:srgbClr val="1A1A1A"/>
                  </a:solidFill>
                  <a:latin typeface="Comic Sans MS" panose="030F0702030302020204" pitchFamily="66" charset="0"/>
                </a:rPr>
              </a:br>
              <a:r>
                <a:rPr lang="en-GB" sz="3520" b="1" err="1">
                  <a:solidFill>
                    <a:srgbClr val="1A1A1A"/>
                  </a:solidFill>
                  <a:latin typeface="Comic Sans MS" panose="030F0702030302020204" pitchFamily="66" charset="0"/>
                </a:rPr>
                <a:t>Sql</a:t>
              </a:r>
              <a:r>
                <a:rPr lang="en-GB" sz="352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 Server Database Projects</a:t>
              </a:r>
              <a:endParaRPr lang="en-US" sz="3520" b="1">
                <a:solidFill>
                  <a:srgbClr val="1A1A1A"/>
                </a:solidFill>
                <a:latin typeface="Comic Sans MS" panose="030F0702030302020204" pitchFamily="66" charset="0"/>
              </a:endParaRPr>
            </a:p>
          </p:txBody>
        </p:sp>
      </p:grpSp>
      <p:pic>
        <p:nvPicPr>
          <p:cNvPr id="9" name="Picture 9" descr="Database presentation icon">
            <a:extLst>
              <a:ext uri="{FF2B5EF4-FFF2-40B4-BE49-F238E27FC236}">
                <a16:creationId xmlns:a16="http://schemas.microsoft.com/office/drawing/2014/main" id="{77CA34BF-73F1-4CA6-AEB2-B0EFA1B0D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0171" y="2833977"/>
            <a:ext cx="914400" cy="914400"/>
          </a:xfrm>
          <a:prstGeom prst="rect">
            <a:avLst/>
          </a:prstGeom>
        </p:spPr>
      </p:pic>
      <p:pic>
        <p:nvPicPr>
          <p:cNvPr id="4" name="Picture 3" descr="Edit the existing image into a cartoon-inspired illustration: keep the same composition of a standing person in side-profile silhouette on the left, simplify into clean vector-like shapes with bold black outline, add soft pastel background with gentle wavy pattern, flat colors, minimal shading, playful modern cartoon look, no text, maintain high contrast and readability.">
            <a:extLst>
              <a:ext uri="{FF2B5EF4-FFF2-40B4-BE49-F238E27FC236}">
                <a16:creationId xmlns:a16="http://schemas.microsoft.com/office/drawing/2014/main" id="{D04C9117-C7E1-2196-A6C3-747B1EA73BD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304" r="3304"/>
          <a:stretch/>
        </p:blipFill>
        <p:spPr>
          <a:xfrm>
            <a:off x="0" y="0"/>
            <a:ext cx="42699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188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title_badge_group">
            <a:extLst>
              <a:ext uri="{FF2B5EF4-FFF2-40B4-BE49-F238E27FC236}">
                <a16:creationId xmlns:a16="http://schemas.microsoft.com/office/drawing/2014/main" id="{DAF97144-68ED-4D34-939B-80B71C7D409C}"/>
              </a:ext>
            </a:extLst>
          </p:cNvPr>
          <p:cNvGrpSpPr/>
          <p:nvPr/>
        </p:nvGrpSpPr>
        <p:grpSpPr>
          <a:xfrm>
            <a:off x="474134" y="482600"/>
            <a:ext cx="9003067" cy="1574800"/>
            <a:chOff x="474134" y="482600"/>
            <a:chExt cx="9003067" cy="1574800"/>
          </a:xfrm>
        </p:grpSpPr>
        <p:pic>
          <p:nvPicPr>
            <p:cNvPr id="4" name="wave_bg">
              <a:extLst>
                <a:ext uri="{FF2B5EF4-FFF2-40B4-BE49-F238E27FC236}">
                  <a16:creationId xmlns:a16="http://schemas.microsoft.com/office/drawing/2014/main" id="{0EFF4CE5-1C24-477A-967D-0B5DB7311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5" name="cartoon_title_badge">
              <a:extLst>
                <a:ext uri="{FF2B5EF4-FFF2-40B4-BE49-F238E27FC236}">
                  <a16:creationId xmlns:a16="http://schemas.microsoft.com/office/drawing/2014/main" id="{15837C88-1E7B-4311-872A-E646B5665DD4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Title 1">
              <a:extLst>
                <a:ext uri="{FF2B5EF4-FFF2-40B4-BE49-F238E27FC236}">
                  <a16:creationId xmlns:a16="http://schemas.microsoft.com/office/drawing/2014/main" id="{CDED8742-F3DF-DA82-5FEB-E751713523CB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 fontScale="90000"/>
            </a:bodyPr>
            <a:lstStyle/>
            <a:p>
              <a:r>
                <a:rPr lang="en-GB" sz="3960" b="1" dirty="0">
                  <a:solidFill>
                    <a:srgbClr val="1A1A1A"/>
                  </a:solidFill>
                  <a:latin typeface="Comic Sans MS" panose="030F0702030302020204" pitchFamily="66" charset="0"/>
                </a:rPr>
                <a:t>Talk to sponsors. They are nice people</a:t>
              </a:r>
              <a:endParaRPr lang="LID4096" sz="3960" b="1" dirty="0">
                <a:solidFill>
                  <a:srgbClr val="1A1A1A"/>
                </a:solidFill>
                <a:latin typeface="Comic Sans MS" panose="030F0702030302020204" pitchFamily="66" charset="0"/>
              </a:endParaRPr>
            </a:p>
          </p:txBody>
        </p:sp>
      </p:grpSp>
      <p:pic>
        <p:nvPicPr>
          <p:cNvPr id="7" name="Picture 7" descr="Hidden costs price tag icon">
            <a:extLst>
              <a:ext uri="{FF2B5EF4-FFF2-40B4-BE49-F238E27FC236}">
                <a16:creationId xmlns:a16="http://schemas.microsoft.com/office/drawing/2014/main" id="{78D6C221-491A-42EC-BC8F-80DFE8AB5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2001" y="635000"/>
            <a:ext cx="914400" cy="914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E339BA9-F8BD-F07A-475D-B0A62A9746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497064"/>
            <a:ext cx="12192000" cy="3360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720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B46F8A19-07C4-A4DC-C9D4-DDFAE041E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 b="0" i="0">
                <a:solidFill>
                  <a:srgbClr val="404040"/>
                </a:solidFill>
                <a:effectLst/>
                <a:latin typeface="Comic Sans MS" panose="030F0702030302020204" pitchFamily="66" charset="0"/>
              </a:rPr>
              <a:t>Migration </a:t>
            </a:r>
            <a:r>
              <a:rPr lang="sv-SE" b="0" i="0" err="1">
                <a:solidFill>
                  <a:srgbClr val="404040"/>
                </a:solidFill>
                <a:effectLst/>
                <a:latin typeface="Comic Sans MS" panose="030F0702030302020204" pitchFamily="66" charset="0"/>
              </a:rPr>
              <a:t>based</a:t>
            </a:r>
            <a:r>
              <a:rPr lang="sv-SE" b="0" i="0">
                <a:solidFill>
                  <a:srgbClr val="404040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lang="sv-SE" b="0" i="0" err="1">
                <a:solidFill>
                  <a:srgbClr val="404040"/>
                </a:solidFill>
                <a:effectLst/>
                <a:latin typeface="Comic Sans MS" panose="030F0702030302020204" pitchFamily="66" charset="0"/>
              </a:rPr>
              <a:t>deployments</a:t>
            </a:r>
            <a:endParaRPr lang="sv-SE" b="0" i="0">
              <a:solidFill>
                <a:srgbClr val="676A6C"/>
              </a:solidFill>
              <a:effectLst/>
              <a:latin typeface="Comic Sans MS" panose="030F0702030302020204" pitchFamily="66" charset="0"/>
            </a:endParaRPr>
          </a:p>
          <a:p>
            <a:r>
              <a:rPr lang="sv-SE" err="1">
                <a:solidFill>
                  <a:srgbClr val="404040"/>
                </a:solidFill>
                <a:latin typeface="Comic Sans MS" panose="030F0702030302020204" pitchFamily="66" charset="0"/>
              </a:rPr>
              <a:t>Model</a:t>
            </a:r>
            <a:r>
              <a:rPr lang="sv-SE">
                <a:solidFill>
                  <a:srgbClr val="404040"/>
                </a:solidFill>
                <a:latin typeface="Comic Sans MS" panose="030F0702030302020204" pitchFamily="66" charset="0"/>
              </a:rPr>
              <a:t> </a:t>
            </a:r>
            <a:r>
              <a:rPr lang="sv-SE" err="1">
                <a:solidFill>
                  <a:srgbClr val="404040"/>
                </a:solidFill>
                <a:latin typeface="Comic Sans MS" panose="030F0702030302020204" pitchFamily="66" charset="0"/>
              </a:rPr>
              <a:t>based</a:t>
            </a:r>
            <a:r>
              <a:rPr lang="sv-SE">
                <a:solidFill>
                  <a:srgbClr val="404040"/>
                </a:solidFill>
                <a:latin typeface="Comic Sans MS" panose="030F0702030302020204" pitchFamily="66" charset="0"/>
              </a:rPr>
              <a:t> </a:t>
            </a:r>
            <a:r>
              <a:rPr lang="sv-SE" err="1">
                <a:solidFill>
                  <a:srgbClr val="404040"/>
                </a:solidFill>
                <a:latin typeface="Comic Sans MS" panose="030F0702030302020204" pitchFamily="66" charset="0"/>
              </a:rPr>
              <a:t>deployments</a:t>
            </a:r>
            <a:endParaRPr lang="sv-SE">
              <a:solidFill>
                <a:srgbClr val="676A6C"/>
              </a:solidFill>
              <a:latin typeface="Comic Sans MS" panose="030F0702030302020204" pitchFamily="66" charset="0"/>
            </a:endParaRPr>
          </a:p>
          <a:p>
            <a:r>
              <a:rPr lang="sv-SE" err="1">
                <a:latin typeface="Comic Sans MS" panose="030F0702030302020204" pitchFamily="66" charset="0"/>
              </a:rPr>
              <a:t>Sql</a:t>
            </a:r>
            <a:r>
              <a:rPr lang="sv-SE">
                <a:latin typeface="Comic Sans MS" panose="030F0702030302020204" pitchFamily="66" charset="0"/>
              </a:rPr>
              <a:t> Server </a:t>
            </a:r>
            <a:r>
              <a:rPr lang="sv-SE" err="1">
                <a:latin typeface="Comic Sans MS" panose="030F0702030302020204" pitchFamily="66" charset="0"/>
              </a:rPr>
              <a:t>Database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projects</a:t>
            </a:r>
            <a:endParaRPr lang="sv-SE">
              <a:latin typeface="Comic Sans MS" panose="030F0702030302020204" pitchFamily="66" charset="0"/>
            </a:endParaRPr>
          </a:p>
          <a:p>
            <a:pPr lvl="1"/>
            <a:r>
              <a:rPr lang="sv-SE">
                <a:latin typeface="Comic Sans MS" panose="030F0702030302020204" pitchFamily="66" charset="0"/>
              </a:rPr>
              <a:t>.NET </a:t>
            </a:r>
            <a:r>
              <a:rPr lang="sv-SE" err="1">
                <a:latin typeface="Comic Sans MS" panose="030F0702030302020204" pitchFamily="66" charset="0"/>
              </a:rPr>
              <a:t>Framework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based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project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type</a:t>
            </a:r>
            <a:endParaRPr lang="sv-SE">
              <a:latin typeface="Comic Sans MS" panose="030F0702030302020204" pitchFamily="66" charset="0"/>
            </a:endParaRPr>
          </a:p>
          <a:p>
            <a:pPr lvl="1"/>
            <a:r>
              <a:rPr lang="sv-SE">
                <a:latin typeface="Comic Sans MS" panose="030F0702030302020204" pitchFamily="66" charset="0"/>
              </a:rPr>
              <a:t>SDK Style </a:t>
            </a:r>
            <a:r>
              <a:rPr lang="sv-SE" err="1">
                <a:latin typeface="Comic Sans MS" panose="030F0702030302020204" pitchFamily="66" charset="0"/>
              </a:rPr>
              <a:t>database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projects</a:t>
            </a:r>
            <a:endParaRPr lang="sv-SE">
              <a:latin typeface="Comic Sans MS" panose="030F0702030302020204" pitchFamily="66" charset="0"/>
            </a:endParaRPr>
          </a:p>
          <a:p>
            <a:r>
              <a:rPr lang="sv-SE">
                <a:latin typeface="Comic Sans MS" panose="030F0702030302020204" pitchFamily="66" charset="0"/>
              </a:rPr>
              <a:t>Start </a:t>
            </a:r>
            <a:r>
              <a:rPr lang="sv-SE" err="1">
                <a:latin typeface="Comic Sans MS" panose="030F0702030302020204" pitchFamily="66" charset="0"/>
              </a:rPr>
              <a:t>with</a:t>
            </a:r>
            <a:r>
              <a:rPr lang="sv-SE">
                <a:latin typeface="Comic Sans MS" panose="030F0702030302020204" pitchFamily="66" charset="0"/>
              </a:rPr>
              <a:t> a </a:t>
            </a:r>
            <a:r>
              <a:rPr lang="sv-SE" err="1">
                <a:latin typeface="Comic Sans MS" panose="030F0702030302020204" pitchFamily="66" charset="0"/>
              </a:rPr>
              <a:t>clean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sheet</a:t>
            </a:r>
            <a:endParaRPr lang="sv-SE">
              <a:latin typeface="Comic Sans MS" panose="030F0702030302020204" pitchFamily="66" charset="0"/>
            </a:endParaRPr>
          </a:p>
          <a:p>
            <a:r>
              <a:rPr lang="sv-SE">
                <a:latin typeface="Comic Sans MS" panose="030F0702030302020204" pitchFamily="66" charset="0"/>
              </a:rPr>
              <a:t>Start </a:t>
            </a:r>
            <a:r>
              <a:rPr lang="sv-SE" err="1">
                <a:latin typeface="Comic Sans MS" panose="030F0702030302020204" pitchFamily="66" charset="0"/>
              </a:rPr>
              <a:t>with</a:t>
            </a:r>
            <a:r>
              <a:rPr lang="sv-SE">
                <a:latin typeface="Comic Sans MS" panose="030F0702030302020204" pitchFamily="66" charset="0"/>
              </a:rPr>
              <a:t> an </a:t>
            </a:r>
            <a:r>
              <a:rPr lang="sv-SE" err="1">
                <a:latin typeface="Comic Sans MS" panose="030F0702030302020204" pitchFamily="66" charset="0"/>
              </a:rPr>
              <a:t>existing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database</a:t>
            </a:r>
            <a:endParaRPr lang="sv-SE">
              <a:latin typeface="Comic Sans MS" panose="030F0702030302020204" pitchFamily="66" charset="0"/>
            </a:endParaRPr>
          </a:p>
          <a:p>
            <a:r>
              <a:rPr lang="sv-SE" err="1">
                <a:latin typeface="Comic Sans MS" panose="030F0702030302020204" pitchFamily="66" charset="0"/>
              </a:rPr>
              <a:t>Dependencies</a:t>
            </a:r>
            <a:endParaRPr lang="sv-SE">
              <a:latin typeface="Comic Sans MS" panose="030F0702030302020204" pitchFamily="66" charset="0"/>
            </a:endParaRPr>
          </a:p>
          <a:p>
            <a:r>
              <a:rPr lang="sv-SE" err="1">
                <a:latin typeface="Comic Sans MS" panose="030F0702030302020204" pitchFamily="66" charset="0"/>
              </a:rPr>
              <a:t>Refactoring</a:t>
            </a:r>
            <a:r>
              <a:rPr lang="sv-SE">
                <a:latin typeface="Comic Sans MS" panose="030F0702030302020204" pitchFamily="66" charset="0"/>
              </a:rPr>
              <a:t> data </a:t>
            </a:r>
            <a:r>
              <a:rPr lang="sv-SE" err="1">
                <a:latin typeface="Comic Sans MS" panose="030F0702030302020204" pitchFamily="66" charset="0"/>
              </a:rPr>
              <a:t>objects</a:t>
            </a:r>
            <a:endParaRPr lang="sv-SE">
              <a:latin typeface="Comic Sans MS" panose="030F0702030302020204" pitchFamily="66" charset="0"/>
            </a:endParaRPr>
          </a:p>
          <a:p>
            <a:endParaRPr lang="sv-SE">
              <a:latin typeface="Comic Sans MS" panose="030F0702030302020204" pitchFamily="66" charset="0"/>
            </a:endParaRPr>
          </a:p>
          <a:p>
            <a:pPr lvl="1"/>
            <a:endParaRPr lang="sv-SE">
              <a:latin typeface="Comic Sans MS" panose="030F0702030302020204" pitchFamily="66" charset="0"/>
            </a:endParaRPr>
          </a:p>
        </p:txBody>
      </p:sp>
      <p:grpSp>
        <p:nvGrpSpPr>
          <p:cNvPr id="6" name="title_badge_group">
            <a:extLst>
              <a:ext uri="{FF2B5EF4-FFF2-40B4-BE49-F238E27FC236}">
                <a16:creationId xmlns:a16="http://schemas.microsoft.com/office/drawing/2014/main" id="{20753F6C-E62B-4BDE-8465-FD52389453BE}"/>
              </a:ext>
            </a:extLst>
          </p:cNvPr>
          <p:cNvGrpSpPr/>
          <p:nvPr/>
        </p:nvGrpSpPr>
        <p:grpSpPr>
          <a:xfrm>
            <a:off x="474134" y="482600"/>
            <a:ext cx="9003067" cy="1574800"/>
            <a:chOff x="474134" y="482600"/>
            <a:chExt cx="9003067" cy="1574800"/>
          </a:xfrm>
        </p:grpSpPr>
        <p:pic>
          <p:nvPicPr>
            <p:cNvPr id="4" name="wave_bg">
              <a:extLst>
                <a:ext uri="{FF2B5EF4-FFF2-40B4-BE49-F238E27FC236}">
                  <a16:creationId xmlns:a16="http://schemas.microsoft.com/office/drawing/2014/main" id="{847052B6-4F5F-4216-9247-D5FF5AD6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5" name="cartoon_title_badge">
              <a:extLst>
                <a:ext uri="{FF2B5EF4-FFF2-40B4-BE49-F238E27FC236}">
                  <a16:creationId xmlns:a16="http://schemas.microsoft.com/office/drawing/2014/main" id="{AE76AC73-050F-4486-8CA8-F94AB9587988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Rubrik 1">
              <a:extLst>
                <a:ext uri="{FF2B5EF4-FFF2-40B4-BE49-F238E27FC236}">
                  <a16:creationId xmlns:a16="http://schemas.microsoft.com/office/drawing/2014/main" id="{549967C5-AC23-C499-5078-7F479FD7C08B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/>
            </a:bodyPr>
            <a:lstStyle/>
            <a:p>
              <a:r>
                <a:rPr lang="sv-SE" sz="3960" b="1" err="1">
                  <a:solidFill>
                    <a:srgbClr val="1A1A1A"/>
                  </a:solidFill>
                  <a:latin typeface="Comic Sans MS" panose="030F0702030302020204" pitchFamily="66" charset="0"/>
                </a:rPr>
                <a:t>Content</a:t>
              </a:r>
              <a:endParaRPr lang="sv-SE" sz="3960" b="1">
                <a:solidFill>
                  <a:srgbClr val="1A1A1A"/>
                </a:solidFill>
                <a:latin typeface="Comic Sans MS" panose="030F0702030302020204" pitchFamily="66" charset="0"/>
              </a:endParaRPr>
            </a:p>
          </p:txBody>
        </p:sp>
      </p:grpSp>
      <p:pic>
        <p:nvPicPr>
          <p:cNvPr id="7" name="Picture 7" descr="Agenda clipboard icon">
            <a:extLst>
              <a:ext uri="{FF2B5EF4-FFF2-40B4-BE49-F238E27FC236}">
                <a16:creationId xmlns:a16="http://schemas.microsoft.com/office/drawing/2014/main" id="{03D8FDB9-A7E5-4B8F-B492-F19B3863C4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2001" y="635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232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0D68E2-F5AB-0607-7393-F5E747731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9B86271-ABDB-DEF8-FC3C-0BD0FA3CE8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64379" y="2537461"/>
            <a:ext cx="5417821" cy="4244340"/>
          </a:xfrm>
        </p:spPr>
        <p:txBody>
          <a:bodyPr>
            <a:normAutofit/>
          </a:bodyPr>
          <a:lstStyle/>
          <a:p>
            <a:pPr algn="l"/>
            <a:r>
              <a:rPr lang="sv-SE">
                <a:latin typeface="Comic Sans MS" panose="030F0702030302020204" pitchFamily="66" charset="0"/>
              </a:rPr>
              <a:t>🏭  </a:t>
            </a:r>
            <a:r>
              <a:rPr lang="en-US" err="1">
                <a:latin typeface="Comic Sans MS" panose="030F0702030302020204" pitchFamily="66" charset="0"/>
              </a:rPr>
              <a:t>Transmokopter</a:t>
            </a:r>
            <a:r>
              <a:rPr lang="en-US">
                <a:latin typeface="Comic Sans MS" panose="030F0702030302020204" pitchFamily="66" charset="0"/>
              </a:rPr>
              <a:t> SQL AB, SQL Server consultant</a:t>
            </a:r>
          </a:p>
          <a:p>
            <a:pPr algn="l"/>
            <a:r>
              <a:rPr lang="en-US">
                <a:latin typeface="Comic Sans MS" panose="030F0702030302020204" pitchFamily="66" charset="0"/>
              </a:rPr>
              <a:t>         Microsoft Data Platform MVP</a:t>
            </a:r>
          </a:p>
          <a:p>
            <a:pPr algn="l"/>
            <a:r>
              <a:rPr lang="en-US">
                <a:latin typeface="Comic Sans MS" panose="030F0702030302020204" pitchFamily="66" charset="0"/>
              </a:rPr>
              <a:t>         github.com/</a:t>
            </a:r>
            <a:r>
              <a:rPr lang="en-US" err="1">
                <a:latin typeface="Comic Sans MS" panose="030F0702030302020204" pitchFamily="66" charset="0"/>
              </a:rPr>
              <a:t>transmokopter</a:t>
            </a:r>
            <a:endParaRPr lang="en-US">
              <a:latin typeface="Comic Sans MS" panose="030F0702030302020204" pitchFamily="66" charset="0"/>
            </a:endParaRPr>
          </a:p>
          <a:p>
            <a:pPr algn="l"/>
            <a:r>
              <a:rPr lang="en-US">
                <a:latin typeface="Comic Sans MS" panose="030F0702030302020204" pitchFamily="66" charset="0"/>
              </a:rPr>
              <a:t>         </a:t>
            </a:r>
            <a:r>
              <a:rPr lang="en-US" err="1">
                <a:latin typeface="Comic Sans MS" panose="030F0702030302020204" pitchFamily="66" charset="0"/>
              </a:rPr>
              <a:t>transmokopter</a:t>
            </a:r>
            <a:r>
              <a:rPr lang="en-US">
                <a:latin typeface="Comic Sans MS" panose="030F0702030302020204" pitchFamily="66" charset="0"/>
              </a:rPr>
              <a:t> </a:t>
            </a:r>
          </a:p>
          <a:p>
            <a:pPr algn="l"/>
            <a:r>
              <a:rPr lang="en-US">
                <a:latin typeface="Comic Sans MS" panose="030F0702030302020204" pitchFamily="66" charset="0"/>
              </a:rPr>
              <a:t>         linkedin.com/in/</a:t>
            </a:r>
            <a:r>
              <a:rPr lang="en-US" err="1">
                <a:latin typeface="Comic Sans MS" panose="030F0702030302020204" pitchFamily="66" charset="0"/>
              </a:rPr>
              <a:t>magnusahlkvist</a:t>
            </a:r>
            <a:endParaRPr lang="en-US">
              <a:latin typeface="Comic Sans MS" panose="030F0702030302020204" pitchFamily="66" charset="0"/>
            </a:endParaRPr>
          </a:p>
          <a:p>
            <a:pPr algn="l"/>
            <a:r>
              <a:rPr lang="sv-SE">
                <a:latin typeface="Comic Sans MS" panose="030F0702030302020204" pitchFamily="66" charset="0"/>
              </a:rPr>
              <a:t>📧  </a:t>
            </a:r>
            <a:r>
              <a:rPr lang="en-US">
                <a:latin typeface="Comic Sans MS" panose="030F0702030302020204" pitchFamily="66" charset="0"/>
                <a:hlinkClick r:id="rId2"/>
              </a:rPr>
              <a:t>magnus@transmokopter.se</a:t>
            </a:r>
            <a:endParaRPr lang="en-US">
              <a:latin typeface="Comic Sans MS" panose="030F0702030302020204" pitchFamily="66" charset="0"/>
            </a:endParaRPr>
          </a:p>
          <a:p>
            <a:pPr algn="l"/>
            <a:r>
              <a:rPr lang="en-US">
                <a:latin typeface="Comic Sans MS" panose="030F0702030302020204" pitchFamily="66" charset="0"/>
              </a:rPr>
              <a:t>         youtube.com/c/</a:t>
            </a:r>
            <a:r>
              <a:rPr lang="en-US" err="1">
                <a:latin typeface="Comic Sans MS" panose="030F0702030302020204" pitchFamily="66" charset="0"/>
              </a:rPr>
              <a:t>transmokopter</a:t>
            </a:r>
            <a:endParaRPr lang="en-US">
              <a:latin typeface="Comic Sans MS" panose="030F0702030302020204" pitchFamily="66" charset="0"/>
            </a:endParaRPr>
          </a:p>
        </p:txBody>
      </p:sp>
      <p:pic>
        <p:nvPicPr>
          <p:cNvPr id="7" name="Bildobjekt 6" descr="En bild som visar Electric blue, Teckensnitt, logotyp, text  AI-genererat innehåll kan vara felaktigt.">
            <a:extLst>
              <a:ext uri="{FF2B5EF4-FFF2-40B4-BE49-F238E27FC236}">
                <a16:creationId xmlns:a16="http://schemas.microsoft.com/office/drawing/2014/main" id="{7448CAEB-95C6-8BF5-32C7-3DC0FB8634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531" y="2952790"/>
            <a:ext cx="293329" cy="293329"/>
          </a:xfrm>
          <a:prstGeom prst="rect">
            <a:avLst/>
          </a:prstGeom>
        </p:spPr>
      </p:pic>
      <p:pic>
        <p:nvPicPr>
          <p:cNvPr id="9" name="Bildobjekt 8" descr="En bild som visar katt, däggdjur, siluett  AI-genererat innehåll kan vara felaktigt.">
            <a:extLst>
              <a:ext uri="{FF2B5EF4-FFF2-40B4-BE49-F238E27FC236}">
                <a16:creationId xmlns:a16="http://schemas.microsoft.com/office/drawing/2014/main" id="{ADA5ECF0-71BF-D89E-A8C2-FD8615344E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531" y="3368040"/>
            <a:ext cx="316283" cy="316283"/>
          </a:xfrm>
          <a:prstGeom prst="rect">
            <a:avLst/>
          </a:prstGeom>
        </p:spPr>
      </p:pic>
      <p:pic>
        <p:nvPicPr>
          <p:cNvPr id="11" name="Bildobjekt 10" descr="En bild som visar fjäril, kreativitet  AI-genererat innehåll kan vara felaktigt.">
            <a:extLst>
              <a:ext uri="{FF2B5EF4-FFF2-40B4-BE49-F238E27FC236}">
                <a16:creationId xmlns:a16="http://schemas.microsoft.com/office/drawing/2014/main" id="{EE33515F-DDD1-D696-FFE7-6916CFEA87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2531" y="3806244"/>
            <a:ext cx="293329" cy="293329"/>
          </a:xfrm>
          <a:prstGeom prst="rect">
            <a:avLst/>
          </a:prstGeom>
        </p:spPr>
      </p:pic>
      <p:pic>
        <p:nvPicPr>
          <p:cNvPr id="13" name="Bildobjekt 12" descr="En bild som visar skärmbild, Teckensnitt, Grafik, logotyp  AI-genererat innehåll kan vara felaktigt.">
            <a:extLst>
              <a:ext uri="{FF2B5EF4-FFF2-40B4-BE49-F238E27FC236}">
                <a16:creationId xmlns:a16="http://schemas.microsoft.com/office/drawing/2014/main" id="{DF6444F6-961C-E4CA-E303-543B48700A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2531" y="4221494"/>
            <a:ext cx="318034" cy="270454"/>
          </a:xfrm>
          <a:prstGeom prst="rect">
            <a:avLst/>
          </a:prstGeom>
        </p:spPr>
      </p:pic>
      <p:pic>
        <p:nvPicPr>
          <p:cNvPr id="15" name="Bildobjekt 14" descr="En bild som visar Grafik, symbol, Teckensnitt, röd  AI-genererat innehåll kan vara felaktigt.">
            <a:extLst>
              <a:ext uri="{FF2B5EF4-FFF2-40B4-BE49-F238E27FC236}">
                <a16:creationId xmlns:a16="http://schemas.microsoft.com/office/drawing/2014/main" id="{57C0AFFD-06A8-9733-439D-5472FB0D16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2530" y="4983657"/>
            <a:ext cx="293329" cy="293329"/>
          </a:xfrm>
          <a:prstGeom prst="rect">
            <a:avLst/>
          </a:prstGeom>
        </p:spPr>
      </p:pic>
      <p:grpSp>
        <p:nvGrpSpPr>
          <p:cNvPr id="18" name="title_badge_group">
            <a:extLst>
              <a:ext uri="{FF2B5EF4-FFF2-40B4-BE49-F238E27FC236}">
                <a16:creationId xmlns:a16="http://schemas.microsoft.com/office/drawing/2014/main" id="{4DDA501F-1A11-45C8-8657-926E0C3D0A9D}"/>
              </a:ext>
            </a:extLst>
          </p:cNvPr>
          <p:cNvGrpSpPr/>
          <p:nvPr/>
        </p:nvGrpSpPr>
        <p:grpSpPr>
          <a:xfrm>
            <a:off x="4682530" y="662936"/>
            <a:ext cx="5417821" cy="1482005"/>
            <a:chOff x="1524000" y="1371600"/>
            <a:chExt cx="9144000" cy="2057400"/>
          </a:xfrm>
        </p:grpSpPr>
        <p:pic>
          <p:nvPicPr>
            <p:cNvPr id="16" name="wave_bg">
              <a:extLst>
                <a:ext uri="{FF2B5EF4-FFF2-40B4-BE49-F238E27FC236}">
                  <a16:creationId xmlns:a16="http://schemas.microsoft.com/office/drawing/2014/main" id="{C9977FCC-FE61-41B2-871D-558A9DB68E2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524000" y="1371600"/>
              <a:ext cx="9144000" cy="2057400"/>
            </a:xfrm>
            <a:prstGeom prst="rect">
              <a:avLst/>
            </a:prstGeom>
          </p:spPr>
        </p:pic>
        <p:sp>
          <p:nvSpPr>
            <p:cNvPr id="17" name="cartoon_title_badge">
              <a:extLst>
                <a:ext uri="{FF2B5EF4-FFF2-40B4-BE49-F238E27FC236}">
                  <a16:creationId xmlns:a16="http://schemas.microsoft.com/office/drawing/2014/main" id="{F8A878C2-5D64-4FAB-9E96-96B704E101B7}"/>
                </a:ext>
              </a:extLst>
            </p:cNvPr>
            <p:cNvSpPr/>
            <p:nvPr/>
          </p:nvSpPr>
          <p:spPr>
            <a:xfrm>
              <a:off x="1524000" y="1371600"/>
              <a:ext cx="9144000" cy="20574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Title 1">
              <a:extLst>
                <a:ext uri="{FF2B5EF4-FFF2-40B4-BE49-F238E27FC236}">
                  <a16:creationId xmlns:a16="http://schemas.microsoft.com/office/drawing/2014/main" id="{7F3C45F0-0D15-3C56-8F9F-AFB5662FEDA6}"/>
                </a:ext>
              </a:extLst>
            </p:cNvPr>
            <p:cNvSpPr>
              <a:spLocks noGrp="1"/>
            </p:cNvSpPr>
            <p:nvPr>
              <p:ph type="ctrTitle"/>
            </p:nvPr>
          </p:nvSpPr>
          <p:spPr>
            <a:xfrm>
              <a:off x="1828800" y="1524000"/>
              <a:ext cx="8534400" cy="1752600"/>
            </a:xfrm>
          </p:spPr>
          <p:txBody>
            <a:bodyPr>
              <a:normAutofit/>
            </a:bodyPr>
            <a:lstStyle/>
            <a:p>
              <a:pPr algn="l"/>
              <a:r>
                <a:rPr lang="en-GB" sz="352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Magnus Ahlkvist</a:t>
              </a:r>
              <a:endParaRPr lang="en-US" sz="3520" b="1">
                <a:solidFill>
                  <a:srgbClr val="1A1A1A"/>
                </a:solidFill>
                <a:latin typeface="Comic Sans MS" panose="030F0702030302020204" pitchFamily="66" charset="0"/>
              </a:endParaRPr>
            </a:p>
          </p:txBody>
        </p:sp>
      </p:grpSp>
      <p:pic>
        <p:nvPicPr>
          <p:cNvPr id="19" name="Picture 19" descr="Person profile icon">
            <a:extLst>
              <a:ext uri="{FF2B5EF4-FFF2-40B4-BE49-F238E27FC236}">
                <a16:creationId xmlns:a16="http://schemas.microsoft.com/office/drawing/2014/main" id="{BE5255DF-A0B4-4471-B40E-98F08CD89DF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0945" y="772714"/>
            <a:ext cx="914400" cy="914400"/>
          </a:xfrm>
          <a:prstGeom prst="rect">
            <a:avLst/>
          </a:prstGeom>
        </p:spPr>
      </p:pic>
      <p:pic>
        <p:nvPicPr>
          <p:cNvPr id="8" name="Picture 7" descr="Edit the existing image into a cartoon-inspired illustration: keep the same composition of a standing person in side-profile silhouette on the left, simplify into clean vector-like shapes with bold black outline, add soft pastel background with gentle wavy pattern, flat colors, minimal shading, playful modern cartoon look, no text, maintain high contrast and readability.">
            <a:extLst>
              <a:ext uri="{FF2B5EF4-FFF2-40B4-BE49-F238E27FC236}">
                <a16:creationId xmlns:a16="http://schemas.microsoft.com/office/drawing/2014/main" id="{854EF8E6-313D-CAAC-86FE-0FE6489D2ACA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3304" r="3304"/>
          <a:stretch/>
        </p:blipFill>
        <p:spPr>
          <a:xfrm>
            <a:off x="0" y="0"/>
            <a:ext cx="42699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94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0CD10646-C3D8-5E43-3BBB-565BA5679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>
                <a:latin typeface="Comic Sans MS" panose="030F0702030302020204" pitchFamily="66" charset="0"/>
              </a:rPr>
              <a:t>To </a:t>
            </a:r>
            <a:r>
              <a:rPr lang="sv-SE" err="1">
                <a:latin typeface="Comic Sans MS" panose="030F0702030302020204" pitchFamily="66" charset="0"/>
              </a:rPr>
              <a:t>upgrade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database</a:t>
            </a:r>
            <a:r>
              <a:rPr lang="sv-SE">
                <a:latin typeface="Comic Sans MS" panose="030F0702030302020204" pitchFamily="66" charset="0"/>
              </a:rPr>
              <a:t> from version 1 to version 7, </a:t>
            </a:r>
            <a:r>
              <a:rPr lang="sv-SE" err="1">
                <a:latin typeface="Comic Sans MS" panose="030F0702030302020204" pitchFamily="66" charset="0"/>
              </a:rPr>
              <a:t>run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upgrade</a:t>
            </a:r>
            <a:r>
              <a:rPr lang="sv-SE">
                <a:latin typeface="Comic Sans MS" panose="030F0702030302020204" pitchFamily="66" charset="0"/>
              </a:rPr>
              <a:t> scripts for versions 2, 3, 4, 5, 6 and 7.</a:t>
            </a:r>
          </a:p>
          <a:p>
            <a:r>
              <a:rPr lang="sv-SE" err="1">
                <a:latin typeface="Comic Sans MS" panose="030F0702030302020204" pitchFamily="66" charset="0"/>
              </a:rPr>
              <a:t>Often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together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with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some</a:t>
            </a:r>
            <a:r>
              <a:rPr lang="sv-SE">
                <a:latin typeface="Comic Sans MS" panose="030F0702030302020204" pitchFamily="66" charset="0"/>
              </a:rPr>
              <a:t> sort </a:t>
            </a:r>
            <a:r>
              <a:rPr lang="sv-SE" err="1">
                <a:latin typeface="Comic Sans MS" panose="030F0702030302020204" pitchFamily="66" charset="0"/>
              </a:rPr>
              <a:t>of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SchemaVersions</a:t>
            </a:r>
            <a:r>
              <a:rPr lang="sv-SE">
                <a:latin typeface="Comic Sans MS" panose="030F0702030302020204" pitchFamily="66" charset="0"/>
              </a:rPr>
              <a:t> table.</a:t>
            </a:r>
          </a:p>
          <a:p>
            <a:pPr lvl="1"/>
            <a:r>
              <a:rPr lang="sv-SE" err="1">
                <a:latin typeface="Comic Sans MS" panose="030F0702030302020204" pitchFamily="66" charset="0"/>
              </a:rPr>
              <a:t>Entity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Framework</a:t>
            </a:r>
            <a:r>
              <a:rPr lang="sv-SE">
                <a:latin typeface="Comic Sans MS" panose="030F0702030302020204" pitchFamily="66" charset="0"/>
              </a:rPr>
              <a:t> migrations</a:t>
            </a:r>
          </a:p>
          <a:p>
            <a:pPr lvl="1"/>
            <a:r>
              <a:rPr lang="sv-SE" err="1">
                <a:latin typeface="Comic Sans MS" panose="030F0702030302020204" pitchFamily="66" charset="0"/>
              </a:rPr>
              <a:t>Flyway</a:t>
            </a:r>
            <a:endParaRPr lang="sv-SE">
              <a:latin typeface="Comic Sans MS" panose="030F0702030302020204" pitchFamily="66" charset="0"/>
            </a:endParaRPr>
          </a:p>
          <a:p>
            <a:pPr lvl="1"/>
            <a:r>
              <a:rPr lang="sv-SE" err="1">
                <a:latin typeface="Comic Sans MS" panose="030F0702030302020204" pitchFamily="66" charset="0"/>
              </a:rPr>
              <a:t>Liquibase</a:t>
            </a:r>
            <a:endParaRPr lang="sv-SE">
              <a:latin typeface="Comic Sans MS" panose="030F0702030302020204" pitchFamily="66" charset="0"/>
            </a:endParaRPr>
          </a:p>
          <a:p>
            <a:pPr lvl="1"/>
            <a:r>
              <a:rPr lang="sv-SE" err="1">
                <a:latin typeface="Comic Sans MS" panose="030F0702030302020204" pitchFamily="66" charset="0"/>
              </a:rPr>
              <a:t>DbUp</a:t>
            </a:r>
            <a:endParaRPr lang="sv-SE">
              <a:latin typeface="Comic Sans MS" panose="030F0702030302020204" pitchFamily="66" charset="0"/>
            </a:endParaRPr>
          </a:p>
          <a:p>
            <a:pPr lvl="1"/>
            <a:r>
              <a:rPr lang="sv-SE" err="1">
                <a:latin typeface="Comic Sans MS" panose="030F0702030302020204" pitchFamily="66" charset="0"/>
              </a:rPr>
              <a:t>Many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more</a:t>
            </a:r>
            <a:endParaRPr lang="sv-SE">
              <a:latin typeface="Comic Sans MS" panose="030F0702030302020204" pitchFamily="66" charset="0"/>
            </a:endParaRPr>
          </a:p>
          <a:p>
            <a:r>
              <a:rPr lang="sv-SE" err="1">
                <a:latin typeface="Comic Sans MS" panose="030F0702030302020204" pitchFamily="66" charset="0"/>
              </a:rPr>
              <a:t>Often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idempotent</a:t>
            </a:r>
            <a:r>
              <a:rPr lang="sv-SE">
                <a:latin typeface="Comic Sans MS" panose="030F0702030302020204" pitchFamily="66" charset="0"/>
              </a:rPr>
              <a:t> scripts</a:t>
            </a:r>
          </a:p>
          <a:p>
            <a:pPr lvl="1"/>
            <a:r>
              <a:rPr lang="sv-SE">
                <a:latin typeface="Comic Sans MS" panose="030F0702030302020204" pitchFamily="66" charset="0"/>
              </a:rPr>
              <a:t>Most </a:t>
            </a:r>
            <a:r>
              <a:rPr lang="sv-SE" err="1">
                <a:latin typeface="Comic Sans MS" panose="030F0702030302020204" pitchFamily="66" charset="0"/>
              </a:rPr>
              <a:t>often</a:t>
            </a:r>
            <a:r>
              <a:rPr lang="sv-SE">
                <a:latin typeface="Comic Sans MS" panose="030F0702030302020204" pitchFamily="66" charset="0"/>
              </a:rPr>
              <a:t> to </a:t>
            </a:r>
            <a:r>
              <a:rPr lang="sv-SE" err="1">
                <a:latin typeface="Comic Sans MS" panose="030F0702030302020204" pitchFamily="66" charset="0"/>
              </a:rPr>
              <a:t>avoid</a:t>
            </a:r>
            <a:r>
              <a:rPr lang="sv-SE">
                <a:latin typeface="Comic Sans MS" panose="030F0702030302020204" pitchFamily="66" charset="0"/>
              </a:rPr>
              <a:t> problems </a:t>
            </a:r>
            <a:r>
              <a:rPr lang="sv-SE" err="1">
                <a:latin typeface="Comic Sans MS" panose="030F0702030302020204" pitchFamily="66" charset="0"/>
              </a:rPr>
              <a:t>when</a:t>
            </a:r>
            <a:r>
              <a:rPr lang="sv-SE">
                <a:latin typeface="Comic Sans MS" panose="030F0702030302020204" pitchFamily="66" charset="0"/>
              </a:rPr>
              <a:t> old-</a:t>
            </a:r>
            <a:r>
              <a:rPr lang="sv-SE" err="1">
                <a:latin typeface="Comic Sans MS" panose="030F0702030302020204" pitchFamily="66" charset="0"/>
              </a:rPr>
              <a:t>school</a:t>
            </a:r>
            <a:r>
              <a:rPr lang="sv-SE">
                <a:latin typeface="Comic Sans MS" panose="030F0702030302020204" pitchFamily="66" charset="0"/>
              </a:rPr>
              <a:t> manual </a:t>
            </a:r>
            <a:r>
              <a:rPr lang="sv-SE" err="1">
                <a:latin typeface="Comic Sans MS" panose="030F0702030302020204" pitchFamily="66" charset="0"/>
              </a:rPr>
              <a:t>deploys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happened</a:t>
            </a:r>
            <a:endParaRPr lang="sv-SE">
              <a:latin typeface="Comic Sans MS" panose="030F0702030302020204" pitchFamily="66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FC78F8-69C1-911D-29E5-23C8DCC0094B}"/>
              </a:ext>
            </a:extLst>
          </p:cNvPr>
          <p:cNvSpPr txBox="1"/>
          <p:nvPr/>
        </p:nvSpPr>
        <p:spPr>
          <a:xfrm rot="21035740">
            <a:off x="3694839" y="3513529"/>
            <a:ext cx="8062190" cy="646331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sv-SE">
                <a:latin typeface="Comic Sans MS" panose="030F0702030302020204" pitchFamily="66" charset="0"/>
              </a:rPr>
              <a:t>Migrations </a:t>
            </a:r>
            <a:r>
              <a:rPr lang="sv-SE" err="1">
                <a:latin typeface="Comic Sans MS" panose="030F0702030302020204" pitchFamily="66" charset="0"/>
              </a:rPr>
              <a:t>based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deployments</a:t>
            </a:r>
            <a:r>
              <a:rPr lang="sv-SE">
                <a:latin typeface="Comic Sans MS" panose="030F0702030302020204" pitchFamily="66" charset="0"/>
              </a:rPr>
              <a:t>. </a:t>
            </a:r>
            <a:r>
              <a:rPr lang="sv-SE" err="1">
                <a:latin typeface="Comic Sans MS" panose="030F0702030302020204" pitchFamily="66" charset="0"/>
              </a:rPr>
              <a:t>What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they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are</a:t>
            </a:r>
            <a:r>
              <a:rPr lang="sv-SE">
                <a:latin typeface="Comic Sans MS" panose="030F0702030302020204" pitchFamily="66" charset="0"/>
              </a:rPr>
              <a:t> and </a:t>
            </a:r>
            <a:r>
              <a:rPr lang="sv-SE" err="1">
                <a:latin typeface="Comic Sans MS" panose="030F0702030302020204" pitchFamily="66" charset="0"/>
              </a:rPr>
              <a:t>why</a:t>
            </a:r>
            <a:r>
              <a:rPr lang="sv-SE">
                <a:latin typeface="Comic Sans MS" panose="030F0702030302020204" pitchFamily="66" charset="0"/>
              </a:rPr>
              <a:t> I </a:t>
            </a:r>
            <a:r>
              <a:rPr lang="sv-SE" err="1">
                <a:latin typeface="Comic Sans MS" panose="030F0702030302020204" pitchFamily="66" charset="0"/>
              </a:rPr>
              <a:t>don’t</a:t>
            </a:r>
            <a:r>
              <a:rPr lang="sv-SE">
                <a:latin typeface="Comic Sans MS" panose="030F0702030302020204" pitchFamily="66" charset="0"/>
              </a:rPr>
              <a:t> like </a:t>
            </a:r>
            <a:r>
              <a:rPr lang="sv-SE" err="1">
                <a:latin typeface="Comic Sans MS" panose="030F0702030302020204" pitchFamily="66" charset="0"/>
              </a:rPr>
              <a:t>them</a:t>
            </a:r>
            <a:r>
              <a:rPr lang="sv-SE">
                <a:latin typeface="Comic Sans MS" panose="030F0702030302020204" pitchFamily="66" charset="0"/>
              </a:rPr>
              <a:t>.</a:t>
            </a:r>
          </a:p>
          <a:p>
            <a:r>
              <a:rPr lang="sv-SE">
                <a:latin typeface="Comic Sans MS" panose="030F0702030302020204" pitchFamily="66" charset="0"/>
              </a:rPr>
              <a:t>https://www.youtube.com/watch?v=-WR-XA_1aXA</a:t>
            </a:r>
            <a:endParaRPr lang="LID4096">
              <a:latin typeface="Comic Sans MS" panose="030F0702030302020204" pitchFamily="66" charset="0"/>
            </a:endParaRPr>
          </a:p>
        </p:txBody>
      </p:sp>
      <p:grpSp>
        <p:nvGrpSpPr>
          <p:cNvPr id="7" name="title_badge_group">
            <a:extLst>
              <a:ext uri="{FF2B5EF4-FFF2-40B4-BE49-F238E27FC236}">
                <a16:creationId xmlns:a16="http://schemas.microsoft.com/office/drawing/2014/main" id="{4D2B05F6-CC7E-4319-B69C-380BD8ECBBFE}"/>
              </a:ext>
            </a:extLst>
          </p:cNvPr>
          <p:cNvGrpSpPr/>
          <p:nvPr/>
        </p:nvGrpSpPr>
        <p:grpSpPr>
          <a:xfrm>
            <a:off x="474134" y="482600"/>
            <a:ext cx="9003067" cy="1574800"/>
            <a:chOff x="474134" y="482600"/>
            <a:chExt cx="9003067" cy="1574800"/>
          </a:xfrm>
        </p:grpSpPr>
        <p:pic>
          <p:nvPicPr>
            <p:cNvPr id="5" name="wave_bg">
              <a:extLst>
                <a:ext uri="{FF2B5EF4-FFF2-40B4-BE49-F238E27FC236}">
                  <a16:creationId xmlns:a16="http://schemas.microsoft.com/office/drawing/2014/main" id="{D95717DC-C273-45A5-BBCD-DCEE5EAB05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6" name="cartoon_title_badge">
              <a:extLst>
                <a:ext uri="{FF2B5EF4-FFF2-40B4-BE49-F238E27FC236}">
                  <a16:creationId xmlns:a16="http://schemas.microsoft.com/office/drawing/2014/main" id="{8A735DB8-9B83-4C52-B383-9DEBE849B8EE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Rubrik 1">
              <a:extLst>
                <a:ext uri="{FF2B5EF4-FFF2-40B4-BE49-F238E27FC236}">
                  <a16:creationId xmlns:a16="http://schemas.microsoft.com/office/drawing/2014/main" id="{C8C65C0F-3A78-7604-0F3B-0384A0F4BDA7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/>
            </a:bodyPr>
            <a:lstStyle/>
            <a:p>
              <a:r>
                <a:rPr lang="sv-SE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Migration </a:t>
              </a:r>
              <a:r>
                <a:rPr lang="sv-SE" sz="3960" b="1" err="1">
                  <a:solidFill>
                    <a:srgbClr val="1A1A1A"/>
                  </a:solidFill>
                  <a:latin typeface="Comic Sans MS" panose="030F0702030302020204" pitchFamily="66" charset="0"/>
                </a:rPr>
                <a:t>based</a:t>
              </a:r>
              <a:r>
                <a:rPr lang="sv-SE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 </a:t>
              </a:r>
              <a:r>
                <a:rPr lang="sv-SE" sz="3960" b="1" err="1">
                  <a:solidFill>
                    <a:srgbClr val="1A1A1A"/>
                  </a:solidFill>
                  <a:latin typeface="Comic Sans MS" panose="030F0702030302020204" pitchFamily="66" charset="0"/>
                </a:rPr>
                <a:t>deployments</a:t>
              </a:r>
              <a:endParaRPr lang="sv-SE" sz="3960" b="1">
                <a:solidFill>
                  <a:srgbClr val="1A1A1A"/>
                </a:solidFill>
                <a:latin typeface="Comic Sans MS" panose="030F0702030302020204" pitchFamily="66" charset="0"/>
              </a:endParaRPr>
            </a:p>
          </p:txBody>
        </p:sp>
      </p:grpSp>
      <p:pic>
        <p:nvPicPr>
          <p:cNvPr id="8" name="Picture 8" descr="Migration arrows icon">
            <a:extLst>
              <a:ext uri="{FF2B5EF4-FFF2-40B4-BE49-F238E27FC236}">
                <a16:creationId xmlns:a16="http://schemas.microsoft.com/office/drawing/2014/main" id="{401281D0-4ED6-4BFE-B9C3-461DCE39C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2001" y="635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127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69EA7FA3-11CD-235E-4278-873E519EA4EB}"/>
              </a:ext>
            </a:extLst>
          </p:cNvPr>
          <p:cNvSpPr txBox="1"/>
          <p:nvPr/>
        </p:nvSpPr>
        <p:spPr>
          <a:xfrm>
            <a:off x="677334" y="1724085"/>
            <a:ext cx="9883140" cy="452431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sz="1800" dirty="0">
                <a:solidFill>
                  <a:srgbClr val="008000"/>
                </a:solidFill>
                <a:latin typeface="Consolas" panose="020B0609020204030204" pitchFamily="49" charset="0"/>
              </a:rPr>
              <a:t>-- </a:t>
            </a:r>
            <a:r>
              <a:rPr lang="sv-SE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Initiatialize</a:t>
            </a:r>
            <a:r>
              <a:rPr lang="sv-SE" sz="18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empty</a:t>
            </a:r>
            <a:r>
              <a:rPr lang="sv-SE" sz="18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database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DB_ID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MigrationDb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IS</a:t>
            </a:r>
            <a:r>
              <a:rPr lang="en-US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	CREATE</a:t>
            </a:r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DATABASE</a:t>
            </a:r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sv-SE" sz="1800" err="1">
                <a:solidFill>
                  <a:srgbClr val="404040"/>
                </a:solidFill>
                <a:latin typeface="Consolas" panose="020B0609020204030204" pitchFamily="49" charset="0"/>
              </a:rPr>
              <a:t>MigrationDb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sv-SE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USE</a:t>
            </a:r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sv-SE" sz="1800" err="1">
                <a:solidFill>
                  <a:srgbClr val="404040"/>
                </a:solidFill>
                <a:latin typeface="Consolas" panose="020B0609020204030204" pitchFamily="49" charset="0"/>
              </a:rPr>
              <a:t>MigrationDb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EXISTS(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FF00"/>
                </a:solidFill>
                <a:latin typeface="Consolas" panose="020B0609020204030204" pitchFamily="49" charset="0"/>
              </a:rPr>
              <a:t>sys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FF00"/>
                </a:solidFill>
                <a:latin typeface="Consolas" panose="020B0609020204030204" pitchFamily="49" charset="0"/>
              </a:rPr>
              <a:t>tables</a:t>
            </a:r>
            <a:r>
              <a:rPr lang="en-US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WHERE</a:t>
            </a:r>
            <a:r>
              <a:rPr lang="en-US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name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SchemaVersions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’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	CREATE</a:t>
            </a:r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TABLE</a:t>
            </a:r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sv-SE" sz="1800" err="1">
                <a:solidFill>
                  <a:srgbClr val="404040"/>
                </a:solidFill>
                <a:latin typeface="Consolas" panose="020B0609020204030204" pitchFamily="49" charset="0"/>
              </a:rPr>
              <a:t>dbo</a:t>
            </a:r>
            <a:r>
              <a:rPr lang="sv-SE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sv-SE" sz="1800" err="1">
                <a:solidFill>
                  <a:srgbClr val="404040"/>
                </a:solidFill>
                <a:latin typeface="Consolas" panose="020B0609020204030204" pitchFamily="49" charset="0"/>
              </a:rPr>
              <a:t>SchemaVersions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		</a:t>
            </a:r>
            <a:r>
              <a:rPr lang="sv-SE" sz="1800" err="1">
                <a:solidFill>
                  <a:srgbClr val="404040"/>
                </a:solidFill>
                <a:latin typeface="Consolas" panose="020B0609020204030204" pitchFamily="49" charset="0"/>
              </a:rPr>
              <a:t>SchemaVersion</a:t>
            </a:r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30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			CONSTRAINT</a:t>
            </a:r>
            <a:r>
              <a:rPr lang="en-US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en-US" sz="1800" err="1">
                <a:solidFill>
                  <a:srgbClr val="404040"/>
                </a:solidFill>
                <a:latin typeface="Consolas" panose="020B0609020204030204" pitchFamily="49" charset="0"/>
              </a:rPr>
              <a:t>pk_SchemaVersion</a:t>
            </a:r>
            <a:r>
              <a:rPr lang="en-US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PRIMARY</a:t>
            </a:r>
            <a:r>
              <a:rPr lang="en-US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KEY</a:t>
            </a:r>
            <a:r>
              <a:rPr lang="en-US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CLUSTERED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		</a:t>
            </a:r>
            <a:r>
              <a:rPr lang="sv-SE" sz="1800" err="1">
                <a:solidFill>
                  <a:srgbClr val="404040"/>
                </a:solidFill>
                <a:latin typeface="Consolas" panose="020B0609020204030204" pitchFamily="49" charset="0"/>
              </a:rPr>
              <a:t>Applied</a:t>
            </a:r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DATETIME</a:t>
            </a:r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sv-SE" sz="1800">
                <a:solidFill>
                  <a:srgbClr val="404040"/>
                </a:solidFill>
                <a:latin typeface="Consolas" panose="020B0609020204030204" pitchFamily="49" charset="0"/>
              </a:rPr>
              <a:t> </a:t>
            </a:r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808080"/>
                </a:solidFill>
                <a:latin typeface="Consolas" panose="020B0609020204030204" pitchFamily="49" charset="0"/>
              </a:rPr>
              <a:t>	);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sv-SE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grpSp>
        <p:nvGrpSpPr>
          <p:cNvPr id="7" name="title_badge_group">
            <a:extLst>
              <a:ext uri="{FF2B5EF4-FFF2-40B4-BE49-F238E27FC236}">
                <a16:creationId xmlns:a16="http://schemas.microsoft.com/office/drawing/2014/main" id="{12DF021F-D07B-4E79-B0C2-EA67CED9F224}"/>
              </a:ext>
            </a:extLst>
          </p:cNvPr>
          <p:cNvGrpSpPr/>
          <p:nvPr/>
        </p:nvGrpSpPr>
        <p:grpSpPr>
          <a:xfrm>
            <a:off x="474134" y="482600"/>
            <a:ext cx="9003067" cy="1574800"/>
            <a:chOff x="474134" y="482600"/>
            <a:chExt cx="9003067" cy="1574800"/>
          </a:xfrm>
        </p:grpSpPr>
        <p:pic>
          <p:nvPicPr>
            <p:cNvPr id="5" name="wave_bg">
              <a:extLst>
                <a:ext uri="{FF2B5EF4-FFF2-40B4-BE49-F238E27FC236}">
                  <a16:creationId xmlns:a16="http://schemas.microsoft.com/office/drawing/2014/main" id="{5E8500AA-BFE8-4A6C-8283-5294D4D8B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6" name="cartoon_title_badge">
              <a:extLst>
                <a:ext uri="{FF2B5EF4-FFF2-40B4-BE49-F238E27FC236}">
                  <a16:creationId xmlns:a16="http://schemas.microsoft.com/office/drawing/2014/main" id="{D2AA05FE-D36A-4B4E-BEC0-231EDB74CC97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Rubrik 1">
              <a:extLst>
                <a:ext uri="{FF2B5EF4-FFF2-40B4-BE49-F238E27FC236}">
                  <a16:creationId xmlns:a16="http://schemas.microsoft.com/office/drawing/2014/main" id="{306123B5-C240-1E22-CDE3-9130EF436A67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/>
            </a:bodyPr>
            <a:lstStyle/>
            <a:p>
              <a:r>
                <a:rPr lang="sv-SE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Migrations initialization</a:t>
              </a:r>
            </a:p>
          </p:txBody>
        </p:sp>
      </p:grpSp>
      <p:pic>
        <p:nvPicPr>
          <p:cNvPr id="8" name="Picture 8" descr="Terminal initialization icon">
            <a:extLst>
              <a:ext uri="{FF2B5EF4-FFF2-40B4-BE49-F238E27FC236}">
                <a16:creationId xmlns:a16="http://schemas.microsoft.com/office/drawing/2014/main" id="{2E50642C-31B5-407C-9EA4-5DD8459B2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2001" y="6096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647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296650-C3F7-4088-49A3-B82557DB1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dobjekt 4">
            <a:extLst>
              <a:ext uri="{FF2B5EF4-FFF2-40B4-BE49-F238E27FC236}">
                <a16:creationId xmlns:a16="http://schemas.microsoft.com/office/drawing/2014/main" id="{15A0F2E9-7E05-100D-6B85-502D84C29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414" y="0"/>
            <a:ext cx="6473739" cy="6858000"/>
          </a:xfrm>
          <a:prstGeom prst="rect">
            <a:avLst/>
          </a:prstGeom>
        </p:spPr>
      </p:pic>
      <p:grpSp>
        <p:nvGrpSpPr>
          <p:cNvPr id="8" name="title_badge_group">
            <a:extLst>
              <a:ext uri="{FF2B5EF4-FFF2-40B4-BE49-F238E27FC236}">
                <a16:creationId xmlns:a16="http://schemas.microsoft.com/office/drawing/2014/main" id="{68C49575-A173-46D7-B6A0-848211CFD8E1}"/>
              </a:ext>
            </a:extLst>
          </p:cNvPr>
          <p:cNvGrpSpPr/>
          <p:nvPr/>
        </p:nvGrpSpPr>
        <p:grpSpPr>
          <a:xfrm>
            <a:off x="474135" y="482600"/>
            <a:ext cx="2308822" cy="1574800"/>
            <a:chOff x="474134" y="482600"/>
            <a:chExt cx="9003067" cy="1574800"/>
          </a:xfrm>
        </p:grpSpPr>
        <p:pic>
          <p:nvPicPr>
            <p:cNvPr id="6" name="wave_bg">
              <a:extLst>
                <a:ext uri="{FF2B5EF4-FFF2-40B4-BE49-F238E27FC236}">
                  <a16:creationId xmlns:a16="http://schemas.microsoft.com/office/drawing/2014/main" id="{64295ADD-28E7-41C6-99CD-A40FA33DFD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7" name="cartoon_title_badge">
              <a:extLst>
                <a:ext uri="{FF2B5EF4-FFF2-40B4-BE49-F238E27FC236}">
                  <a16:creationId xmlns:a16="http://schemas.microsoft.com/office/drawing/2014/main" id="{567C2741-C50A-4DC1-B96A-C6B24D8A5747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Rubrik 1">
              <a:extLst>
                <a:ext uri="{FF2B5EF4-FFF2-40B4-BE49-F238E27FC236}">
                  <a16:creationId xmlns:a16="http://schemas.microsoft.com/office/drawing/2014/main" id="{1DCB58B6-F474-7C95-CAB4-AADBED3B55BD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 fontScale="90000"/>
            </a:bodyPr>
            <a:lstStyle/>
            <a:p>
              <a:r>
                <a:rPr lang="sv-SE" sz="3960" b="1" dirty="0">
                  <a:solidFill>
                    <a:srgbClr val="1A1A1A"/>
                  </a:solidFill>
                  <a:latin typeface="Comic Sans MS" panose="030F0702030302020204" pitchFamily="66" charset="0"/>
                </a:rPr>
                <a:t>Version 1.0.0</a:t>
              </a:r>
            </a:p>
          </p:txBody>
        </p:sp>
      </p:grpSp>
      <p:pic>
        <p:nvPicPr>
          <p:cNvPr id="9" name="Picture 9" descr="Version 1.0 rocket launch icon">
            <a:extLst>
              <a:ext uri="{FF2B5EF4-FFF2-40B4-BE49-F238E27FC236}">
                <a16:creationId xmlns:a16="http://schemas.microsoft.com/office/drawing/2014/main" id="{BF67E746-DE20-417D-B811-D512F0F2D9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9485" y="635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104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43C7FC-7A09-107A-EDC9-0909D3CAD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objekt 3">
            <a:extLst>
              <a:ext uri="{FF2B5EF4-FFF2-40B4-BE49-F238E27FC236}">
                <a16:creationId xmlns:a16="http://schemas.microsoft.com/office/drawing/2014/main" id="{6BEEE4E5-0E15-AA43-E170-E7E55D31C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0028" y="609600"/>
            <a:ext cx="6289616" cy="5470194"/>
          </a:xfrm>
          <a:prstGeom prst="rect">
            <a:avLst/>
          </a:prstGeom>
        </p:spPr>
      </p:pic>
      <p:grpSp>
        <p:nvGrpSpPr>
          <p:cNvPr id="7" name="title_badge_group">
            <a:extLst>
              <a:ext uri="{FF2B5EF4-FFF2-40B4-BE49-F238E27FC236}">
                <a16:creationId xmlns:a16="http://schemas.microsoft.com/office/drawing/2014/main" id="{79BD2E31-646C-4438-A170-0C526073A8D3}"/>
              </a:ext>
            </a:extLst>
          </p:cNvPr>
          <p:cNvGrpSpPr/>
          <p:nvPr/>
        </p:nvGrpSpPr>
        <p:grpSpPr>
          <a:xfrm>
            <a:off x="474134" y="482600"/>
            <a:ext cx="2348579" cy="1574800"/>
            <a:chOff x="474134" y="482600"/>
            <a:chExt cx="9003067" cy="1574800"/>
          </a:xfrm>
        </p:grpSpPr>
        <p:pic>
          <p:nvPicPr>
            <p:cNvPr id="5" name="wave_bg">
              <a:extLst>
                <a:ext uri="{FF2B5EF4-FFF2-40B4-BE49-F238E27FC236}">
                  <a16:creationId xmlns:a16="http://schemas.microsoft.com/office/drawing/2014/main" id="{10E7A987-1523-41E3-9FEC-17BB27DAD1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6" name="cartoon_title_badge">
              <a:extLst>
                <a:ext uri="{FF2B5EF4-FFF2-40B4-BE49-F238E27FC236}">
                  <a16:creationId xmlns:a16="http://schemas.microsoft.com/office/drawing/2014/main" id="{34CE2C08-89CA-4AA6-A736-031F25DEE885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Rubrik 1">
              <a:extLst>
                <a:ext uri="{FF2B5EF4-FFF2-40B4-BE49-F238E27FC236}">
                  <a16:creationId xmlns:a16="http://schemas.microsoft.com/office/drawing/2014/main" id="{9B7B1F15-2E6C-2333-CBE7-DE22736854C6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 fontScale="90000"/>
            </a:bodyPr>
            <a:lstStyle/>
            <a:p>
              <a:r>
                <a:rPr lang="sv-SE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Version 1.1.0</a:t>
              </a:r>
            </a:p>
          </p:txBody>
        </p:sp>
      </p:grpSp>
      <p:pic>
        <p:nvPicPr>
          <p:cNvPr id="8" name="Picture 8" descr="Version update icon">
            <a:extLst>
              <a:ext uri="{FF2B5EF4-FFF2-40B4-BE49-F238E27FC236}">
                <a16:creationId xmlns:a16="http://schemas.microsoft.com/office/drawing/2014/main" id="{F66D5CF0-8E3E-4BA6-8CD6-0BA706271A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9170" y="635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49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56CB45-0FED-AB92-18B7-D6035CE0D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dobjekt 4">
            <a:extLst>
              <a:ext uri="{FF2B5EF4-FFF2-40B4-BE49-F238E27FC236}">
                <a16:creationId xmlns:a16="http://schemas.microsoft.com/office/drawing/2014/main" id="{56D2E51E-E6AB-AC40-D569-664A64441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116" y="609600"/>
            <a:ext cx="6478854" cy="5680512"/>
          </a:xfrm>
          <a:prstGeom prst="rect">
            <a:avLst/>
          </a:prstGeom>
        </p:spPr>
      </p:pic>
      <p:grpSp>
        <p:nvGrpSpPr>
          <p:cNvPr id="8" name="title_badge_group">
            <a:extLst>
              <a:ext uri="{FF2B5EF4-FFF2-40B4-BE49-F238E27FC236}">
                <a16:creationId xmlns:a16="http://schemas.microsoft.com/office/drawing/2014/main" id="{489056B7-A04E-4E94-ADB5-9BC8CFB25523}"/>
              </a:ext>
            </a:extLst>
          </p:cNvPr>
          <p:cNvGrpSpPr/>
          <p:nvPr/>
        </p:nvGrpSpPr>
        <p:grpSpPr>
          <a:xfrm>
            <a:off x="474134" y="482600"/>
            <a:ext cx="2298015" cy="1574800"/>
            <a:chOff x="474134" y="482600"/>
            <a:chExt cx="9003067" cy="1574800"/>
          </a:xfrm>
        </p:grpSpPr>
        <p:pic>
          <p:nvPicPr>
            <p:cNvPr id="6" name="wave_bg">
              <a:extLst>
                <a:ext uri="{FF2B5EF4-FFF2-40B4-BE49-F238E27FC236}">
                  <a16:creationId xmlns:a16="http://schemas.microsoft.com/office/drawing/2014/main" id="{3B056614-B036-430E-BE2A-E16D86BBD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7" name="cartoon_title_badge">
              <a:extLst>
                <a:ext uri="{FF2B5EF4-FFF2-40B4-BE49-F238E27FC236}">
                  <a16:creationId xmlns:a16="http://schemas.microsoft.com/office/drawing/2014/main" id="{ACCDC2AC-07CB-43C1-A574-FC82D4A044F6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Rubrik 1">
              <a:extLst>
                <a:ext uri="{FF2B5EF4-FFF2-40B4-BE49-F238E27FC236}">
                  <a16:creationId xmlns:a16="http://schemas.microsoft.com/office/drawing/2014/main" id="{DEC8900D-BCFA-CE4B-83F1-3C9668EBF241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 fontScale="90000"/>
            </a:bodyPr>
            <a:lstStyle/>
            <a:p>
              <a:r>
                <a:rPr lang="sv-SE" sz="3960" b="1" dirty="0">
                  <a:solidFill>
                    <a:srgbClr val="1A1A1A"/>
                  </a:solidFill>
                  <a:latin typeface="Comic Sans MS" panose="030F0702030302020204" pitchFamily="66" charset="0"/>
                </a:rPr>
                <a:t>Version 1.2.0</a:t>
              </a:r>
            </a:p>
          </p:txBody>
        </p:sp>
      </p:grpSp>
      <p:pic>
        <p:nvPicPr>
          <p:cNvPr id="9" name="Picture 9" descr="Version update icon">
            <a:extLst>
              <a:ext uri="{FF2B5EF4-FFF2-40B4-BE49-F238E27FC236}">
                <a16:creationId xmlns:a16="http://schemas.microsoft.com/office/drawing/2014/main" id="{3CDA7FCE-EF81-46A3-8EAE-577C2C6EF6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0932" y="6096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0087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2D2805-BF0E-C045-BFF8-12A430A10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latin typeface="Comic Sans MS" panose="030F0702030302020204" pitchFamily="66" charset="0"/>
              </a:rPr>
              <a:t>Migrations</a:t>
            </a:r>
            <a:endParaRPr lang="LID4096">
              <a:latin typeface="Comic Sans MS" panose="030F0702030302020204" pitchFamily="66" charset="0"/>
            </a:endParaRPr>
          </a:p>
        </p:txBody>
      </p:sp>
      <p:grpSp>
        <p:nvGrpSpPr>
          <p:cNvPr id="6" name="title_badge_group">
            <a:extLst>
              <a:ext uri="{FF2B5EF4-FFF2-40B4-BE49-F238E27FC236}">
                <a16:creationId xmlns:a16="http://schemas.microsoft.com/office/drawing/2014/main" id="{A0CB9375-6A5B-414C-9F9D-A9A607AFADA6}"/>
              </a:ext>
            </a:extLst>
          </p:cNvPr>
          <p:cNvGrpSpPr/>
          <p:nvPr/>
        </p:nvGrpSpPr>
        <p:grpSpPr>
          <a:xfrm>
            <a:off x="474134" y="482600"/>
            <a:ext cx="9003067" cy="1574800"/>
            <a:chOff x="474134" y="482600"/>
            <a:chExt cx="9003067" cy="1574800"/>
          </a:xfrm>
        </p:grpSpPr>
        <p:pic>
          <p:nvPicPr>
            <p:cNvPr id="4" name="wave_bg">
              <a:extLst>
                <a:ext uri="{FF2B5EF4-FFF2-40B4-BE49-F238E27FC236}">
                  <a16:creationId xmlns:a16="http://schemas.microsoft.com/office/drawing/2014/main" id="{873EA090-739B-4135-BCB9-1F274965D5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5" name="cartoon_title_badge">
              <a:extLst>
                <a:ext uri="{FF2B5EF4-FFF2-40B4-BE49-F238E27FC236}">
                  <a16:creationId xmlns:a16="http://schemas.microsoft.com/office/drawing/2014/main" id="{9AFA9FE4-14A6-4182-BF6A-81F7D536D7D6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Title 1">
              <a:extLst>
                <a:ext uri="{FF2B5EF4-FFF2-40B4-BE49-F238E27FC236}">
                  <a16:creationId xmlns:a16="http://schemas.microsoft.com/office/drawing/2014/main" id="{6C4B0CC8-6C08-B949-7F94-6E6B5C4DAC15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/>
            </a:bodyPr>
            <a:lstStyle/>
            <a:p>
              <a:r>
                <a:rPr lang="en-GB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Short demo</a:t>
              </a:r>
              <a:endParaRPr lang="LID4096" sz="3960" b="1">
                <a:solidFill>
                  <a:srgbClr val="1A1A1A"/>
                </a:solidFill>
                <a:latin typeface="Comic Sans MS" panose="030F0702030302020204" pitchFamily="66" charset="0"/>
              </a:endParaRPr>
            </a:p>
          </p:txBody>
        </p:sp>
      </p:grpSp>
      <p:pic>
        <p:nvPicPr>
          <p:cNvPr id="7" name="Picture 7" descr="Demo play button icon">
            <a:extLst>
              <a:ext uri="{FF2B5EF4-FFF2-40B4-BE49-F238E27FC236}">
                <a16:creationId xmlns:a16="http://schemas.microsoft.com/office/drawing/2014/main" id="{4A8229C0-CDF8-45D3-A8F6-9F742C3437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2001" y="635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0472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D1539999-38DF-6F25-D7AF-B1B5659547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 err="1">
                <a:latin typeface="Comic Sans MS" panose="030F0702030302020204" pitchFamily="66" charset="0"/>
              </a:rPr>
              <a:t>Create</a:t>
            </a:r>
            <a:r>
              <a:rPr lang="sv-SE">
                <a:latin typeface="Comic Sans MS" panose="030F0702030302020204" pitchFamily="66" charset="0"/>
              </a:rPr>
              <a:t> a data </a:t>
            </a:r>
            <a:r>
              <a:rPr lang="sv-SE" err="1">
                <a:latin typeface="Comic Sans MS" panose="030F0702030302020204" pitchFamily="66" charset="0"/>
              </a:rPr>
              <a:t>model</a:t>
            </a:r>
            <a:r>
              <a:rPr lang="sv-SE">
                <a:latin typeface="Comic Sans MS" panose="030F0702030302020204" pitchFamily="66" charset="0"/>
              </a:rPr>
              <a:t> in </a:t>
            </a:r>
            <a:r>
              <a:rPr lang="sv-SE" err="1">
                <a:latin typeface="Comic Sans MS" panose="030F0702030302020204" pitchFamily="66" charset="0"/>
              </a:rPr>
              <a:t>code</a:t>
            </a:r>
            <a:endParaRPr lang="sv-SE">
              <a:latin typeface="Comic Sans MS" panose="030F0702030302020204" pitchFamily="66" charset="0"/>
            </a:endParaRPr>
          </a:p>
          <a:p>
            <a:pPr lvl="1"/>
            <a:r>
              <a:rPr lang="sv-SE">
                <a:latin typeface="Comic Sans MS" panose="030F0702030302020204" pitchFamily="66" charset="0"/>
              </a:rPr>
              <a:t>SSDT </a:t>
            </a:r>
            <a:r>
              <a:rPr lang="sv-SE" err="1">
                <a:latin typeface="Comic Sans MS" panose="030F0702030302020204" pitchFamily="66" charset="0"/>
              </a:rPr>
              <a:t>Database</a:t>
            </a:r>
            <a:r>
              <a:rPr lang="sv-SE">
                <a:latin typeface="Comic Sans MS" panose="030F0702030302020204" pitchFamily="66" charset="0"/>
              </a:rPr>
              <a:t> Projects</a:t>
            </a:r>
          </a:p>
          <a:p>
            <a:pPr lvl="1"/>
            <a:r>
              <a:rPr lang="sv-SE">
                <a:latin typeface="Comic Sans MS" panose="030F0702030302020204" pitchFamily="66" charset="0"/>
              </a:rPr>
              <a:t>SDK Style </a:t>
            </a:r>
            <a:r>
              <a:rPr lang="sv-SE" err="1">
                <a:latin typeface="Comic Sans MS" panose="030F0702030302020204" pitchFamily="66" charset="0"/>
              </a:rPr>
              <a:t>Database</a:t>
            </a:r>
            <a:r>
              <a:rPr lang="sv-SE">
                <a:latin typeface="Comic Sans MS" panose="030F0702030302020204" pitchFamily="66" charset="0"/>
              </a:rPr>
              <a:t> Projects</a:t>
            </a:r>
          </a:p>
          <a:p>
            <a:r>
              <a:rPr lang="sv-SE" err="1">
                <a:latin typeface="Comic Sans MS" panose="030F0702030302020204" pitchFamily="66" charset="0"/>
              </a:rPr>
              <a:t>Compile</a:t>
            </a:r>
            <a:r>
              <a:rPr lang="sv-SE">
                <a:latin typeface="Comic Sans MS" panose="030F0702030302020204" pitchFamily="66" charset="0"/>
              </a:rPr>
              <a:t> the </a:t>
            </a:r>
            <a:r>
              <a:rPr lang="sv-SE" err="1">
                <a:latin typeface="Comic Sans MS" panose="030F0702030302020204" pitchFamily="66" charset="0"/>
              </a:rPr>
              <a:t>model</a:t>
            </a:r>
            <a:r>
              <a:rPr lang="sv-SE">
                <a:latin typeface="Comic Sans MS" panose="030F0702030302020204" pitchFamily="66" charset="0"/>
              </a:rPr>
              <a:t> to a </a:t>
            </a:r>
            <a:r>
              <a:rPr lang="sv-SE" err="1">
                <a:latin typeface="Comic Sans MS" panose="030F0702030302020204" pitchFamily="66" charset="0"/>
              </a:rPr>
              <a:t>dacpac</a:t>
            </a:r>
            <a:endParaRPr lang="sv-SE">
              <a:latin typeface="Comic Sans MS" panose="030F0702030302020204" pitchFamily="66" charset="0"/>
            </a:endParaRPr>
          </a:p>
          <a:p>
            <a:pPr lvl="1"/>
            <a:r>
              <a:rPr lang="sv-SE" err="1">
                <a:latin typeface="Comic Sans MS" panose="030F0702030302020204" pitchFamily="66" charset="0"/>
              </a:rPr>
              <a:t>sqlpackage</a:t>
            </a:r>
            <a:r>
              <a:rPr lang="sv-SE">
                <a:latin typeface="Comic Sans MS" panose="030F0702030302020204" pitchFamily="66" charset="0"/>
              </a:rPr>
              <a:t> </a:t>
            </a:r>
          </a:p>
          <a:p>
            <a:pPr lvl="1"/>
            <a:r>
              <a:rPr lang="sv-SE">
                <a:latin typeface="Comic Sans MS" panose="030F0702030302020204" pitchFamily="66" charset="0"/>
              </a:rPr>
              <a:t>dotnet </a:t>
            </a:r>
            <a:r>
              <a:rPr lang="sv-SE" err="1">
                <a:latin typeface="Comic Sans MS" panose="030F0702030302020204" pitchFamily="66" charset="0"/>
              </a:rPr>
              <a:t>build</a:t>
            </a:r>
            <a:endParaRPr lang="sv-SE">
              <a:latin typeface="Comic Sans MS" panose="030F0702030302020204" pitchFamily="66" charset="0"/>
            </a:endParaRPr>
          </a:p>
          <a:p>
            <a:r>
              <a:rPr lang="sv-SE" err="1">
                <a:latin typeface="Comic Sans MS" panose="030F0702030302020204" pitchFamily="66" charset="0"/>
              </a:rPr>
              <a:t>Deploy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using</a:t>
            </a:r>
            <a:r>
              <a:rPr lang="sv-SE">
                <a:latin typeface="Comic Sans MS" panose="030F0702030302020204" pitchFamily="66" charset="0"/>
              </a:rPr>
              <a:t> a </a:t>
            </a:r>
            <a:r>
              <a:rPr lang="sv-SE" err="1">
                <a:latin typeface="Comic Sans MS" panose="030F0702030302020204" pitchFamily="66" charset="0"/>
              </a:rPr>
              <a:t>tool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that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can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compare</a:t>
            </a:r>
            <a:r>
              <a:rPr lang="sv-SE">
                <a:latin typeface="Comic Sans MS" panose="030F0702030302020204" pitchFamily="66" charset="0"/>
              </a:rPr>
              <a:t> the </a:t>
            </a:r>
            <a:r>
              <a:rPr lang="sv-SE" err="1">
                <a:latin typeface="Comic Sans MS" panose="030F0702030302020204" pitchFamily="66" charset="0"/>
              </a:rPr>
              <a:t>model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with</a:t>
            </a:r>
            <a:r>
              <a:rPr lang="sv-SE">
                <a:latin typeface="Comic Sans MS" panose="030F0702030302020204" pitchFamily="66" charset="0"/>
              </a:rPr>
              <a:t> the </a:t>
            </a:r>
            <a:r>
              <a:rPr lang="sv-SE" err="1">
                <a:latin typeface="Comic Sans MS" panose="030F0702030302020204" pitchFamily="66" charset="0"/>
              </a:rPr>
              <a:t>target</a:t>
            </a:r>
            <a:r>
              <a:rPr lang="sv-SE">
                <a:latin typeface="Comic Sans MS" panose="030F0702030302020204" pitchFamily="66" charset="0"/>
              </a:rPr>
              <a:t> data </a:t>
            </a:r>
            <a:r>
              <a:rPr lang="sv-SE" err="1">
                <a:latin typeface="Comic Sans MS" panose="030F0702030302020204" pitchFamily="66" charset="0"/>
              </a:rPr>
              <a:t>model</a:t>
            </a:r>
            <a:r>
              <a:rPr lang="sv-SE">
                <a:latin typeface="Comic Sans MS" panose="030F0702030302020204" pitchFamily="66" charset="0"/>
              </a:rPr>
              <a:t> and make </a:t>
            </a:r>
            <a:r>
              <a:rPr lang="sv-SE" err="1">
                <a:latin typeface="Comic Sans MS" panose="030F0702030302020204" pitchFamily="66" charset="0"/>
              </a:rPr>
              <a:t>corrections</a:t>
            </a:r>
            <a:r>
              <a:rPr lang="sv-SE">
                <a:latin typeface="Comic Sans MS" panose="030F0702030302020204" pitchFamily="66" charset="0"/>
              </a:rPr>
              <a:t> to the </a:t>
            </a:r>
            <a:r>
              <a:rPr lang="sv-SE" err="1">
                <a:latin typeface="Comic Sans MS" panose="030F0702030302020204" pitchFamily="66" charset="0"/>
              </a:rPr>
              <a:t>target</a:t>
            </a:r>
            <a:endParaRPr lang="sv-SE">
              <a:latin typeface="Comic Sans MS" panose="030F0702030302020204" pitchFamily="66" charset="0"/>
            </a:endParaRPr>
          </a:p>
          <a:p>
            <a:pPr lvl="1"/>
            <a:r>
              <a:rPr lang="sv-SE" err="1">
                <a:latin typeface="Comic Sans MS" panose="030F0702030302020204" pitchFamily="66" charset="0"/>
              </a:rPr>
              <a:t>Sqlpackage</a:t>
            </a:r>
            <a:endParaRPr lang="sv-SE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sv-SE">
              <a:latin typeface="Comic Sans MS" panose="030F0702030302020204" pitchFamily="66" charset="0"/>
            </a:endParaRPr>
          </a:p>
        </p:txBody>
      </p:sp>
      <p:grpSp>
        <p:nvGrpSpPr>
          <p:cNvPr id="6" name="title_badge_group">
            <a:extLst>
              <a:ext uri="{FF2B5EF4-FFF2-40B4-BE49-F238E27FC236}">
                <a16:creationId xmlns:a16="http://schemas.microsoft.com/office/drawing/2014/main" id="{E96F6153-9E8D-4BF4-88E6-1409B12B21D6}"/>
              </a:ext>
            </a:extLst>
          </p:cNvPr>
          <p:cNvGrpSpPr/>
          <p:nvPr/>
        </p:nvGrpSpPr>
        <p:grpSpPr>
          <a:xfrm>
            <a:off x="474134" y="482600"/>
            <a:ext cx="9003067" cy="1574800"/>
            <a:chOff x="474134" y="482600"/>
            <a:chExt cx="9003067" cy="1574800"/>
          </a:xfrm>
        </p:grpSpPr>
        <p:pic>
          <p:nvPicPr>
            <p:cNvPr id="4" name="wave_bg">
              <a:extLst>
                <a:ext uri="{FF2B5EF4-FFF2-40B4-BE49-F238E27FC236}">
                  <a16:creationId xmlns:a16="http://schemas.microsoft.com/office/drawing/2014/main" id="{C54E2556-50C8-4ECD-BB4F-1125F28712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5" name="cartoon_title_badge">
              <a:extLst>
                <a:ext uri="{FF2B5EF4-FFF2-40B4-BE49-F238E27FC236}">
                  <a16:creationId xmlns:a16="http://schemas.microsoft.com/office/drawing/2014/main" id="{A5FD0B98-2918-4D03-948E-D774D4B37402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Rubrik 1">
              <a:extLst>
                <a:ext uri="{FF2B5EF4-FFF2-40B4-BE49-F238E27FC236}">
                  <a16:creationId xmlns:a16="http://schemas.microsoft.com/office/drawing/2014/main" id="{4BFF07C0-1EBD-0808-1199-66A4D3075621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/>
            </a:bodyPr>
            <a:lstStyle/>
            <a:p>
              <a:r>
                <a:rPr lang="sv-SE" sz="3960" b="1" err="1">
                  <a:solidFill>
                    <a:srgbClr val="1A1A1A"/>
                  </a:solidFill>
                  <a:latin typeface="Comic Sans MS" panose="030F0702030302020204" pitchFamily="66" charset="0"/>
                </a:rPr>
                <a:t>Model</a:t>
              </a:r>
              <a:r>
                <a:rPr lang="sv-SE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 </a:t>
              </a:r>
              <a:r>
                <a:rPr lang="sv-SE" sz="3960" b="1" err="1">
                  <a:solidFill>
                    <a:srgbClr val="1A1A1A"/>
                  </a:solidFill>
                  <a:latin typeface="Comic Sans MS" panose="030F0702030302020204" pitchFamily="66" charset="0"/>
                </a:rPr>
                <a:t>based</a:t>
              </a:r>
              <a:r>
                <a:rPr lang="sv-SE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 </a:t>
              </a:r>
              <a:r>
                <a:rPr lang="sv-SE" sz="3960" b="1" err="1">
                  <a:solidFill>
                    <a:srgbClr val="1A1A1A"/>
                  </a:solidFill>
                  <a:latin typeface="Comic Sans MS" panose="030F0702030302020204" pitchFamily="66" charset="0"/>
                </a:rPr>
                <a:t>deployment</a:t>
              </a:r>
              <a:endParaRPr lang="sv-SE" sz="3960" b="1">
                <a:solidFill>
                  <a:srgbClr val="1A1A1A"/>
                </a:solidFill>
                <a:latin typeface="Comic Sans MS" panose="030F0702030302020204" pitchFamily="66" charset="0"/>
              </a:endParaRPr>
            </a:p>
          </p:txBody>
        </p:sp>
      </p:grpSp>
      <p:pic>
        <p:nvPicPr>
          <p:cNvPr id="7" name="Picture 7" descr="Model deployment blueprint icon">
            <a:extLst>
              <a:ext uri="{FF2B5EF4-FFF2-40B4-BE49-F238E27FC236}">
                <a16:creationId xmlns:a16="http://schemas.microsoft.com/office/drawing/2014/main" id="{B156D89D-0A02-4DCB-ABB4-23A2398CF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2001" y="635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7182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7EB283A5-1724-8B3C-3E44-780DC660A1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 err="1">
                <a:latin typeface="Comic Sans MS" panose="030F0702030302020204" pitchFamily="66" charset="0"/>
              </a:rPr>
              <a:t>Mainly</a:t>
            </a:r>
            <a:r>
              <a:rPr lang="sv-SE">
                <a:latin typeface="Comic Sans MS" panose="030F0702030302020204" pitchFamily="66" charset="0"/>
              </a:rPr>
              <a:t> a </a:t>
            </a:r>
            <a:r>
              <a:rPr lang="sv-SE" err="1">
                <a:latin typeface="Comic Sans MS" panose="030F0702030302020204" pitchFamily="66" charset="0"/>
              </a:rPr>
              <a:t>tool</a:t>
            </a:r>
            <a:r>
              <a:rPr lang="sv-SE">
                <a:latin typeface="Comic Sans MS" panose="030F0702030302020204" pitchFamily="66" charset="0"/>
              </a:rPr>
              <a:t> for </a:t>
            </a:r>
            <a:r>
              <a:rPr lang="sv-SE" err="1">
                <a:latin typeface="Comic Sans MS" panose="030F0702030302020204" pitchFamily="66" charset="0"/>
              </a:rPr>
              <a:t>model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based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deployments</a:t>
            </a:r>
            <a:endParaRPr lang="sv-SE">
              <a:latin typeface="Comic Sans MS" panose="030F0702030302020204" pitchFamily="66" charset="0"/>
            </a:endParaRPr>
          </a:p>
          <a:p>
            <a:r>
              <a:rPr lang="sv-SE">
                <a:latin typeface="Comic Sans MS" panose="030F0702030302020204" pitchFamily="66" charset="0"/>
              </a:rPr>
              <a:t>Supports migrations </a:t>
            </a:r>
            <a:r>
              <a:rPr lang="sv-SE" err="1">
                <a:latin typeface="Comic Sans MS" panose="030F0702030302020204" pitchFamily="66" charset="0"/>
              </a:rPr>
              <a:t>with</a:t>
            </a:r>
            <a:r>
              <a:rPr lang="sv-SE">
                <a:latin typeface="Comic Sans MS" panose="030F0702030302020204" pitchFamily="66" charset="0"/>
              </a:rPr>
              <a:t> Pre- and Post </a:t>
            </a:r>
            <a:r>
              <a:rPr lang="sv-SE" err="1">
                <a:latin typeface="Comic Sans MS" panose="030F0702030302020204" pitchFamily="66" charset="0"/>
              </a:rPr>
              <a:t>Deploy</a:t>
            </a:r>
            <a:r>
              <a:rPr lang="sv-SE">
                <a:latin typeface="Comic Sans MS" panose="030F0702030302020204" pitchFamily="66" charset="0"/>
              </a:rPr>
              <a:t> scripts and </a:t>
            </a:r>
            <a:r>
              <a:rPr lang="sv-SE" err="1">
                <a:latin typeface="Comic Sans MS" panose="030F0702030302020204" pitchFamily="66" charset="0"/>
              </a:rPr>
              <a:t>refactor</a:t>
            </a:r>
            <a:r>
              <a:rPr lang="sv-SE">
                <a:latin typeface="Comic Sans MS" panose="030F0702030302020204" pitchFamily="66" charset="0"/>
              </a:rPr>
              <a:t>-log.</a:t>
            </a:r>
          </a:p>
        </p:txBody>
      </p:sp>
      <p:grpSp>
        <p:nvGrpSpPr>
          <p:cNvPr id="6" name="title_badge_group">
            <a:extLst>
              <a:ext uri="{FF2B5EF4-FFF2-40B4-BE49-F238E27FC236}">
                <a16:creationId xmlns:a16="http://schemas.microsoft.com/office/drawing/2014/main" id="{4E8F390D-D021-4A1E-8389-323D91D7CC9A}"/>
              </a:ext>
            </a:extLst>
          </p:cNvPr>
          <p:cNvGrpSpPr/>
          <p:nvPr/>
        </p:nvGrpSpPr>
        <p:grpSpPr>
          <a:xfrm>
            <a:off x="474134" y="482600"/>
            <a:ext cx="9003067" cy="1574800"/>
            <a:chOff x="474134" y="482600"/>
            <a:chExt cx="9003067" cy="1574800"/>
          </a:xfrm>
        </p:grpSpPr>
        <p:pic>
          <p:nvPicPr>
            <p:cNvPr id="4" name="wave_bg">
              <a:extLst>
                <a:ext uri="{FF2B5EF4-FFF2-40B4-BE49-F238E27FC236}">
                  <a16:creationId xmlns:a16="http://schemas.microsoft.com/office/drawing/2014/main" id="{2E523DFE-54D8-4921-8627-E0F859E83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5" name="cartoon_title_badge">
              <a:extLst>
                <a:ext uri="{FF2B5EF4-FFF2-40B4-BE49-F238E27FC236}">
                  <a16:creationId xmlns:a16="http://schemas.microsoft.com/office/drawing/2014/main" id="{D5CD06ED-014C-468A-8B58-9AA03B164253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Rubrik 1">
              <a:extLst>
                <a:ext uri="{FF2B5EF4-FFF2-40B4-BE49-F238E27FC236}">
                  <a16:creationId xmlns:a16="http://schemas.microsoft.com/office/drawing/2014/main" id="{41BD2D2D-8C5C-76A0-ADED-C851B8A4A725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/>
            </a:bodyPr>
            <a:lstStyle/>
            <a:p>
              <a:r>
                <a:rPr lang="sv-SE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SQL Server </a:t>
              </a:r>
              <a:r>
                <a:rPr lang="sv-SE" sz="3960" b="1" err="1">
                  <a:solidFill>
                    <a:srgbClr val="1A1A1A"/>
                  </a:solidFill>
                  <a:latin typeface="Comic Sans MS" panose="030F0702030302020204" pitchFamily="66" charset="0"/>
                </a:rPr>
                <a:t>Database</a:t>
              </a:r>
              <a:r>
                <a:rPr lang="sv-SE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 Projects</a:t>
              </a:r>
            </a:p>
          </p:txBody>
        </p:sp>
      </p:grpSp>
      <p:pic>
        <p:nvPicPr>
          <p:cNvPr id="7" name="Picture 7" descr="Database projects folder icon">
            <a:extLst>
              <a:ext uri="{FF2B5EF4-FFF2-40B4-BE49-F238E27FC236}">
                <a16:creationId xmlns:a16="http://schemas.microsoft.com/office/drawing/2014/main" id="{561A8751-5389-43B3-9211-084C540F4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2001" y="635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7754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4F8E6A7D-FFAA-B823-8804-EC93946E6E19}"/>
              </a:ext>
            </a:extLst>
          </p:cNvPr>
          <p:cNvSpPr/>
          <p:nvPr/>
        </p:nvSpPr>
        <p:spPr>
          <a:xfrm>
            <a:off x="7337146" y="365760"/>
            <a:ext cx="4440326" cy="2106778"/>
          </a:xfrm>
          <a:prstGeom prst="wedgeRoundRectCallout">
            <a:avLst>
              <a:gd name="adj1" fmla="val -45124"/>
              <a:gd name="adj2" fmla="val 151059"/>
              <a:gd name="adj3" fmla="val 16667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rgbClr val="404040"/>
                </a:solidFill>
                <a:latin typeface="Comic Sans MS" panose="030F0702030302020204" pitchFamily="66" charset="0"/>
              </a:rPr>
              <a:t>Warning!</a:t>
            </a:r>
          </a:p>
          <a:p>
            <a:pPr algn="ctr"/>
            <a:r>
              <a:rPr lang="en-GB" b="1" dirty="0">
                <a:solidFill>
                  <a:srgbClr val="404040"/>
                </a:solidFill>
                <a:latin typeface="Comic Sans MS" panose="030F0702030302020204" pitchFamily="66" charset="0"/>
              </a:rPr>
              <a:t>Copy/Paste of these commands from PowerPoint won’t work.</a:t>
            </a:r>
          </a:p>
          <a:p>
            <a:pPr algn="ctr"/>
            <a:r>
              <a:rPr lang="en-GB" b="1" dirty="0">
                <a:solidFill>
                  <a:srgbClr val="404040"/>
                </a:solidFill>
                <a:latin typeface="Comic Sans MS" panose="030F0702030302020204" pitchFamily="66" charset="0"/>
              </a:rPr>
              <a:t>Because hyphens are broken.</a:t>
            </a:r>
          </a:p>
          <a:p>
            <a:pPr algn="ctr"/>
            <a:r>
              <a:rPr lang="en-GB" b="1" dirty="0">
                <a:solidFill>
                  <a:srgbClr val="404040"/>
                </a:solidFill>
                <a:latin typeface="Comic Sans MS" panose="030F0702030302020204" pitchFamily="66" charset="0"/>
              </a:rPr>
              <a:t>-o is not the same as </a:t>
            </a:r>
            <a:r>
              <a:rPr lang="sv-SE" b="1" dirty="0">
                <a:solidFill>
                  <a:srgbClr val="404040"/>
                </a:solidFill>
                <a:latin typeface="Consolas" panose="020B0609020204030204" pitchFamily="49" charset="0"/>
              </a:rPr>
              <a:t>–o</a:t>
            </a:r>
            <a:endParaRPr lang="LID4096" b="1" dirty="0">
              <a:solidFill>
                <a:schemeClr val="tx1"/>
              </a:solidFill>
              <a:latin typeface="Comic Sans MS" panose="030F0702030302020204" pitchFamily="66" charset="0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7B54F8F6-6C3F-39C4-28EA-5125DF9BC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10935546" cy="3880773"/>
          </a:xfrm>
        </p:spPr>
        <p:txBody>
          <a:bodyPr>
            <a:normAutofit fontScale="92500" lnSpcReduction="20000"/>
          </a:bodyPr>
          <a:lstStyle/>
          <a:p>
            <a:r>
              <a:rPr lang="sv-SE" dirty="0">
                <a:latin typeface="Comic Sans MS" panose="030F0702030302020204" pitchFamily="66" charset="0"/>
              </a:rPr>
              <a:t>.NET </a:t>
            </a:r>
            <a:r>
              <a:rPr lang="sv-SE" dirty="0" err="1">
                <a:latin typeface="Comic Sans MS" panose="030F0702030302020204" pitchFamily="66" charset="0"/>
              </a:rPr>
              <a:t>Core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based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project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file</a:t>
            </a:r>
            <a:endParaRPr lang="sv-SE" dirty="0">
              <a:latin typeface="Comic Sans MS" panose="030F0702030302020204" pitchFamily="66" charset="0"/>
            </a:endParaRPr>
          </a:p>
          <a:p>
            <a:r>
              <a:rPr lang="sv-SE" dirty="0">
                <a:latin typeface="Comic Sans MS" panose="030F0702030302020204" pitchFamily="66" charset="0"/>
              </a:rPr>
              <a:t>Minimalistic </a:t>
            </a:r>
            <a:r>
              <a:rPr lang="sv-SE" dirty="0" err="1">
                <a:latin typeface="Comic Sans MS" panose="030F0702030302020204" pitchFamily="66" charset="0"/>
              </a:rPr>
              <a:t>project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file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compared</a:t>
            </a:r>
            <a:r>
              <a:rPr lang="sv-SE" dirty="0">
                <a:latin typeface="Comic Sans MS" panose="030F0702030302020204" pitchFamily="66" charset="0"/>
              </a:rPr>
              <a:t> to SSDT </a:t>
            </a:r>
            <a:r>
              <a:rPr lang="sv-SE" dirty="0" err="1">
                <a:latin typeface="Comic Sans MS" panose="030F0702030302020204" pitchFamily="66" charset="0"/>
              </a:rPr>
              <a:t>Database</a:t>
            </a:r>
            <a:r>
              <a:rPr lang="sv-SE" dirty="0">
                <a:latin typeface="Comic Sans MS" panose="030F0702030302020204" pitchFamily="66" charset="0"/>
              </a:rPr>
              <a:t> Project</a:t>
            </a:r>
          </a:p>
          <a:p>
            <a:r>
              <a:rPr lang="sv-SE" dirty="0" err="1">
                <a:latin typeface="Comic Sans MS" panose="030F0702030302020204" pitchFamily="66" charset="0"/>
              </a:rPr>
              <a:t>Create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using</a:t>
            </a:r>
            <a:r>
              <a:rPr lang="sv-SE" dirty="0">
                <a:latin typeface="Comic Sans MS" panose="030F0702030302020204" pitchFamily="66" charset="0"/>
              </a:rPr>
              <a:t> dotnet cli, </a:t>
            </a:r>
            <a:r>
              <a:rPr lang="sv-SE" dirty="0" err="1">
                <a:latin typeface="Comic Sans MS" panose="030F0702030302020204" pitchFamily="66" charset="0"/>
              </a:rPr>
              <a:t>Azure</a:t>
            </a:r>
            <a:r>
              <a:rPr lang="sv-SE" dirty="0">
                <a:latin typeface="Comic Sans MS" panose="030F0702030302020204" pitchFamily="66" charset="0"/>
              </a:rPr>
              <a:t> Data Studio or </a:t>
            </a:r>
            <a:r>
              <a:rPr lang="sv-SE" dirty="0" err="1">
                <a:latin typeface="Comic Sans MS" panose="030F0702030302020204" pitchFamily="66" charset="0"/>
              </a:rPr>
              <a:t>VSCode</a:t>
            </a:r>
            <a:r>
              <a:rPr lang="sv-SE" dirty="0">
                <a:latin typeface="Comic Sans MS" panose="030F0702030302020204" pitchFamily="66" charset="0"/>
              </a:rPr>
              <a:t> (or </a:t>
            </a:r>
            <a:r>
              <a:rPr lang="sv-SE" dirty="0" err="1">
                <a:latin typeface="Comic Sans MS" panose="030F0702030302020204" pitchFamily="66" charset="0"/>
              </a:rPr>
              <a:t>preview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of</a:t>
            </a:r>
            <a:r>
              <a:rPr lang="sv-SE" dirty="0">
                <a:latin typeface="Comic Sans MS" panose="030F0702030302020204" pitchFamily="66" charset="0"/>
              </a:rPr>
              <a:t> SDK Style </a:t>
            </a:r>
            <a:r>
              <a:rPr lang="sv-SE" dirty="0" err="1">
                <a:latin typeface="Comic Sans MS" panose="030F0702030302020204" pitchFamily="66" charset="0"/>
              </a:rPr>
              <a:t>projects</a:t>
            </a:r>
            <a:r>
              <a:rPr lang="sv-SE" dirty="0">
                <a:latin typeface="Comic Sans MS" panose="030F0702030302020204" pitchFamily="66" charset="0"/>
              </a:rPr>
              <a:t> in Visual Studio 2022)</a:t>
            </a:r>
          </a:p>
          <a:p>
            <a:pPr lvl="1"/>
            <a:r>
              <a:rPr lang="sv-SE" dirty="0" err="1">
                <a:latin typeface="Comic Sans MS" panose="030F0702030302020204" pitchFamily="66" charset="0"/>
              </a:rPr>
              <a:t>Install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sqlpackage</a:t>
            </a:r>
            <a:r>
              <a:rPr lang="sv-SE" dirty="0">
                <a:latin typeface="Comic Sans MS" panose="030F0702030302020204" pitchFamily="66" charset="0"/>
              </a:rPr>
              <a:t> and the </a:t>
            </a:r>
            <a:r>
              <a:rPr lang="sv-SE" dirty="0" err="1">
                <a:latin typeface="Comic Sans MS" panose="030F0702030302020204" pitchFamily="66" charset="0"/>
              </a:rPr>
              <a:t>sqlproj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project</a:t>
            </a:r>
            <a:r>
              <a:rPr lang="sv-SE" dirty="0">
                <a:latin typeface="Comic Sans MS" panose="030F0702030302020204" pitchFamily="66" charset="0"/>
              </a:rPr>
              <a:t> template</a:t>
            </a:r>
          </a:p>
          <a:p>
            <a:pPr lvl="2"/>
            <a:r>
              <a:rPr lang="sv-SE" dirty="0">
                <a:latin typeface="Consolas" panose="020B0609020204030204" pitchFamily="49" charset="0"/>
              </a:rPr>
              <a:t>dotnet </a:t>
            </a:r>
            <a:r>
              <a:rPr lang="sv-SE" dirty="0" err="1">
                <a:latin typeface="Consolas" panose="020B0609020204030204" pitchFamily="49" charset="0"/>
              </a:rPr>
              <a:t>tool</a:t>
            </a:r>
            <a:r>
              <a:rPr lang="sv-SE" dirty="0">
                <a:latin typeface="Consolas" panose="020B0609020204030204" pitchFamily="49" charset="0"/>
              </a:rPr>
              <a:t> </a:t>
            </a:r>
            <a:r>
              <a:rPr lang="sv-SE" dirty="0" err="1">
                <a:latin typeface="Consolas" panose="020B0609020204030204" pitchFamily="49" charset="0"/>
              </a:rPr>
              <a:t>install</a:t>
            </a:r>
            <a:r>
              <a:rPr lang="sv-SE" dirty="0">
                <a:latin typeface="Consolas" panose="020B0609020204030204" pitchFamily="49" charset="0"/>
              </a:rPr>
              <a:t> --global </a:t>
            </a:r>
            <a:r>
              <a:rPr lang="sv-SE" dirty="0" err="1">
                <a:latin typeface="Consolas" panose="020B0609020204030204" pitchFamily="49" charset="0"/>
              </a:rPr>
              <a:t>microsoft.sqlpackage</a:t>
            </a:r>
            <a:endParaRPr lang="sv-SE" dirty="0">
              <a:latin typeface="Consolas" panose="020B0609020204030204" pitchFamily="49" charset="0"/>
            </a:endParaRPr>
          </a:p>
          <a:p>
            <a:pPr lvl="2"/>
            <a:r>
              <a:rPr lang="sv-SE" dirty="0">
                <a:latin typeface="Consolas" panose="020B0609020204030204" pitchFamily="49" charset="0"/>
              </a:rPr>
              <a:t>dotnet new </a:t>
            </a:r>
            <a:r>
              <a:rPr lang="sv-SE" dirty="0" err="1">
                <a:latin typeface="Consolas" panose="020B0609020204030204" pitchFamily="49" charset="0"/>
              </a:rPr>
              <a:t>install</a:t>
            </a:r>
            <a:r>
              <a:rPr lang="sv-SE" dirty="0">
                <a:latin typeface="Consolas" panose="020B0609020204030204" pitchFamily="49" charset="0"/>
              </a:rPr>
              <a:t> </a:t>
            </a:r>
            <a:r>
              <a:rPr lang="sv-SE" dirty="0" err="1">
                <a:latin typeface="Consolas" panose="020B0609020204030204" pitchFamily="49" charset="0"/>
              </a:rPr>
              <a:t>Microsoft.Build.Sql.Templates</a:t>
            </a:r>
            <a:endParaRPr lang="sv-SE" dirty="0">
              <a:latin typeface="Consolas" panose="020B0609020204030204" pitchFamily="49" charset="0"/>
            </a:endParaRPr>
          </a:p>
          <a:p>
            <a:pPr lvl="1"/>
            <a:r>
              <a:rPr lang="sv-SE" dirty="0" err="1">
                <a:latin typeface="Comic Sans MS" panose="030F0702030302020204" pitchFamily="66" charset="0"/>
              </a:rPr>
              <a:t>Create</a:t>
            </a:r>
            <a:r>
              <a:rPr lang="sv-SE" dirty="0">
                <a:latin typeface="Comic Sans MS" panose="030F0702030302020204" pitchFamily="66" charset="0"/>
              </a:rPr>
              <a:t> a new DB-</a:t>
            </a:r>
            <a:r>
              <a:rPr lang="sv-SE" dirty="0" err="1">
                <a:latin typeface="Comic Sans MS" panose="030F0702030302020204" pitchFamily="66" charset="0"/>
              </a:rPr>
              <a:t>project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with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target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platform</a:t>
            </a:r>
            <a:r>
              <a:rPr lang="sv-SE" dirty="0">
                <a:latin typeface="Comic Sans MS" panose="030F0702030302020204" pitchFamily="66" charset="0"/>
              </a:rPr>
              <a:t> = </a:t>
            </a:r>
            <a:r>
              <a:rPr lang="sv-SE" dirty="0" err="1">
                <a:latin typeface="Comic Sans MS" panose="030F0702030302020204" pitchFamily="66" charset="0"/>
              </a:rPr>
              <a:t>Sql</a:t>
            </a:r>
            <a:r>
              <a:rPr lang="sv-SE" dirty="0">
                <a:latin typeface="Comic Sans MS" panose="030F0702030302020204" pitchFamily="66" charset="0"/>
              </a:rPr>
              <a:t> Server 2022 or </a:t>
            </a:r>
            <a:r>
              <a:rPr lang="sv-SE" dirty="0" err="1">
                <a:latin typeface="Comic Sans MS" panose="030F0702030302020204" pitchFamily="66" charset="0"/>
              </a:rPr>
              <a:t>Azure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Sql</a:t>
            </a:r>
            <a:r>
              <a:rPr lang="sv-SE" dirty="0">
                <a:latin typeface="Comic Sans MS" panose="030F0702030302020204" pitchFamily="66" charset="0"/>
              </a:rPr>
              <a:t> (default)</a:t>
            </a:r>
          </a:p>
          <a:p>
            <a:pPr lvl="2"/>
            <a:r>
              <a:rPr lang="sv-SE" dirty="0">
                <a:latin typeface="Consolas" panose="020B0609020204030204" pitchFamily="49" charset="0"/>
              </a:rPr>
              <a:t>dotnet new </a:t>
            </a:r>
            <a:r>
              <a:rPr lang="sv-SE" dirty="0" err="1">
                <a:latin typeface="Consolas" panose="020B0609020204030204" pitchFamily="49" charset="0"/>
              </a:rPr>
              <a:t>sqlproj</a:t>
            </a:r>
            <a:r>
              <a:rPr lang="sv-SE" dirty="0">
                <a:latin typeface="Consolas" panose="020B0609020204030204" pitchFamily="49" charset="0"/>
              </a:rPr>
              <a:t> –n </a:t>
            </a:r>
            <a:r>
              <a:rPr lang="sv-SE" dirty="0" err="1">
                <a:latin typeface="Consolas" panose="020B0609020204030204" pitchFamily="49" charset="0"/>
              </a:rPr>
              <a:t>ArtyPartyDatabaseName</a:t>
            </a:r>
            <a:r>
              <a:rPr lang="sv-SE" dirty="0">
                <a:latin typeface="Consolas" panose="020B0609020204030204" pitchFamily="49" charset="0"/>
              </a:rPr>
              <a:t> –o c:\git\ArtyPartyDatabaseName –</a:t>
            </a:r>
            <a:r>
              <a:rPr lang="sv-SE" dirty="0" err="1">
                <a:latin typeface="Consolas" panose="020B0609020204030204" pitchFamily="49" charset="0"/>
              </a:rPr>
              <a:t>tp</a:t>
            </a:r>
            <a:r>
              <a:rPr lang="sv-SE" dirty="0">
                <a:latin typeface="Consolas" panose="020B0609020204030204" pitchFamily="49" charset="0"/>
              </a:rPr>
              <a:t> Sql160</a:t>
            </a:r>
          </a:p>
          <a:p>
            <a:pPr lvl="1"/>
            <a:r>
              <a:rPr lang="sv-SE" dirty="0" err="1">
                <a:latin typeface="Comic Sans MS" panose="030F0702030302020204" pitchFamily="66" charset="0"/>
              </a:rPr>
              <a:t>Create</a:t>
            </a:r>
            <a:r>
              <a:rPr lang="sv-SE" dirty="0">
                <a:latin typeface="Comic Sans MS" panose="030F0702030302020204" pitchFamily="66" charset="0"/>
              </a:rPr>
              <a:t> a new DB-</a:t>
            </a:r>
            <a:r>
              <a:rPr lang="sv-SE" dirty="0" err="1">
                <a:latin typeface="Comic Sans MS" panose="030F0702030302020204" pitchFamily="66" charset="0"/>
              </a:rPr>
              <a:t>project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with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target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platform</a:t>
            </a:r>
            <a:r>
              <a:rPr lang="sv-SE" dirty="0">
                <a:latin typeface="Comic Sans MS" panose="030F0702030302020204" pitchFamily="66" charset="0"/>
              </a:rPr>
              <a:t> = </a:t>
            </a:r>
            <a:r>
              <a:rPr lang="sv-SE" dirty="0" err="1">
                <a:latin typeface="Comic Sans MS" panose="030F0702030302020204" pitchFamily="66" charset="0"/>
              </a:rPr>
              <a:t>Fabric</a:t>
            </a:r>
            <a:r>
              <a:rPr lang="sv-SE" dirty="0">
                <a:latin typeface="Comic Sans MS" panose="030F0702030302020204" pitchFamily="66" charset="0"/>
              </a:rPr>
              <a:t> DW</a:t>
            </a:r>
          </a:p>
          <a:p>
            <a:pPr lvl="2"/>
            <a:r>
              <a:rPr lang="sv-SE" dirty="0">
                <a:latin typeface="Consolas" panose="020B0609020204030204" pitchFamily="49" charset="0"/>
              </a:rPr>
              <a:t>dotnet new </a:t>
            </a:r>
            <a:r>
              <a:rPr lang="sv-SE" dirty="0" err="1">
                <a:latin typeface="Consolas" panose="020B0609020204030204" pitchFamily="49" charset="0"/>
              </a:rPr>
              <a:t>sqlproj</a:t>
            </a:r>
            <a:r>
              <a:rPr lang="sv-SE" dirty="0">
                <a:latin typeface="Consolas" panose="020B0609020204030204" pitchFamily="49" charset="0"/>
              </a:rPr>
              <a:t> –n </a:t>
            </a:r>
            <a:r>
              <a:rPr lang="sv-SE" dirty="0" err="1">
                <a:latin typeface="Consolas" panose="020B0609020204030204" pitchFamily="49" charset="0"/>
              </a:rPr>
              <a:t>FabricateStuff</a:t>
            </a:r>
            <a:r>
              <a:rPr lang="sv-SE" dirty="0">
                <a:latin typeface="Consolas" panose="020B0609020204030204" pitchFamily="49" charset="0"/>
              </a:rPr>
              <a:t> –o c:\git\Fabric\db\FabricateStuff –</a:t>
            </a:r>
            <a:r>
              <a:rPr lang="sv-SE" dirty="0" err="1">
                <a:latin typeface="Consolas" panose="020B0609020204030204" pitchFamily="49" charset="0"/>
              </a:rPr>
              <a:t>tp</a:t>
            </a:r>
            <a:r>
              <a:rPr lang="sv-SE" dirty="0">
                <a:latin typeface="Consolas" panose="020B0609020204030204" pitchFamily="49" charset="0"/>
              </a:rPr>
              <a:t> </a:t>
            </a:r>
            <a:r>
              <a:rPr lang="sv-SE" dirty="0" err="1">
                <a:latin typeface="Consolas" panose="020B0609020204030204" pitchFamily="49" charset="0"/>
              </a:rPr>
              <a:t>SqlDwUnified</a:t>
            </a:r>
            <a:endParaRPr lang="sv-SE" dirty="0">
              <a:latin typeface="Consolas" panose="020B0609020204030204" pitchFamily="49" charset="0"/>
            </a:endParaRPr>
          </a:p>
          <a:p>
            <a:pPr lvl="1"/>
            <a:r>
              <a:rPr lang="sv-SE" dirty="0">
                <a:latin typeface="Comic Sans MS" panose="030F0702030302020204" pitchFamily="66" charset="0"/>
              </a:rPr>
              <a:t> Get </a:t>
            </a:r>
            <a:r>
              <a:rPr lang="sv-SE" dirty="0" err="1">
                <a:latin typeface="Comic Sans MS" panose="030F0702030302020204" pitchFamily="66" charset="0"/>
              </a:rPr>
              <a:t>some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help</a:t>
            </a:r>
            <a:r>
              <a:rPr lang="sv-SE" dirty="0">
                <a:latin typeface="Comic Sans MS" panose="030F0702030302020204" pitchFamily="66" charset="0"/>
              </a:rPr>
              <a:t> </a:t>
            </a:r>
            <a:r>
              <a:rPr lang="sv-SE" dirty="0" err="1">
                <a:latin typeface="Comic Sans MS" panose="030F0702030302020204" pitchFamily="66" charset="0"/>
              </a:rPr>
              <a:t>with</a:t>
            </a:r>
            <a:r>
              <a:rPr lang="sv-SE" dirty="0">
                <a:latin typeface="Comic Sans MS" panose="030F0702030302020204" pitchFamily="66" charset="0"/>
              </a:rPr>
              <a:t> options for dotnet new </a:t>
            </a:r>
            <a:r>
              <a:rPr lang="sv-SE" dirty="0" err="1">
                <a:latin typeface="Comic Sans MS" panose="030F0702030302020204" pitchFamily="66" charset="0"/>
              </a:rPr>
              <a:t>sqlproj</a:t>
            </a:r>
            <a:endParaRPr lang="sv-SE" dirty="0">
              <a:latin typeface="Comic Sans MS" panose="030F0702030302020204" pitchFamily="66" charset="0"/>
            </a:endParaRPr>
          </a:p>
          <a:p>
            <a:pPr lvl="2"/>
            <a:r>
              <a:rPr lang="sv-SE" dirty="0">
                <a:latin typeface="Consolas" panose="020B0609020204030204" pitchFamily="49" charset="0"/>
              </a:rPr>
              <a:t>dotnet new </a:t>
            </a:r>
            <a:r>
              <a:rPr lang="sv-SE" dirty="0" err="1">
                <a:latin typeface="Consolas" panose="020B0609020204030204" pitchFamily="49" charset="0"/>
              </a:rPr>
              <a:t>sqlproj</a:t>
            </a:r>
            <a:r>
              <a:rPr lang="sv-SE" dirty="0">
                <a:latin typeface="Consolas" panose="020B0609020204030204" pitchFamily="49" charset="0"/>
              </a:rPr>
              <a:t> -h</a:t>
            </a:r>
          </a:p>
        </p:txBody>
      </p:sp>
      <p:pic>
        <p:nvPicPr>
          <p:cNvPr id="8" name="Picture 8" descr="SDK database code brackets icon">
            <a:extLst>
              <a:ext uri="{FF2B5EF4-FFF2-40B4-BE49-F238E27FC236}">
                <a16:creationId xmlns:a16="http://schemas.microsoft.com/office/drawing/2014/main" id="{AFB6A670-DF75-4FD8-866A-17B3CB766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256" y="635000"/>
            <a:ext cx="914400" cy="914400"/>
          </a:xfrm>
          <a:prstGeom prst="rect">
            <a:avLst/>
          </a:prstGeom>
        </p:spPr>
      </p:pic>
      <p:grpSp>
        <p:nvGrpSpPr>
          <p:cNvPr id="7" name="title_badge_group">
            <a:extLst>
              <a:ext uri="{FF2B5EF4-FFF2-40B4-BE49-F238E27FC236}">
                <a16:creationId xmlns:a16="http://schemas.microsoft.com/office/drawing/2014/main" id="{8E82233B-2C02-424B-8255-B14F3BC0A53C}"/>
              </a:ext>
            </a:extLst>
          </p:cNvPr>
          <p:cNvGrpSpPr/>
          <p:nvPr/>
        </p:nvGrpSpPr>
        <p:grpSpPr>
          <a:xfrm>
            <a:off x="474134" y="482600"/>
            <a:ext cx="5115633" cy="1574800"/>
            <a:chOff x="474134" y="482600"/>
            <a:chExt cx="9003067" cy="1574800"/>
          </a:xfrm>
        </p:grpSpPr>
        <p:pic>
          <p:nvPicPr>
            <p:cNvPr id="5" name="wave_bg">
              <a:extLst>
                <a:ext uri="{FF2B5EF4-FFF2-40B4-BE49-F238E27FC236}">
                  <a16:creationId xmlns:a16="http://schemas.microsoft.com/office/drawing/2014/main" id="{121ADE50-B6AF-47EF-9FEC-97A703FA71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6" name="cartoon_title_badge">
              <a:extLst>
                <a:ext uri="{FF2B5EF4-FFF2-40B4-BE49-F238E27FC236}">
                  <a16:creationId xmlns:a16="http://schemas.microsoft.com/office/drawing/2014/main" id="{F02FDC39-CA62-45D7-A31A-2238B3357E9D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Rubrik 1">
              <a:extLst>
                <a:ext uri="{FF2B5EF4-FFF2-40B4-BE49-F238E27FC236}">
                  <a16:creationId xmlns:a16="http://schemas.microsoft.com/office/drawing/2014/main" id="{C2255877-C3B2-3DA3-1D07-F0737210D63E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 fontScale="90000"/>
            </a:bodyPr>
            <a:lstStyle/>
            <a:p>
              <a:r>
                <a:rPr lang="sv-SE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SDK Style </a:t>
              </a:r>
              <a:r>
                <a:rPr lang="sv-SE" sz="3960" b="1" err="1">
                  <a:solidFill>
                    <a:srgbClr val="1A1A1A"/>
                  </a:solidFill>
                  <a:latin typeface="Comic Sans MS" panose="030F0702030302020204" pitchFamily="66" charset="0"/>
                </a:rPr>
                <a:t>Database</a:t>
              </a:r>
              <a:r>
                <a:rPr lang="sv-SE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 Projects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89988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D489E1F7-AEA4-DEF2-6DD6-BE777B457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>
                <a:latin typeface="Comic Sans MS" panose="030F0702030302020204" pitchFamily="66" charset="0"/>
              </a:rPr>
              <a:t>.NET </a:t>
            </a:r>
            <a:r>
              <a:rPr lang="sv-SE" err="1">
                <a:latin typeface="Comic Sans MS" panose="030F0702030302020204" pitchFamily="66" charset="0"/>
              </a:rPr>
              <a:t>Framework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based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project</a:t>
            </a:r>
            <a:r>
              <a:rPr lang="sv-SE">
                <a:latin typeface="Comic Sans MS" panose="030F0702030302020204" pitchFamily="66" charset="0"/>
              </a:rPr>
              <a:t> </a:t>
            </a:r>
            <a:r>
              <a:rPr lang="sv-SE" err="1">
                <a:latin typeface="Comic Sans MS" panose="030F0702030302020204" pitchFamily="66" charset="0"/>
              </a:rPr>
              <a:t>type</a:t>
            </a:r>
            <a:endParaRPr lang="sv-SE">
              <a:latin typeface="Comic Sans MS" panose="030F0702030302020204" pitchFamily="66" charset="0"/>
            </a:endParaRPr>
          </a:p>
          <a:p>
            <a:r>
              <a:rPr lang="sv-SE">
                <a:latin typeface="Comic Sans MS" panose="030F0702030302020204" pitchFamily="66" charset="0"/>
              </a:rPr>
              <a:t>Visual Studio support </a:t>
            </a:r>
            <a:r>
              <a:rPr lang="sv-SE" err="1">
                <a:latin typeface="Comic Sans MS" panose="030F0702030302020204" pitchFamily="66" charset="0"/>
              </a:rPr>
              <a:t>since</a:t>
            </a:r>
            <a:r>
              <a:rPr lang="sv-SE">
                <a:latin typeface="Comic Sans MS" panose="030F0702030302020204" pitchFamily="66" charset="0"/>
              </a:rPr>
              <a:t> long</a:t>
            </a:r>
          </a:p>
          <a:p>
            <a:endParaRPr lang="sv-SE">
              <a:latin typeface="Comic Sans MS" panose="030F0702030302020204" pitchFamily="66" charset="0"/>
            </a:endParaRPr>
          </a:p>
        </p:txBody>
      </p:sp>
      <p:grpSp>
        <p:nvGrpSpPr>
          <p:cNvPr id="6" name="title_badge_group">
            <a:extLst>
              <a:ext uri="{FF2B5EF4-FFF2-40B4-BE49-F238E27FC236}">
                <a16:creationId xmlns:a16="http://schemas.microsoft.com/office/drawing/2014/main" id="{96A1E547-B49D-41E4-831E-579C5BC60D69}"/>
              </a:ext>
            </a:extLst>
          </p:cNvPr>
          <p:cNvGrpSpPr/>
          <p:nvPr/>
        </p:nvGrpSpPr>
        <p:grpSpPr>
          <a:xfrm>
            <a:off x="474134" y="482600"/>
            <a:ext cx="9003067" cy="1574800"/>
            <a:chOff x="474134" y="482600"/>
            <a:chExt cx="9003067" cy="1574800"/>
          </a:xfrm>
        </p:grpSpPr>
        <p:pic>
          <p:nvPicPr>
            <p:cNvPr id="4" name="wave_bg">
              <a:extLst>
                <a:ext uri="{FF2B5EF4-FFF2-40B4-BE49-F238E27FC236}">
                  <a16:creationId xmlns:a16="http://schemas.microsoft.com/office/drawing/2014/main" id="{8D73683D-6E11-4F3C-93B1-15288C064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5" name="cartoon_title_badge">
              <a:extLst>
                <a:ext uri="{FF2B5EF4-FFF2-40B4-BE49-F238E27FC236}">
                  <a16:creationId xmlns:a16="http://schemas.microsoft.com/office/drawing/2014/main" id="{B9336F87-E005-436F-9A13-3526169B70BA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Rubrik 1">
              <a:extLst>
                <a:ext uri="{FF2B5EF4-FFF2-40B4-BE49-F238E27FC236}">
                  <a16:creationId xmlns:a16="http://schemas.microsoft.com/office/drawing/2014/main" id="{1BA59C8D-A0B5-92CB-01C5-435A152ECC07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/>
            </a:bodyPr>
            <a:lstStyle/>
            <a:p>
              <a:r>
                <a:rPr lang="sv-SE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SSDT </a:t>
              </a:r>
              <a:r>
                <a:rPr lang="sv-SE" sz="3960" b="1" err="1">
                  <a:solidFill>
                    <a:srgbClr val="1A1A1A"/>
                  </a:solidFill>
                  <a:latin typeface="Comic Sans MS" panose="030F0702030302020204" pitchFamily="66" charset="0"/>
                </a:rPr>
                <a:t>Database</a:t>
              </a:r>
              <a:r>
                <a:rPr lang="sv-SE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 Projects</a:t>
              </a:r>
            </a:p>
          </p:txBody>
        </p:sp>
      </p:grpSp>
      <p:pic>
        <p:nvPicPr>
          <p:cNvPr id="7" name="Picture 7" descr="SSDT database tools icon">
            <a:extLst>
              <a:ext uri="{FF2B5EF4-FFF2-40B4-BE49-F238E27FC236}">
                <a16:creationId xmlns:a16="http://schemas.microsoft.com/office/drawing/2014/main" id="{5FC29503-CC30-4783-B5EB-F6BAC109B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2001" y="635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4759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objekt 6">
            <a:extLst>
              <a:ext uri="{FF2B5EF4-FFF2-40B4-BE49-F238E27FC236}">
                <a16:creationId xmlns:a16="http://schemas.microsoft.com/office/drawing/2014/main" id="{E106960D-7F25-F57F-5B95-A71EB92AC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83" y="0"/>
            <a:ext cx="8590508" cy="6858000"/>
          </a:xfrm>
          <a:prstGeom prst="rect">
            <a:avLst/>
          </a:prstGeom>
        </p:spPr>
      </p:pic>
      <p:pic>
        <p:nvPicPr>
          <p:cNvPr id="9" name="Bildobjekt 8">
            <a:extLst>
              <a:ext uri="{FF2B5EF4-FFF2-40B4-BE49-F238E27FC236}">
                <a16:creationId xmlns:a16="http://schemas.microsoft.com/office/drawing/2014/main" id="{BC4EDB47-3148-4143-C865-18B4EFC96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3224" y="2080808"/>
            <a:ext cx="6927041" cy="3057777"/>
          </a:xfrm>
          <a:prstGeom prst="rect">
            <a:avLst/>
          </a:prstGeom>
        </p:spPr>
      </p:pic>
      <p:grpSp>
        <p:nvGrpSpPr>
          <p:cNvPr id="12" name="title_badge_group">
            <a:extLst>
              <a:ext uri="{FF2B5EF4-FFF2-40B4-BE49-F238E27FC236}">
                <a16:creationId xmlns:a16="http://schemas.microsoft.com/office/drawing/2014/main" id="{DA76E3C3-B5D3-4F94-9216-C6C1FD8DF6D1}"/>
              </a:ext>
            </a:extLst>
          </p:cNvPr>
          <p:cNvGrpSpPr/>
          <p:nvPr/>
        </p:nvGrpSpPr>
        <p:grpSpPr>
          <a:xfrm>
            <a:off x="7128740" y="353609"/>
            <a:ext cx="3545528" cy="1574800"/>
            <a:chOff x="474134" y="482600"/>
            <a:chExt cx="9003067" cy="1574800"/>
          </a:xfrm>
        </p:grpSpPr>
        <p:pic>
          <p:nvPicPr>
            <p:cNvPr id="10" name="wave_bg">
              <a:extLst>
                <a:ext uri="{FF2B5EF4-FFF2-40B4-BE49-F238E27FC236}">
                  <a16:creationId xmlns:a16="http://schemas.microsoft.com/office/drawing/2014/main" id="{9A57B270-188F-4FB0-9A34-E0FB1B159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11" name="cartoon_title_badge">
              <a:extLst>
                <a:ext uri="{FF2B5EF4-FFF2-40B4-BE49-F238E27FC236}">
                  <a16:creationId xmlns:a16="http://schemas.microsoft.com/office/drawing/2014/main" id="{473C9DBA-5394-4BA8-9AC5-A29333EFFE94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Rubrik 1">
              <a:extLst>
                <a:ext uri="{FF2B5EF4-FFF2-40B4-BE49-F238E27FC236}">
                  <a16:creationId xmlns:a16="http://schemas.microsoft.com/office/drawing/2014/main" id="{98322C01-6142-FDFA-F4A2-24D0A2DAC4F8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 fontScale="90000"/>
            </a:bodyPr>
            <a:lstStyle/>
            <a:p>
              <a:r>
                <a:rPr lang="sv-SE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Project </a:t>
              </a:r>
              <a:r>
                <a:rPr lang="sv-SE" sz="3960" b="1" err="1">
                  <a:solidFill>
                    <a:srgbClr val="1A1A1A"/>
                  </a:solidFill>
                  <a:latin typeface="Comic Sans MS" panose="030F0702030302020204" pitchFamily="66" charset="0"/>
                </a:rPr>
                <a:t>file</a:t>
              </a:r>
              <a:r>
                <a:rPr lang="sv-SE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 </a:t>
              </a:r>
              <a:r>
                <a:rPr lang="sv-SE" sz="3960" b="1" err="1">
                  <a:solidFill>
                    <a:srgbClr val="1A1A1A"/>
                  </a:solidFill>
                  <a:latin typeface="Comic Sans MS" panose="030F0702030302020204" pitchFamily="66" charset="0"/>
                </a:rPr>
                <a:t>differences</a:t>
              </a:r>
              <a:endParaRPr lang="sv-SE" sz="3960" b="1">
                <a:solidFill>
                  <a:srgbClr val="1A1A1A"/>
                </a:solidFill>
                <a:latin typeface="Comic Sans MS" panose="030F0702030302020204" pitchFamily="66" charset="0"/>
              </a:endParaRPr>
            </a:p>
          </p:txBody>
        </p:sp>
      </p:grpSp>
      <p:pic>
        <p:nvPicPr>
          <p:cNvPr id="13" name="Picture 13" descr="File differences comparison icon">
            <a:extLst>
              <a:ext uri="{FF2B5EF4-FFF2-40B4-BE49-F238E27FC236}">
                <a16:creationId xmlns:a16="http://schemas.microsoft.com/office/drawing/2014/main" id="{9131616E-2BC7-42B7-9DF7-BA502EA220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5866" y="3556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4327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610C7DCB-DAE1-0CD7-C8ED-063D70AD4AA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>
                <a:latin typeface="Comic Sans MS" panose="030F0702030302020204" pitchFamily="66" charset="0"/>
              </a:rPr>
              <a:t>…except in pre- and post-deploy</a:t>
            </a:r>
            <a:endParaRPr lang="LID4096">
              <a:latin typeface="Comic Sans MS" panose="030F0702030302020204" pitchFamily="66" charset="0"/>
            </a:endParaRPr>
          </a:p>
        </p:txBody>
      </p:sp>
      <p:grpSp>
        <p:nvGrpSpPr>
          <p:cNvPr id="7" name="title_badge_group">
            <a:extLst>
              <a:ext uri="{FF2B5EF4-FFF2-40B4-BE49-F238E27FC236}">
                <a16:creationId xmlns:a16="http://schemas.microsoft.com/office/drawing/2014/main" id="{3491E7CB-CD56-4A32-B162-7A9CC426650B}"/>
              </a:ext>
            </a:extLst>
          </p:cNvPr>
          <p:cNvGrpSpPr/>
          <p:nvPr/>
        </p:nvGrpSpPr>
        <p:grpSpPr>
          <a:xfrm>
            <a:off x="1524000" y="1371600"/>
            <a:ext cx="9144000" cy="2057400"/>
            <a:chOff x="1524000" y="1371600"/>
            <a:chExt cx="9144000" cy="2057400"/>
          </a:xfrm>
        </p:grpSpPr>
        <p:pic>
          <p:nvPicPr>
            <p:cNvPr id="5" name="wave_bg">
              <a:extLst>
                <a:ext uri="{FF2B5EF4-FFF2-40B4-BE49-F238E27FC236}">
                  <a16:creationId xmlns:a16="http://schemas.microsoft.com/office/drawing/2014/main" id="{85DA1EDF-C126-4F48-8781-1D493D3D2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24000" y="1371600"/>
              <a:ext cx="9144000" cy="2057400"/>
            </a:xfrm>
            <a:prstGeom prst="rect">
              <a:avLst/>
            </a:prstGeom>
          </p:spPr>
        </p:pic>
        <p:sp>
          <p:nvSpPr>
            <p:cNvPr id="6" name="cartoon_title_badge">
              <a:extLst>
                <a:ext uri="{FF2B5EF4-FFF2-40B4-BE49-F238E27FC236}">
                  <a16:creationId xmlns:a16="http://schemas.microsoft.com/office/drawing/2014/main" id="{53065BDE-329C-4C7F-B3A1-0C2D6C4AFA03}"/>
                </a:ext>
              </a:extLst>
            </p:cNvPr>
            <p:cNvSpPr/>
            <p:nvPr/>
          </p:nvSpPr>
          <p:spPr>
            <a:xfrm>
              <a:off x="1524000" y="1371600"/>
              <a:ext cx="9144000" cy="20574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Title 1">
              <a:extLst>
                <a:ext uri="{FF2B5EF4-FFF2-40B4-BE49-F238E27FC236}">
                  <a16:creationId xmlns:a16="http://schemas.microsoft.com/office/drawing/2014/main" id="{A7B8F760-B367-6E08-C5A6-FA249A9DA3DF}"/>
                </a:ext>
              </a:extLst>
            </p:cNvPr>
            <p:cNvSpPr>
              <a:spLocks noGrp="1"/>
            </p:cNvSpPr>
            <p:nvPr>
              <p:ph type="ctrTitle"/>
            </p:nvPr>
          </p:nvSpPr>
          <p:spPr>
            <a:xfrm>
              <a:off x="1828800" y="1524000"/>
              <a:ext cx="8534400" cy="1752600"/>
            </a:xfrm>
          </p:spPr>
          <p:txBody>
            <a:bodyPr>
              <a:normAutofit/>
            </a:bodyPr>
            <a:lstStyle/>
            <a:p>
              <a:r>
                <a:rPr lang="en-GB" sz="352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Create, don’t alter</a:t>
              </a:r>
              <a:endParaRPr lang="LID4096" sz="3520" b="1">
                <a:solidFill>
                  <a:srgbClr val="1A1A1A"/>
                </a:solidFill>
                <a:latin typeface="Comic Sans MS" panose="030F0702030302020204" pitchFamily="66" charset="0"/>
              </a:endParaRPr>
            </a:p>
          </p:txBody>
        </p:sp>
      </p:grpSp>
      <p:pic>
        <p:nvPicPr>
          <p:cNvPr id="8" name="Picture 8" descr="Create not alter icon">
            <a:extLst>
              <a:ext uri="{FF2B5EF4-FFF2-40B4-BE49-F238E27FC236}">
                <a16:creationId xmlns:a16="http://schemas.microsoft.com/office/drawing/2014/main" id="{9F94F9EE-94DC-41E6-A15A-46D448E11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442" y="1524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8765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71478-AF36-5F1B-AA7C-A686E5AB4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>
                <a:latin typeface="Comic Sans MS" panose="030F0702030302020204" pitchFamily="66" charset="0"/>
              </a:rPr>
              <a:t>Start clean</a:t>
            </a:r>
          </a:p>
          <a:p>
            <a:r>
              <a:rPr lang="en-GB">
                <a:latin typeface="Comic Sans MS" panose="030F0702030302020204" pitchFamily="66" charset="0"/>
              </a:rPr>
              <a:t>Import existing database with Schema Comparison</a:t>
            </a:r>
          </a:p>
        </p:txBody>
      </p:sp>
      <p:grpSp>
        <p:nvGrpSpPr>
          <p:cNvPr id="6" name="title_badge_group">
            <a:extLst>
              <a:ext uri="{FF2B5EF4-FFF2-40B4-BE49-F238E27FC236}">
                <a16:creationId xmlns:a16="http://schemas.microsoft.com/office/drawing/2014/main" id="{E57DEE07-B73E-4890-96DA-413AE91136A0}"/>
              </a:ext>
            </a:extLst>
          </p:cNvPr>
          <p:cNvGrpSpPr/>
          <p:nvPr/>
        </p:nvGrpSpPr>
        <p:grpSpPr>
          <a:xfrm>
            <a:off x="474134" y="482600"/>
            <a:ext cx="9003067" cy="1574800"/>
            <a:chOff x="474134" y="482600"/>
            <a:chExt cx="9003067" cy="1574800"/>
          </a:xfrm>
        </p:grpSpPr>
        <p:pic>
          <p:nvPicPr>
            <p:cNvPr id="4" name="wave_bg">
              <a:extLst>
                <a:ext uri="{FF2B5EF4-FFF2-40B4-BE49-F238E27FC236}">
                  <a16:creationId xmlns:a16="http://schemas.microsoft.com/office/drawing/2014/main" id="{3C8A9DFE-3FC6-407B-9D24-24622ED940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5" name="cartoon_title_badge">
              <a:extLst>
                <a:ext uri="{FF2B5EF4-FFF2-40B4-BE49-F238E27FC236}">
                  <a16:creationId xmlns:a16="http://schemas.microsoft.com/office/drawing/2014/main" id="{3ADD230B-1096-456D-8A18-6F01E33C4215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Title 1">
              <a:extLst>
                <a:ext uri="{FF2B5EF4-FFF2-40B4-BE49-F238E27FC236}">
                  <a16:creationId xmlns:a16="http://schemas.microsoft.com/office/drawing/2014/main" id="{AEFAB30D-54DA-3A1F-3B93-84F647E0A622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/>
            </a:bodyPr>
            <a:lstStyle/>
            <a:p>
              <a:r>
                <a:rPr lang="en-GB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Get started</a:t>
              </a:r>
              <a:endParaRPr lang="LID4096" sz="3960" b="1">
                <a:solidFill>
                  <a:srgbClr val="1A1A1A"/>
                </a:solidFill>
                <a:latin typeface="Comic Sans MS" panose="030F0702030302020204" pitchFamily="66" charset="0"/>
              </a:endParaRPr>
            </a:p>
          </p:txBody>
        </p:sp>
      </p:grpSp>
      <p:pic>
        <p:nvPicPr>
          <p:cNvPr id="7" name="Picture 7" descr="Getting started sneaker icon">
            <a:extLst>
              <a:ext uri="{FF2B5EF4-FFF2-40B4-BE49-F238E27FC236}">
                <a16:creationId xmlns:a16="http://schemas.microsoft.com/office/drawing/2014/main" id="{7A791ADC-8AF4-4ED9-ABD5-0E9D22057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2001" y="635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3560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3214C-7556-D124-FFBE-2C39A324D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>
                <a:latin typeface="Comic Sans MS" panose="030F0702030302020204" pitchFamily="66" charset="0"/>
              </a:rPr>
              <a:t>Cross database</a:t>
            </a:r>
          </a:p>
          <a:p>
            <a:pPr lvl="1"/>
            <a:r>
              <a:rPr lang="en-GB">
                <a:latin typeface="Comic Sans MS" panose="030F0702030302020204" pitchFamily="66" charset="0"/>
              </a:rPr>
              <a:t>Reference system databases</a:t>
            </a:r>
          </a:p>
          <a:p>
            <a:pPr lvl="1"/>
            <a:r>
              <a:rPr lang="en-GB">
                <a:latin typeface="Comic Sans MS" panose="030F0702030302020204" pitchFamily="66" charset="0"/>
              </a:rPr>
              <a:t>Reference user databases</a:t>
            </a:r>
          </a:p>
          <a:p>
            <a:pPr lvl="2"/>
            <a:r>
              <a:rPr lang="en-GB">
                <a:latin typeface="Comic Sans MS" panose="030F0702030302020204" pitchFamily="66" charset="0"/>
              </a:rPr>
              <a:t>Database project reference</a:t>
            </a:r>
          </a:p>
          <a:p>
            <a:pPr lvl="2"/>
            <a:r>
              <a:rPr lang="en-GB" err="1">
                <a:latin typeface="Comic Sans MS" panose="030F0702030302020204" pitchFamily="66" charset="0"/>
              </a:rPr>
              <a:t>Dacpac</a:t>
            </a:r>
            <a:r>
              <a:rPr lang="en-GB">
                <a:latin typeface="Comic Sans MS" panose="030F0702030302020204" pitchFamily="66" charset="0"/>
              </a:rPr>
              <a:t> reference</a:t>
            </a:r>
          </a:p>
          <a:p>
            <a:pPr lvl="2"/>
            <a:r>
              <a:rPr lang="en-GB" err="1">
                <a:latin typeface="Comic Sans MS" panose="030F0702030302020204" pitchFamily="66" charset="0"/>
              </a:rPr>
              <a:t>Nuget</a:t>
            </a:r>
            <a:r>
              <a:rPr lang="en-GB">
                <a:latin typeface="Comic Sans MS" panose="030F0702030302020204" pitchFamily="66" charset="0"/>
              </a:rPr>
              <a:t> reference (SDK-style only)</a:t>
            </a:r>
          </a:p>
          <a:p>
            <a:r>
              <a:rPr lang="en-GB">
                <a:latin typeface="Comic Sans MS" panose="030F0702030302020204" pitchFamily="66" charset="0"/>
              </a:rPr>
              <a:t>Reference as inheritance</a:t>
            </a:r>
          </a:p>
          <a:p>
            <a:pPr lvl="1"/>
            <a:r>
              <a:rPr lang="en-GB">
                <a:latin typeface="Comic Sans MS" panose="030F0702030302020204" pitchFamily="66" charset="0"/>
              </a:rPr>
              <a:t>Useful </a:t>
            </a:r>
            <a:r>
              <a:rPr lang="en-GB" err="1">
                <a:latin typeface="Comic Sans MS" panose="030F0702030302020204" pitchFamily="66" charset="0"/>
              </a:rPr>
              <a:t>eg</a:t>
            </a:r>
            <a:r>
              <a:rPr lang="en-GB">
                <a:latin typeface="Comic Sans MS" panose="030F0702030302020204" pitchFamily="66" charset="0"/>
              </a:rPr>
              <a:t> when using </a:t>
            </a:r>
            <a:r>
              <a:rPr lang="en-GB" err="1">
                <a:latin typeface="Comic Sans MS" panose="030F0702030302020204" pitchFamily="66" charset="0"/>
              </a:rPr>
              <a:t>tSQLt</a:t>
            </a:r>
            <a:r>
              <a:rPr lang="en-GB">
                <a:latin typeface="Comic Sans MS" panose="030F0702030302020204" pitchFamily="66" charset="0"/>
              </a:rPr>
              <a:t> for tests</a:t>
            </a:r>
            <a:endParaRPr lang="LID4096">
              <a:latin typeface="Comic Sans MS" panose="030F0702030302020204" pitchFamily="66" charset="0"/>
            </a:endParaRPr>
          </a:p>
        </p:txBody>
      </p:sp>
      <p:grpSp>
        <p:nvGrpSpPr>
          <p:cNvPr id="6" name="title_badge_group">
            <a:extLst>
              <a:ext uri="{FF2B5EF4-FFF2-40B4-BE49-F238E27FC236}">
                <a16:creationId xmlns:a16="http://schemas.microsoft.com/office/drawing/2014/main" id="{9B508795-526E-4DAB-AF6B-0DE6059B1F12}"/>
              </a:ext>
            </a:extLst>
          </p:cNvPr>
          <p:cNvGrpSpPr/>
          <p:nvPr/>
        </p:nvGrpSpPr>
        <p:grpSpPr>
          <a:xfrm>
            <a:off x="474134" y="482600"/>
            <a:ext cx="9003067" cy="1574800"/>
            <a:chOff x="474134" y="482600"/>
            <a:chExt cx="9003067" cy="1574800"/>
          </a:xfrm>
        </p:grpSpPr>
        <p:pic>
          <p:nvPicPr>
            <p:cNvPr id="4" name="wave_bg">
              <a:extLst>
                <a:ext uri="{FF2B5EF4-FFF2-40B4-BE49-F238E27FC236}">
                  <a16:creationId xmlns:a16="http://schemas.microsoft.com/office/drawing/2014/main" id="{00F2674A-4E35-49DB-A962-8F8DF704B7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5" name="cartoon_title_badge">
              <a:extLst>
                <a:ext uri="{FF2B5EF4-FFF2-40B4-BE49-F238E27FC236}">
                  <a16:creationId xmlns:a16="http://schemas.microsoft.com/office/drawing/2014/main" id="{CE987DF3-7D33-43CE-833F-E03DF3E74A2B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Title 1">
              <a:extLst>
                <a:ext uri="{FF2B5EF4-FFF2-40B4-BE49-F238E27FC236}">
                  <a16:creationId xmlns:a16="http://schemas.microsoft.com/office/drawing/2014/main" id="{937EF7FE-4AD3-24F3-DFAC-A603E30D423C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/>
            </a:bodyPr>
            <a:lstStyle/>
            <a:p>
              <a:r>
                <a:rPr lang="en-GB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Database references</a:t>
              </a:r>
              <a:endParaRPr lang="LID4096" sz="3960" b="1">
                <a:solidFill>
                  <a:srgbClr val="1A1A1A"/>
                </a:solidFill>
                <a:latin typeface="Comic Sans MS" panose="030F0702030302020204" pitchFamily="66" charset="0"/>
              </a:endParaRPr>
            </a:p>
          </p:txBody>
        </p:sp>
      </p:grpSp>
      <p:pic>
        <p:nvPicPr>
          <p:cNvPr id="7" name="Picture 7" descr="Linked database references icon">
            <a:extLst>
              <a:ext uri="{FF2B5EF4-FFF2-40B4-BE49-F238E27FC236}">
                <a16:creationId xmlns:a16="http://schemas.microsoft.com/office/drawing/2014/main" id="{6B2E1037-AD7E-4B32-9594-5CEEC2AC68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2001" y="635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536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DD853DA-0891-1F38-3928-1627F615C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5472" y="1161057"/>
            <a:ext cx="6356527" cy="236486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97819-062B-1B1A-C3DF-9CDF049D3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5335760" cy="3880773"/>
          </a:xfrm>
        </p:spPr>
        <p:txBody>
          <a:bodyPr/>
          <a:lstStyle/>
          <a:p>
            <a:r>
              <a:rPr lang="en-GB">
                <a:latin typeface="Comic Sans MS" panose="030F0702030302020204" pitchFamily="66" charset="0"/>
              </a:rPr>
              <a:t>Zip-file with .</a:t>
            </a:r>
            <a:r>
              <a:rPr lang="en-GB" err="1">
                <a:latin typeface="Comic Sans MS" panose="030F0702030302020204" pitchFamily="66" charset="0"/>
              </a:rPr>
              <a:t>dacpac</a:t>
            </a:r>
            <a:r>
              <a:rPr lang="en-GB">
                <a:latin typeface="Comic Sans MS" panose="030F0702030302020204" pitchFamily="66" charset="0"/>
              </a:rPr>
              <a:t> extension</a:t>
            </a:r>
          </a:p>
          <a:p>
            <a:r>
              <a:rPr lang="en-GB">
                <a:latin typeface="Comic Sans MS" panose="030F0702030302020204" pitchFamily="66" charset="0"/>
              </a:rPr>
              <a:t>Contains xml-files</a:t>
            </a:r>
          </a:p>
          <a:p>
            <a:pPr lvl="1"/>
            <a:r>
              <a:rPr lang="en-GB">
                <a:latin typeface="Comic Sans MS" panose="030F0702030302020204" pitchFamily="66" charset="0"/>
              </a:rPr>
              <a:t>[Content types.xml]</a:t>
            </a:r>
          </a:p>
          <a:p>
            <a:pPr lvl="1"/>
            <a:r>
              <a:rPr lang="en-GB">
                <a:latin typeface="Comic Sans MS" panose="030F0702030302020204" pitchFamily="66" charset="0"/>
              </a:rPr>
              <a:t>DacMetadata.xml – Build version of the </a:t>
            </a:r>
            <a:r>
              <a:rPr lang="en-GB" err="1">
                <a:latin typeface="Comic Sans MS" panose="030F0702030302020204" pitchFamily="66" charset="0"/>
              </a:rPr>
              <a:t>dacpac</a:t>
            </a:r>
            <a:endParaRPr lang="en-GB">
              <a:latin typeface="Comic Sans MS" panose="030F0702030302020204" pitchFamily="66" charset="0"/>
            </a:endParaRPr>
          </a:p>
          <a:p>
            <a:pPr lvl="1"/>
            <a:r>
              <a:rPr lang="en-GB">
                <a:latin typeface="Comic Sans MS" panose="030F0702030302020204" pitchFamily="66" charset="0"/>
              </a:rPr>
              <a:t>Origin.xml – Schema version of model-file</a:t>
            </a:r>
          </a:p>
          <a:p>
            <a:pPr lvl="1"/>
            <a:r>
              <a:rPr lang="en-GB">
                <a:latin typeface="Comic Sans MS" panose="030F0702030302020204" pitchFamily="66" charset="0"/>
              </a:rPr>
              <a:t>Model.xml – the data model for the database</a:t>
            </a:r>
          </a:p>
          <a:p>
            <a:pPr marL="0" indent="0">
              <a:buNone/>
            </a:pPr>
            <a:endParaRPr lang="en-GB">
              <a:latin typeface="Comic Sans MS" panose="030F0702030302020204" pitchFamily="66" charset="0"/>
            </a:endParaRPr>
          </a:p>
          <a:p>
            <a:pPr lvl="1"/>
            <a:endParaRPr lang="LID4096">
              <a:latin typeface="Comic Sans MS" panose="030F0702030302020204" pitchFamily="66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C74ADE-6770-E178-A225-92AF86F39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356" y="31866"/>
            <a:ext cx="5982256" cy="50097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DEBAE6-7A5D-368F-E822-2E64CE6FE7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047" y="31866"/>
            <a:ext cx="5922874" cy="5045543"/>
          </a:xfrm>
          <a:prstGeom prst="rect">
            <a:avLst/>
          </a:prstGeom>
        </p:spPr>
      </p:pic>
      <p:pic>
        <p:nvPicPr>
          <p:cNvPr id="13" name="Picture 13" descr="Dacpac package icon">
            <a:extLst>
              <a:ext uri="{FF2B5EF4-FFF2-40B4-BE49-F238E27FC236}">
                <a16:creationId xmlns:a16="http://schemas.microsoft.com/office/drawing/2014/main" id="{721E842C-1CF7-4627-AF0F-52C206759D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4420" y="635000"/>
            <a:ext cx="914400" cy="914400"/>
          </a:xfrm>
          <a:prstGeom prst="rect">
            <a:avLst/>
          </a:prstGeom>
        </p:spPr>
      </p:pic>
      <p:grpSp>
        <p:nvGrpSpPr>
          <p:cNvPr id="12" name="title_badge_group">
            <a:extLst>
              <a:ext uri="{FF2B5EF4-FFF2-40B4-BE49-F238E27FC236}">
                <a16:creationId xmlns:a16="http://schemas.microsoft.com/office/drawing/2014/main" id="{F8A3DEF1-B3D7-46C5-8327-D1B6AD067F75}"/>
              </a:ext>
            </a:extLst>
          </p:cNvPr>
          <p:cNvGrpSpPr/>
          <p:nvPr/>
        </p:nvGrpSpPr>
        <p:grpSpPr>
          <a:xfrm>
            <a:off x="474134" y="482600"/>
            <a:ext cx="2459897" cy="1574800"/>
            <a:chOff x="474134" y="482600"/>
            <a:chExt cx="9003067" cy="1574800"/>
          </a:xfrm>
        </p:grpSpPr>
        <p:pic>
          <p:nvPicPr>
            <p:cNvPr id="10" name="wave_bg">
              <a:extLst>
                <a:ext uri="{FF2B5EF4-FFF2-40B4-BE49-F238E27FC236}">
                  <a16:creationId xmlns:a16="http://schemas.microsoft.com/office/drawing/2014/main" id="{D18544D2-A700-4CB7-964E-EDAD99F66BB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11" name="cartoon_title_badge">
              <a:extLst>
                <a:ext uri="{FF2B5EF4-FFF2-40B4-BE49-F238E27FC236}">
                  <a16:creationId xmlns:a16="http://schemas.microsoft.com/office/drawing/2014/main" id="{5746396A-19DB-4480-8108-66C17784B055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Title 1">
              <a:extLst>
                <a:ext uri="{FF2B5EF4-FFF2-40B4-BE49-F238E27FC236}">
                  <a16:creationId xmlns:a16="http://schemas.microsoft.com/office/drawing/2014/main" id="{9770F726-3103-E09B-3850-C19C0BB4357D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 fontScale="90000"/>
            </a:bodyPr>
            <a:lstStyle/>
            <a:p>
              <a:r>
                <a:rPr lang="en-GB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The </a:t>
              </a:r>
              <a:r>
                <a:rPr lang="en-GB" sz="3960" b="1" err="1">
                  <a:solidFill>
                    <a:srgbClr val="1A1A1A"/>
                  </a:solidFill>
                  <a:latin typeface="Comic Sans MS" panose="030F0702030302020204" pitchFamily="66" charset="0"/>
                </a:rPr>
                <a:t>dacpac</a:t>
              </a:r>
              <a:endParaRPr lang="LID4096" sz="3960" b="1">
                <a:solidFill>
                  <a:srgbClr val="1A1A1A"/>
                </a:solidFill>
                <a:latin typeface="Comic Sans MS" panose="030F0702030302020204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230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DC42A-F835-EC06-1EAD-6160065B1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>
                <a:latin typeface="Comic Sans MS" panose="030F0702030302020204" pitchFamily="66" charset="0"/>
              </a:rPr>
              <a:t>Publish action from Visual Studio/Azure Data Studio/</a:t>
            </a:r>
            <a:r>
              <a:rPr lang="en-GB" err="1">
                <a:latin typeface="Comic Sans MS" panose="030F0702030302020204" pitchFamily="66" charset="0"/>
              </a:rPr>
              <a:t>VSCode</a:t>
            </a:r>
            <a:endParaRPr lang="en-GB">
              <a:latin typeface="Comic Sans MS" panose="030F0702030302020204" pitchFamily="66" charset="0"/>
            </a:endParaRPr>
          </a:p>
          <a:p>
            <a:r>
              <a:rPr lang="en-GB">
                <a:latin typeface="Comic Sans MS" panose="030F0702030302020204" pitchFamily="66" charset="0"/>
              </a:rPr>
              <a:t>Sqlpackage.exe /Action=Publish</a:t>
            </a:r>
          </a:p>
          <a:p>
            <a:r>
              <a:rPr lang="en-GB">
                <a:latin typeface="Comic Sans MS" panose="030F0702030302020204" pitchFamily="66" charset="0"/>
              </a:rPr>
              <a:t>Azure DevOps pipeline</a:t>
            </a:r>
          </a:p>
          <a:p>
            <a:r>
              <a:rPr lang="en-GB">
                <a:latin typeface="Comic Sans MS" panose="030F0702030302020204" pitchFamily="66" charset="0"/>
              </a:rPr>
              <a:t>GitHub action</a:t>
            </a:r>
          </a:p>
          <a:p>
            <a:r>
              <a:rPr lang="en-GB">
                <a:latin typeface="Comic Sans MS" panose="030F0702030302020204" pitchFamily="66" charset="0"/>
              </a:rPr>
              <a:t>…</a:t>
            </a:r>
          </a:p>
          <a:p>
            <a:r>
              <a:rPr lang="en-GB">
                <a:latin typeface="Comic Sans MS" panose="030F0702030302020204" pitchFamily="66" charset="0"/>
              </a:rPr>
              <a:t>…</a:t>
            </a:r>
          </a:p>
          <a:p>
            <a:r>
              <a:rPr lang="en-GB">
                <a:latin typeface="Comic Sans MS" panose="030F0702030302020204" pitchFamily="66" charset="0"/>
              </a:rPr>
              <a:t>…</a:t>
            </a:r>
            <a:endParaRPr lang="LID4096">
              <a:latin typeface="Comic Sans MS" panose="030F0702030302020204" pitchFamily="66" charset="0"/>
            </a:endParaRPr>
          </a:p>
        </p:txBody>
      </p:sp>
      <p:grpSp>
        <p:nvGrpSpPr>
          <p:cNvPr id="6" name="title_badge_group">
            <a:extLst>
              <a:ext uri="{FF2B5EF4-FFF2-40B4-BE49-F238E27FC236}">
                <a16:creationId xmlns:a16="http://schemas.microsoft.com/office/drawing/2014/main" id="{E8F58E58-9263-4AE5-874B-1E7F42CFA5DA}"/>
              </a:ext>
            </a:extLst>
          </p:cNvPr>
          <p:cNvGrpSpPr/>
          <p:nvPr/>
        </p:nvGrpSpPr>
        <p:grpSpPr>
          <a:xfrm>
            <a:off x="474134" y="482600"/>
            <a:ext cx="9003067" cy="1574800"/>
            <a:chOff x="474134" y="482600"/>
            <a:chExt cx="9003067" cy="1574800"/>
          </a:xfrm>
        </p:grpSpPr>
        <p:pic>
          <p:nvPicPr>
            <p:cNvPr id="4" name="wave_bg">
              <a:extLst>
                <a:ext uri="{FF2B5EF4-FFF2-40B4-BE49-F238E27FC236}">
                  <a16:creationId xmlns:a16="http://schemas.microsoft.com/office/drawing/2014/main" id="{CB8B5BE2-CD76-4A75-A622-5C79D8C2D4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5" name="cartoon_title_badge">
              <a:extLst>
                <a:ext uri="{FF2B5EF4-FFF2-40B4-BE49-F238E27FC236}">
                  <a16:creationId xmlns:a16="http://schemas.microsoft.com/office/drawing/2014/main" id="{40305EE9-2909-4E54-9AD4-24643458589B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2" name="Title 1">
              <a:extLst>
                <a:ext uri="{FF2B5EF4-FFF2-40B4-BE49-F238E27FC236}">
                  <a16:creationId xmlns:a16="http://schemas.microsoft.com/office/drawing/2014/main" id="{E532E17D-6843-9CA5-6E77-CE249D89D86A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/>
            </a:bodyPr>
            <a:lstStyle/>
            <a:p>
              <a:r>
                <a:rPr lang="en-GB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Deploy </a:t>
              </a:r>
              <a:r>
                <a:rPr lang="en-GB" sz="3960" b="1" err="1">
                  <a:solidFill>
                    <a:srgbClr val="1A1A1A"/>
                  </a:solidFill>
                  <a:latin typeface="Comic Sans MS" panose="030F0702030302020204" pitchFamily="66" charset="0"/>
                </a:rPr>
                <a:t>dacpac</a:t>
              </a:r>
              <a:endParaRPr lang="LID4096" sz="3960" b="1">
                <a:solidFill>
                  <a:srgbClr val="1A1A1A"/>
                </a:solidFill>
                <a:latin typeface="Comic Sans MS" panose="030F0702030302020204" pitchFamily="66" charset="0"/>
              </a:endParaRPr>
            </a:p>
          </p:txBody>
        </p:sp>
      </p:grpSp>
      <p:pic>
        <p:nvPicPr>
          <p:cNvPr id="7" name="Picture 7" descr="Deploy dacpac icon">
            <a:extLst>
              <a:ext uri="{FF2B5EF4-FFF2-40B4-BE49-F238E27FC236}">
                <a16:creationId xmlns:a16="http://schemas.microsoft.com/office/drawing/2014/main" id="{C8E58B23-9038-4E78-8E26-23E0573A5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2001" y="6350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651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9A438A-8EDA-FCC9-F817-316FD95AC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3240964"/>
            <a:ext cx="8596668" cy="2085493"/>
          </a:xfrm>
        </p:spPr>
        <p:txBody>
          <a:bodyPr>
            <a:normAutofit lnSpcReduction="10000"/>
          </a:bodyPr>
          <a:lstStyle/>
          <a:p>
            <a:r>
              <a:rPr lang="en-GB" dirty="0">
                <a:latin typeface="Comic Sans MS" panose="030F0702030302020204" pitchFamily="66" charset="0"/>
              </a:rPr>
              <a:t>Create database project</a:t>
            </a:r>
          </a:p>
          <a:p>
            <a:r>
              <a:rPr lang="en-GB" dirty="0">
                <a:latin typeface="Comic Sans MS" panose="030F0702030302020204" pitchFamily="66" charset="0"/>
              </a:rPr>
              <a:t>Import existing database</a:t>
            </a:r>
          </a:p>
          <a:p>
            <a:r>
              <a:rPr lang="en-GB" dirty="0">
                <a:latin typeface="Comic Sans MS" panose="030F0702030302020204" pitchFamily="66" charset="0"/>
              </a:rPr>
              <a:t>Database references</a:t>
            </a:r>
          </a:p>
          <a:p>
            <a:r>
              <a:rPr lang="en-GB" dirty="0">
                <a:latin typeface="Comic Sans MS" panose="030F0702030302020204" pitchFamily="66" charset="0"/>
              </a:rPr>
              <a:t>Refactoring objects</a:t>
            </a:r>
          </a:p>
          <a:p>
            <a:r>
              <a:rPr lang="en-GB" dirty="0">
                <a:latin typeface="Comic Sans MS" panose="030F0702030302020204" pitchFamily="66" charset="0"/>
              </a:rPr>
              <a:t>Deploy using publish action</a:t>
            </a:r>
            <a:endParaRPr lang="LID4096" dirty="0">
              <a:latin typeface="Comic Sans MS" panose="030F0702030302020204" pitchFamily="66" charset="0"/>
            </a:endParaRPr>
          </a:p>
        </p:txBody>
      </p:sp>
      <p:grpSp>
        <p:nvGrpSpPr>
          <p:cNvPr id="8" name="title_badge_group">
            <a:extLst>
              <a:ext uri="{FF2B5EF4-FFF2-40B4-BE49-F238E27FC236}">
                <a16:creationId xmlns:a16="http://schemas.microsoft.com/office/drawing/2014/main" id="{2CCFF279-7198-46EA-BC54-4F4146AE7BD0}"/>
              </a:ext>
            </a:extLst>
          </p:cNvPr>
          <p:cNvGrpSpPr/>
          <p:nvPr/>
        </p:nvGrpSpPr>
        <p:grpSpPr>
          <a:xfrm>
            <a:off x="474134" y="482600"/>
            <a:ext cx="9003067" cy="1574800"/>
            <a:chOff x="474134" y="482600"/>
            <a:chExt cx="9003067" cy="1574800"/>
          </a:xfrm>
        </p:grpSpPr>
        <p:pic>
          <p:nvPicPr>
            <p:cNvPr id="6" name="wave_bg">
              <a:extLst>
                <a:ext uri="{FF2B5EF4-FFF2-40B4-BE49-F238E27FC236}">
                  <a16:creationId xmlns:a16="http://schemas.microsoft.com/office/drawing/2014/main" id="{6CEF1D7E-2BBD-4F9E-A7D2-A403B79727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134" y="482600"/>
              <a:ext cx="9003067" cy="1574800"/>
            </a:xfrm>
            <a:prstGeom prst="rect">
              <a:avLst/>
            </a:prstGeom>
          </p:spPr>
        </p:pic>
        <p:sp>
          <p:nvSpPr>
            <p:cNvPr id="7" name="cartoon_title_badge">
              <a:extLst>
                <a:ext uri="{FF2B5EF4-FFF2-40B4-BE49-F238E27FC236}">
                  <a16:creationId xmlns:a16="http://schemas.microsoft.com/office/drawing/2014/main" id="{E6D76722-E14B-482D-AC13-E2B8E83953C3}"/>
                </a:ext>
              </a:extLst>
            </p:cNvPr>
            <p:cNvSpPr/>
            <p:nvPr/>
          </p:nvSpPr>
          <p:spPr>
            <a:xfrm>
              <a:off x="474134" y="482600"/>
              <a:ext cx="9003067" cy="1574800"/>
            </a:xfrm>
            <a:prstGeom prst="roundRect">
              <a:avLst/>
            </a:prstGeom>
            <a:noFill/>
            <a:ln w="38100" cap="rnd" cmpd="sng" algn="ctr">
              <a:solidFill>
                <a:srgbClr val="1B1B1B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mic Sans MS" panose="030F0702030302020204"/>
                <a:ea typeface="+mn-ea"/>
                <a:cs typeface="+mn-cs"/>
              </a:endParaRPr>
            </a:p>
          </p:txBody>
        </p:sp>
        <p:sp>
          <p:nvSpPr>
            <p:cNvPr id="4" name="Title 3">
              <a:extLst>
                <a:ext uri="{FF2B5EF4-FFF2-40B4-BE49-F238E27FC236}">
                  <a16:creationId xmlns:a16="http://schemas.microsoft.com/office/drawing/2014/main" id="{3642C689-C3E5-FBBC-6CD1-73FF8D04F9E7}"/>
                </a:ext>
              </a:extLst>
            </p:cNvPr>
            <p:cNvSpPr>
              <a:spLocks noGrp="1"/>
            </p:cNvSpPr>
            <p:nvPr>
              <p:ph type="title"/>
            </p:nvPr>
          </p:nvSpPr>
          <p:spPr>
            <a:xfrm>
              <a:off x="778934" y="635000"/>
              <a:ext cx="8393467" cy="1270000"/>
            </a:xfrm>
          </p:spPr>
          <p:txBody>
            <a:bodyPr>
              <a:normAutofit/>
            </a:bodyPr>
            <a:lstStyle/>
            <a:p>
              <a:r>
                <a:rPr lang="en-GB" sz="3960" b="1">
                  <a:solidFill>
                    <a:srgbClr val="1A1A1A"/>
                  </a:solidFill>
                  <a:latin typeface="Comic Sans MS" panose="030F0702030302020204" pitchFamily="66" charset="0"/>
                </a:rPr>
                <a:t>DEMO</a:t>
              </a:r>
              <a:endParaRPr lang="LID4096" sz="3960" b="1">
                <a:solidFill>
                  <a:srgbClr val="1A1A1A"/>
                </a:solidFill>
                <a:latin typeface="Comic Sans MS" panose="030F0702030302020204" pitchFamily="66" charset="0"/>
              </a:endParaRPr>
            </a:p>
          </p:txBody>
        </p:sp>
      </p:grpSp>
      <p:pic>
        <p:nvPicPr>
          <p:cNvPr id="9" name="Picture 9" descr="Demo play button icon">
            <a:extLst>
              <a:ext uri="{FF2B5EF4-FFF2-40B4-BE49-F238E27FC236}">
                <a16:creationId xmlns:a16="http://schemas.microsoft.com/office/drawing/2014/main" id="{9807F611-E109-4867-B98A-E0B97DEE54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2001" y="635000"/>
            <a:ext cx="914400" cy="914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678D1C3-F7EE-A10A-0822-9C0ECC67CB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498" y="2417195"/>
            <a:ext cx="4130703" cy="4130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902318"/>
      </p:ext>
    </p:extLst>
  </p:cSld>
  <p:clrMapOvr>
    <a:masterClrMapping/>
  </p:clrMapOvr>
</p:sld>
</file>

<file path=ppt/theme/theme1.xml><?xml version="1.0" encoding="utf-8"?>
<a:theme xmlns:a="http://schemas.openxmlformats.org/drawingml/2006/main" name="Fasett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oupBy_Eight_hours_of_work_in_20_minutes_Partitioning_Rox.pptx" id="{70D7657E-FDF3-4AF8-B760-E8DCE5C23891}" vid="{32728EFA-864A-41EB-A785-94AF657B65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9DF362DDD05A45B86D781376AAC476" ma:contentTypeVersion="7" ma:contentTypeDescription="Create a new document." ma:contentTypeScope="" ma:versionID="3a57987203f074c548de98d113b4286b">
  <xsd:schema xmlns:xsd="http://www.w3.org/2001/XMLSchema" xmlns:xs="http://www.w3.org/2001/XMLSchema" xmlns:p="http://schemas.microsoft.com/office/2006/metadata/properties" xmlns:ns2="d199752a-3aa5-47db-8ae7-beef1561cea0" targetNamespace="http://schemas.microsoft.com/office/2006/metadata/properties" ma:root="true" ma:fieldsID="70b53b01044eee4a42e00434b4075c16" ns2:_="">
    <xsd:import namespace="d199752a-3aa5-47db-8ae7-beef1561cea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199752a-3aa5-47db-8ae7-beef1561cea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76C713D-8D2B-492D-A52A-375696712CF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199752a-3aa5-47db-8ae7-beef1561cea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542A527-91EE-49D6-AF42-393E29B9863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5AA9653-386D-4377-A986-DC4A02C60CD5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PPTMALL</Template>
  <TotalTime>0</TotalTime>
  <Words>675</Words>
  <Application>Microsoft Office PowerPoint</Application>
  <PresentationFormat>Widescreen</PresentationFormat>
  <Paragraphs>125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Calibri</vt:lpstr>
      <vt:lpstr>Comic Sans MS</vt:lpstr>
      <vt:lpstr>Consolas</vt:lpstr>
      <vt:lpstr>Roboto Light</vt:lpstr>
      <vt:lpstr>Source Sans Pro</vt:lpstr>
      <vt:lpstr>Trebuchet MS</vt:lpstr>
      <vt:lpstr>Wingdings 3</vt:lpstr>
      <vt:lpstr>Fasett</vt:lpstr>
      <vt:lpstr>An Introduction to  Sql Server Database Projects</vt:lpstr>
      <vt:lpstr>Talk to sponsors. They are nice people</vt:lpstr>
      <vt:lpstr>Content</vt:lpstr>
      <vt:lpstr>Magnus Ahlkvist</vt:lpstr>
      <vt:lpstr>Migration based deployments</vt:lpstr>
      <vt:lpstr>Migrations initialization</vt:lpstr>
      <vt:lpstr>Version 1.0.0</vt:lpstr>
      <vt:lpstr>Version 1.1.0</vt:lpstr>
      <vt:lpstr>Version 1.2.0</vt:lpstr>
      <vt:lpstr>Short demo</vt:lpstr>
      <vt:lpstr>Model based deployment</vt:lpstr>
      <vt:lpstr>SQL Server Database Projects</vt:lpstr>
      <vt:lpstr>SDK Style Database Projects</vt:lpstr>
      <vt:lpstr>SSDT Database Projects</vt:lpstr>
      <vt:lpstr>Project file differences</vt:lpstr>
      <vt:lpstr>Create, don’t alter</vt:lpstr>
      <vt:lpstr>Get started</vt:lpstr>
      <vt:lpstr>Database references</vt:lpstr>
      <vt:lpstr>The dacpac</vt:lpstr>
      <vt:lpstr>Deploy dacpac</vt:lpstr>
      <vt:lpstr>DEMO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Magnus Ahlkvist</dc:creator>
  <cp:lastModifiedBy>Magnus Ahlkvist</cp:lastModifiedBy>
  <cp:revision>48</cp:revision>
  <dcterms:created xsi:type="dcterms:W3CDTF">2019-10-13T08:45:28Z</dcterms:created>
  <dcterms:modified xsi:type="dcterms:W3CDTF">2026-05-29T08:57:34Z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0x010100BE9DF362DDD05A45B86D781376AAC476</vt:lpwstr>
  </property>
</Properties>
</file>