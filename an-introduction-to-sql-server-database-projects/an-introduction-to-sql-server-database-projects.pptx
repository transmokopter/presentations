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8" r:id="rId5"/>
  </p:sldMasterIdLst>
  <p:notesMasterIdLst>
    <p:notesMasterId r:id="rId28"/>
  </p:notesMasterIdLst>
  <p:sldIdLst>
    <p:sldId id="260" r:id="rId6"/>
    <p:sldId id="279" r:id="rId7"/>
    <p:sldId id="428" r:id="rId8"/>
    <p:sldId id="261" r:id="rId9"/>
    <p:sldId id="264" r:id="rId10"/>
    <p:sldId id="262" r:id="rId11"/>
    <p:sldId id="263" r:id="rId12"/>
    <p:sldId id="265" r:id="rId13"/>
    <p:sldId id="266" r:id="rId14"/>
    <p:sldId id="267" r:id="rId15"/>
    <p:sldId id="429" r:id="rId16"/>
    <p:sldId id="268" r:id="rId17"/>
    <p:sldId id="269" r:id="rId18"/>
    <p:sldId id="270" r:id="rId19"/>
    <p:sldId id="271" r:id="rId20"/>
    <p:sldId id="272" r:id="rId21"/>
    <p:sldId id="273" r:id="rId22"/>
    <p:sldId id="275" r:id="rId23"/>
    <p:sldId id="276" r:id="rId24"/>
    <p:sldId id="274" r:id="rId25"/>
    <p:sldId id="277" r:id="rId26"/>
    <p:sldId id="278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D700"/>
    <a:srgbClr val="E5E4E2"/>
    <a:srgbClr val="C0C0C0"/>
    <a:srgbClr val="CD7F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4992" autoAdjust="0"/>
  </p:normalViewPr>
  <p:slideViewPr>
    <p:cSldViewPr snapToGrid="0">
      <p:cViewPr varScale="1">
        <p:scale>
          <a:sx n="84" d="100"/>
          <a:sy n="84" d="100"/>
        </p:scale>
        <p:origin x="932" y="2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12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6D3B2D-3924-0B48-B558-93C031AA9A06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72716D-3A19-4347-B553-E4062DD46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15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DD0A-36D5-140F-E49A-07A66272F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8FAAD-A82C-CEDF-7DB5-AC8FA4DB2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34EAE5-29C6-C6E7-9F6C-8B4A937C4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3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18" name="Bild 17">
            <a:extLst>
              <a:ext uri="{FF2B5EF4-FFF2-40B4-BE49-F238E27FC236}">
                <a16:creationId xmlns:a16="http://schemas.microsoft.com/office/drawing/2014/main" id="{42BCFCD7-74CB-442B-9206-4BBDA1D162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7593" y="4100975"/>
            <a:ext cx="2736965" cy="27369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/>
              <a:t>5/10/2025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/>
              <a:t>5/10/2025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ch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eskriv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 för 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t eller fals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D5C0-D3A4-61E6-5660-DF7AB8989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DD6B0-6D1D-7C71-F5B3-A373C8384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C71A3-7C80-5027-4B9A-6BBD6FAC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B61D6-B917-E461-AEE3-46A8D5500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4D2D2-3873-4B93-8EC2-07BA03937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3762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EA6EE-13B6-FFE6-2484-339A8C421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642EB-876B-1624-B031-13C87CCD6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01F18-F6AF-A006-03CB-2F1C71949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FD62B-4317-3E7A-AF51-51C05803E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36A03-3979-703E-E069-3B43EC61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1917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0C294-2E6D-3E23-8C04-FE2E25A5F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83D64-67F7-B602-487B-C06BB227D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73950-31A4-BD2A-71A1-5C8D7339A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E0B03D-F7F2-CCC2-122D-C4638D49C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1CE34-BDF2-DAB5-D863-C9A969D41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7095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203A-16C0-A74E-85CC-C26A0A2B1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7619D-7282-DC33-8D24-5D6DF56E2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2F70B-DDAB-0ED6-7AC5-498400D3B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F03CFE-477B-A1A2-F21B-6F0D93A9E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D8EC1-5C61-A951-C40F-46F984966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B3A397-9A9C-DF8E-598F-4724E51B7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755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72AAB-A70D-7001-CA13-45A1A72A0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84B8F-87D7-2544-83F2-681677102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C12A0F-F411-514A-41B9-F24A67EE4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996525-1740-0EC3-BFE0-38FE8F3AD1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83692C-E1BF-6155-0666-92A40A9CCB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B14E80-8307-A854-8CB3-4497297BE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C69997-D89A-503A-2D29-EC2BE4923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FCE766-4360-CD39-023D-6ABAD9576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3080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2385-1093-2183-F7B5-F3FB6E1B4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87E04E-8382-5C5F-7DB9-9F85BA2ED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B74B82-B851-9186-2A46-4C8AAA93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DDB3-5810-FF9D-7E20-A9CFA7ADB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799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827F9E-8A0B-70A9-5DE0-65D8B30E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481B6D-E527-6F1D-CA4F-864D4F894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E466B-B7D4-CDBF-0DC2-D36B3063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86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095B8-D80B-1AAD-7703-5CE2154C9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2E391-EB7D-CB6C-5398-07D395441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E6B379-D720-CF16-ED19-9AAE4F7A12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86FFA-01E2-73C0-2AD5-12E1AFA21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04D07-2FFB-0FE6-3B11-3608BF680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5A4AD7-6E95-C824-857F-4247F2341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66329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19ABC-2F1D-BA90-E5A5-10CD9A9FB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E4A561-6E11-14E0-D957-5331D733C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C73B7-26AF-DCA4-45CA-813AB4BE2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B3DD63-B60F-F425-C1DC-530E1DEA2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B57511-41B3-BD3F-4EE0-A5E16FA1E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E1EF5-6030-20DB-35E0-72910A719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1813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435EC-D673-8992-CBA5-90014B3A1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4B72E5-3BAD-22D3-AE08-4569AEBA79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4BD88-BB31-3027-6D5E-53A842B1D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81009-507C-30DD-B462-C2E752D85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31FC5-4127-84E0-5708-29DBFECB3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85014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F56996-EB65-BAF7-64EC-6948A4F34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BC782F-36B1-0499-A1AC-3336563C22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27777-04BC-7800-8D87-2EDA773B0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A39FE-BF87-6257-88A8-58FC6865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53152-6F1F-E9BB-37F4-1E36AB69B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3878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rtual background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B12E87-3B96-7F05-48CB-19DAB2A3F9A6}"/>
              </a:ext>
            </a:extLst>
          </p:cNvPr>
          <p:cNvSpPr/>
          <p:nvPr userDrawn="1"/>
        </p:nvSpPr>
        <p:spPr>
          <a:xfrm>
            <a:off x="0" y="6791325"/>
            <a:ext cx="12192000" cy="66675"/>
          </a:xfrm>
          <a:prstGeom prst="rect">
            <a:avLst/>
          </a:prstGeom>
          <a:gradFill>
            <a:gsLst>
              <a:gs pos="0">
                <a:schemeClr val="accent4"/>
              </a:gs>
              <a:gs pos="34000">
                <a:schemeClr val="accent1"/>
              </a:gs>
              <a:gs pos="65560">
                <a:schemeClr val="accent2"/>
              </a:gs>
              <a:gs pos="99890">
                <a:schemeClr val="accent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3617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100000">
              <a:srgbClr val="FFCCCC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/>
              <a:pPr/>
              <a:t>5/10/2025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40A61AF8-6CA2-4DC0-AB0C-54B2BDCB308E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634870" y="4988252"/>
            <a:ext cx="1849688" cy="18496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8D91DD-9C86-5A26-FB7A-76238A55C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7C6946-7BEC-D069-B51F-80526B722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BA022-6C80-2C5D-78F7-24B9C8C37E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CF832-788C-4A30-A874-A72157BA0ED2}" type="datetimeFigureOut">
              <a:rPr lang="en-US" smtClean="0"/>
              <a:t>5/10/2025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B292C-9725-0905-F7F4-D1A2D6A7F3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B4A79-D050-B793-30B0-27CDA4199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491E3-9838-4B39-AEBF-3B863E6B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3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jpg"/><Relationship Id="rId7" Type="http://schemas.openxmlformats.org/officeDocument/2006/relationships/image" Target="../media/image15.png"/><Relationship Id="rId2" Type="http://schemas.openxmlformats.org/officeDocument/2006/relationships/hyperlink" Target="mailto:magnus@transmokopter.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EEC31-E066-4E62-BAAB-C170893FF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0986" y="1363287"/>
            <a:ext cx="10668000" cy="2115312"/>
          </a:xfrm>
        </p:spPr>
        <p:txBody>
          <a:bodyPr/>
          <a:lstStyle/>
          <a:p>
            <a:r>
              <a:rPr lang="en-GB" sz="3200" dirty="0"/>
              <a:t>An Introduction to </a:t>
            </a:r>
            <a:br>
              <a:rPr lang="en-GB" sz="3200" dirty="0"/>
            </a:br>
            <a:r>
              <a:rPr lang="en-GB" sz="3200" dirty="0" err="1"/>
              <a:t>Sql</a:t>
            </a:r>
            <a:r>
              <a:rPr lang="en-GB" sz="3200" dirty="0"/>
              <a:t> Server Database Projects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9B0E28-205D-4B8D-B72F-75D77CF21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Magnus </a:t>
            </a:r>
            <a:r>
              <a:rPr lang="en-US" dirty="0" err="1"/>
              <a:t>Ahlkvist</a:t>
            </a:r>
            <a:endParaRPr lang="en-US" dirty="0"/>
          </a:p>
          <a:p>
            <a:r>
              <a:rPr lang="en-US" dirty="0" err="1"/>
              <a:t>Transmokopter</a:t>
            </a:r>
            <a:r>
              <a:rPr lang="en-US" dirty="0"/>
              <a:t> SQL AB</a:t>
            </a:r>
          </a:p>
          <a:p>
            <a:r>
              <a:rPr lang="en-US" dirty="0"/>
              <a:t>SQL Server consultant, Data Platform MVP</a:t>
            </a:r>
          </a:p>
        </p:txBody>
      </p:sp>
      <p:pic>
        <p:nvPicPr>
          <p:cNvPr id="5" name="Picture 4" descr="A picture containing person, looking, cellphone, phone&#10;&#10;Description automatically generated">
            <a:extLst>
              <a:ext uri="{FF2B5EF4-FFF2-40B4-BE49-F238E27FC236}">
                <a16:creationId xmlns:a16="http://schemas.microsoft.com/office/drawing/2014/main" id="{099A75BC-ED83-4232-8CE1-447DBDA9BC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596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188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D8742-F3DF-DA82-5FEB-E75171352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Free events aren’t really free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4567-296C-7C0B-D1BA-6EB2293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Visit the sponsors!!!!!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7872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C6105C-5259-01B6-6476-37D103B3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0B0E9B-705E-1F83-7712-3AA2F4F59507}"/>
              </a:ext>
            </a:extLst>
          </p:cNvPr>
          <p:cNvSpPr txBox="1"/>
          <p:nvPr/>
        </p:nvSpPr>
        <p:spPr>
          <a:xfrm>
            <a:off x="4711353" y="365757"/>
            <a:ext cx="680506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5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Thank You To Our Sponsors! </a:t>
            </a:r>
          </a:p>
        </p:txBody>
      </p:sp>
      <p:pic>
        <p:nvPicPr>
          <p:cNvPr id="14" name="Picture 13" descr="A logo with text and colorful arrows&#10;&#10;AI-generated content may be incorrect.">
            <a:extLst>
              <a:ext uri="{FF2B5EF4-FFF2-40B4-BE49-F238E27FC236}">
                <a16:creationId xmlns:a16="http://schemas.microsoft.com/office/drawing/2014/main" id="{460A906B-6413-D200-DE7A-332CCD751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742" y="207716"/>
            <a:ext cx="4042611" cy="19472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3AB514A-7E63-B358-5CF1-BEF8647B4B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80" y="2458912"/>
            <a:ext cx="4534533" cy="123842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C8F2B0F-36EF-9330-53E6-6DB347127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6745" y="2388932"/>
            <a:ext cx="3877216" cy="133368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42525DE-56C3-104D-7FCB-478FA07B4A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0366" y="5585540"/>
            <a:ext cx="2819794" cy="9335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1961971-89C6-1E61-5E87-26CBD37D03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9209" y="4030082"/>
            <a:ext cx="1609950" cy="194337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C869FD2-D880-4610-5F55-EEEF89044E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780" y="4100101"/>
            <a:ext cx="2991267" cy="120984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3C2B845-9411-67BB-4B22-1DF043BD695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59969" y="4159274"/>
            <a:ext cx="2991267" cy="111458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1B715F51-7085-5F43-2DA3-F82AAC7CBC1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4672" y="5576013"/>
            <a:ext cx="2286319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213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49967C5-AC23-C499-5078-7F479FD7C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Content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46F8A19-07C4-A4DC-C9D4-DDFAE041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b="0" i="0" dirty="0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Migration </a:t>
            </a:r>
            <a:r>
              <a:rPr lang="sv-SE" b="0" i="0" dirty="0" err="1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based</a:t>
            </a:r>
            <a:r>
              <a:rPr lang="sv-SE" b="0" i="0" dirty="0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sv-SE" b="0" i="0" dirty="0" err="1">
                <a:solidFill>
                  <a:srgbClr val="676A6C"/>
                </a:solidFill>
                <a:effectLst/>
                <a:latin typeface="open sans" panose="020B0606030504020204" pitchFamily="34" charset="0"/>
              </a:rPr>
              <a:t>deployments</a:t>
            </a:r>
            <a:endParaRPr lang="sv-SE" b="0" i="0" dirty="0">
              <a:solidFill>
                <a:srgbClr val="676A6C"/>
              </a:solidFill>
              <a:effectLst/>
              <a:latin typeface="open sans" panose="020B0606030504020204" pitchFamily="34" charset="0"/>
            </a:endParaRPr>
          </a:p>
          <a:p>
            <a:r>
              <a:rPr lang="sv-SE" dirty="0" err="1">
                <a:solidFill>
                  <a:srgbClr val="676A6C"/>
                </a:solidFill>
                <a:latin typeface="open sans" panose="020B0606030504020204" pitchFamily="34" charset="0"/>
              </a:rPr>
              <a:t>Model</a:t>
            </a:r>
            <a:r>
              <a:rPr lang="sv-SE" dirty="0">
                <a:solidFill>
                  <a:srgbClr val="676A6C"/>
                </a:solidFill>
                <a:latin typeface="open sans" panose="020B0606030504020204" pitchFamily="34" charset="0"/>
              </a:rPr>
              <a:t> </a:t>
            </a:r>
            <a:r>
              <a:rPr lang="sv-SE" dirty="0" err="1">
                <a:solidFill>
                  <a:srgbClr val="676A6C"/>
                </a:solidFill>
                <a:latin typeface="open sans" panose="020B0606030504020204" pitchFamily="34" charset="0"/>
              </a:rPr>
              <a:t>based</a:t>
            </a:r>
            <a:r>
              <a:rPr lang="sv-SE" dirty="0">
                <a:solidFill>
                  <a:srgbClr val="676A6C"/>
                </a:solidFill>
                <a:latin typeface="open sans" panose="020B0606030504020204" pitchFamily="34" charset="0"/>
              </a:rPr>
              <a:t> </a:t>
            </a:r>
            <a:r>
              <a:rPr lang="sv-SE" dirty="0" err="1">
                <a:solidFill>
                  <a:srgbClr val="676A6C"/>
                </a:solidFill>
                <a:latin typeface="open sans" panose="020B0606030504020204" pitchFamily="34" charset="0"/>
              </a:rPr>
              <a:t>deployments</a:t>
            </a:r>
            <a:endParaRPr lang="sv-SE" dirty="0">
              <a:solidFill>
                <a:srgbClr val="676A6C"/>
              </a:solidFill>
              <a:latin typeface="open sans" panose="020B0606030504020204" pitchFamily="34" charset="0"/>
            </a:endParaRPr>
          </a:p>
          <a:p>
            <a:r>
              <a:rPr lang="sv-SE" dirty="0" err="1"/>
              <a:t>Sql</a:t>
            </a:r>
            <a:r>
              <a:rPr lang="sv-SE" dirty="0"/>
              <a:t> Server </a:t>
            </a:r>
            <a:r>
              <a:rPr lang="sv-SE" dirty="0" err="1"/>
              <a:t>Database</a:t>
            </a:r>
            <a:r>
              <a:rPr lang="sv-SE" dirty="0"/>
              <a:t> </a:t>
            </a:r>
            <a:r>
              <a:rPr lang="sv-SE" dirty="0" err="1"/>
              <a:t>projects</a:t>
            </a:r>
            <a:endParaRPr lang="sv-SE" dirty="0"/>
          </a:p>
          <a:p>
            <a:pPr lvl="1"/>
            <a:r>
              <a:rPr lang="sv-SE" dirty="0"/>
              <a:t>.NET </a:t>
            </a:r>
            <a:r>
              <a:rPr lang="sv-SE" dirty="0" err="1"/>
              <a:t>Framework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type</a:t>
            </a:r>
            <a:endParaRPr lang="sv-SE" dirty="0"/>
          </a:p>
          <a:p>
            <a:pPr lvl="1"/>
            <a:r>
              <a:rPr lang="sv-SE" dirty="0"/>
              <a:t>SDK Style </a:t>
            </a:r>
            <a:r>
              <a:rPr lang="sv-SE" dirty="0" err="1"/>
              <a:t>database</a:t>
            </a:r>
            <a:r>
              <a:rPr lang="sv-SE" dirty="0"/>
              <a:t> </a:t>
            </a:r>
            <a:r>
              <a:rPr lang="sv-SE" dirty="0" err="1"/>
              <a:t>projects</a:t>
            </a:r>
            <a:endParaRPr lang="sv-SE" dirty="0"/>
          </a:p>
          <a:p>
            <a:r>
              <a:rPr lang="sv-SE" dirty="0"/>
              <a:t>Start </a:t>
            </a:r>
            <a:r>
              <a:rPr lang="sv-SE" dirty="0" err="1"/>
              <a:t>with</a:t>
            </a:r>
            <a:r>
              <a:rPr lang="sv-SE" dirty="0"/>
              <a:t> a </a:t>
            </a:r>
            <a:r>
              <a:rPr lang="sv-SE" dirty="0" err="1"/>
              <a:t>clean</a:t>
            </a:r>
            <a:r>
              <a:rPr lang="sv-SE" dirty="0"/>
              <a:t> </a:t>
            </a:r>
            <a:r>
              <a:rPr lang="sv-SE" dirty="0" err="1"/>
              <a:t>sheet</a:t>
            </a:r>
            <a:endParaRPr lang="sv-SE" dirty="0"/>
          </a:p>
          <a:p>
            <a:r>
              <a:rPr lang="sv-SE" dirty="0"/>
              <a:t>Start </a:t>
            </a:r>
            <a:r>
              <a:rPr lang="sv-SE" dirty="0" err="1"/>
              <a:t>with</a:t>
            </a:r>
            <a:r>
              <a:rPr lang="sv-SE" dirty="0"/>
              <a:t> an </a:t>
            </a:r>
            <a:r>
              <a:rPr lang="sv-SE" dirty="0" err="1"/>
              <a:t>existing</a:t>
            </a:r>
            <a:r>
              <a:rPr lang="sv-SE" dirty="0"/>
              <a:t> </a:t>
            </a:r>
            <a:r>
              <a:rPr lang="sv-SE" dirty="0" err="1"/>
              <a:t>database</a:t>
            </a:r>
            <a:endParaRPr lang="sv-SE" dirty="0"/>
          </a:p>
          <a:p>
            <a:r>
              <a:rPr lang="sv-SE" dirty="0" err="1"/>
              <a:t>Dependencies</a:t>
            </a:r>
            <a:endParaRPr lang="sv-SE" dirty="0"/>
          </a:p>
          <a:p>
            <a:r>
              <a:rPr lang="sv-SE" dirty="0" err="1"/>
              <a:t>Refactoring</a:t>
            </a:r>
            <a:r>
              <a:rPr lang="sv-SE" dirty="0"/>
              <a:t> data </a:t>
            </a:r>
            <a:r>
              <a:rPr lang="sv-SE" dirty="0" err="1"/>
              <a:t>objects</a:t>
            </a:r>
            <a:endParaRPr lang="sv-SE" dirty="0"/>
          </a:p>
          <a:p>
            <a:endParaRPr lang="sv-SE" dirty="0"/>
          </a:p>
          <a:p>
            <a:pPr lvl="1"/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000232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D68E2-F5AB-0607-7393-F5E74773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C45F0-0D15-3C56-8F9F-AFB5662F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4378" y="1363287"/>
            <a:ext cx="7394607" cy="1052253"/>
          </a:xfrm>
        </p:spPr>
        <p:txBody>
          <a:bodyPr/>
          <a:lstStyle/>
          <a:p>
            <a:pPr algn="l"/>
            <a:r>
              <a:rPr lang="en-GB" sz="3200" dirty="0"/>
              <a:t>Magnus Ahlkvist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B86271-ABDB-DEF8-FC3C-0BD0FA3CE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64379" y="2537461"/>
            <a:ext cx="5417821" cy="4244340"/>
          </a:xfrm>
        </p:spPr>
        <p:txBody>
          <a:bodyPr>
            <a:normAutofit/>
          </a:bodyPr>
          <a:lstStyle/>
          <a:p>
            <a:pPr algn="l"/>
            <a:r>
              <a:rPr lang="sv-SE" dirty="0"/>
              <a:t>🏭  </a:t>
            </a:r>
            <a:r>
              <a:rPr lang="en-US" dirty="0" err="1"/>
              <a:t>Transmokopter</a:t>
            </a:r>
            <a:r>
              <a:rPr lang="en-US" dirty="0"/>
              <a:t> SQL AB, SQL Server consultant</a:t>
            </a:r>
          </a:p>
          <a:p>
            <a:pPr algn="l"/>
            <a:r>
              <a:rPr lang="en-US" dirty="0"/>
              <a:t>         Microsoft Data Platform MVP</a:t>
            </a:r>
          </a:p>
          <a:p>
            <a:pPr algn="l"/>
            <a:r>
              <a:rPr lang="en-US" dirty="0"/>
              <a:t>         github.com/</a:t>
            </a:r>
            <a:r>
              <a:rPr lang="en-US" dirty="0" err="1"/>
              <a:t>transmokopter</a:t>
            </a:r>
            <a:endParaRPr lang="en-US" dirty="0"/>
          </a:p>
          <a:p>
            <a:pPr algn="l"/>
            <a:r>
              <a:rPr lang="en-US" dirty="0"/>
              <a:t>         </a:t>
            </a:r>
            <a:r>
              <a:rPr lang="en-US" dirty="0" err="1"/>
              <a:t>transmokopter</a:t>
            </a:r>
            <a:r>
              <a:rPr lang="en-US" dirty="0"/>
              <a:t> </a:t>
            </a:r>
          </a:p>
          <a:p>
            <a:pPr algn="l"/>
            <a:r>
              <a:rPr lang="en-US" dirty="0"/>
              <a:t>         linkedin.com/in/</a:t>
            </a:r>
            <a:r>
              <a:rPr lang="en-US" dirty="0" err="1"/>
              <a:t>magnusahlkvist</a:t>
            </a:r>
            <a:endParaRPr lang="en-US" dirty="0"/>
          </a:p>
          <a:p>
            <a:pPr algn="l"/>
            <a:r>
              <a:rPr lang="sv-SE" dirty="0"/>
              <a:t>📧  </a:t>
            </a:r>
            <a:r>
              <a:rPr lang="en-US" dirty="0">
                <a:hlinkClick r:id="rId2"/>
              </a:rPr>
              <a:t>magnus@transmokopter.se</a:t>
            </a:r>
            <a:endParaRPr lang="en-US" dirty="0"/>
          </a:p>
          <a:p>
            <a:pPr algn="l"/>
            <a:r>
              <a:rPr lang="en-US" dirty="0"/>
              <a:t>         youtube.com/c/</a:t>
            </a:r>
            <a:r>
              <a:rPr lang="en-US" dirty="0" err="1"/>
              <a:t>transmokopter</a:t>
            </a:r>
            <a:endParaRPr lang="en-US" dirty="0"/>
          </a:p>
        </p:txBody>
      </p:sp>
      <p:pic>
        <p:nvPicPr>
          <p:cNvPr id="5" name="Picture 4" descr="A picture containing person, looking, cellphone, phone&#10;&#10;Description automatically generated">
            <a:extLst>
              <a:ext uri="{FF2B5EF4-FFF2-40B4-BE49-F238E27FC236}">
                <a16:creationId xmlns:a16="http://schemas.microsoft.com/office/drawing/2014/main" id="{4B8D99AC-3706-E739-DCBD-D047EDE7DA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596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  <p:pic>
        <p:nvPicPr>
          <p:cNvPr id="7" name="Bildobjekt 6" descr="En bild som visar Electric blue, Teckensnitt, logotyp, text&#10;&#10;AI-genererat innehåll kan vara felaktigt.">
            <a:extLst>
              <a:ext uri="{FF2B5EF4-FFF2-40B4-BE49-F238E27FC236}">
                <a16:creationId xmlns:a16="http://schemas.microsoft.com/office/drawing/2014/main" id="{7448CAEB-95C6-8BF5-32C7-3DC0FB863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531" y="2952790"/>
            <a:ext cx="293329" cy="293329"/>
          </a:xfrm>
          <a:prstGeom prst="rect">
            <a:avLst/>
          </a:prstGeom>
        </p:spPr>
      </p:pic>
      <p:pic>
        <p:nvPicPr>
          <p:cNvPr id="9" name="Bildobjekt 8" descr="En bild som visar katt, däggdjur, siluett&#10;&#10;AI-genererat innehåll kan vara felaktigt.">
            <a:extLst>
              <a:ext uri="{FF2B5EF4-FFF2-40B4-BE49-F238E27FC236}">
                <a16:creationId xmlns:a16="http://schemas.microsoft.com/office/drawing/2014/main" id="{ADA5ECF0-71BF-D89E-A8C2-FD8615344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2531" y="3368040"/>
            <a:ext cx="316283" cy="316283"/>
          </a:xfrm>
          <a:prstGeom prst="rect">
            <a:avLst/>
          </a:prstGeom>
        </p:spPr>
      </p:pic>
      <p:pic>
        <p:nvPicPr>
          <p:cNvPr id="11" name="Bildobjekt 10" descr="En bild som visar fjäril, kreativitet&#10;&#10;AI-genererat innehåll kan vara felaktigt.">
            <a:extLst>
              <a:ext uri="{FF2B5EF4-FFF2-40B4-BE49-F238E27FC236}">
                <a16:creationId xmlns:a16="http://schemas.microsoft.com/office/drawing/2014/main" id="{EE33515F-DDD1-D696-FFE7-6916CFEA8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2531" y="3806244"/>
            <a:ext cx="293329" cy="293329"/>
          </a:xfrm>
          <a:prstGeom prst="rect">
            <a:avLst/>
          </a:prstGeom>
        </p:spPr>
      </p:pic>
      <p:pic>
        <p:nvPicPr>
          <p:cNvPr id="13" name="Bildobjekt 12" descr="En bild som visar skärmbild, Teckensnitt, Grafik, logotyp&#10;&#10;AI-genererat innehåll kan vara felaktigt.">
            <a:extLst>
              <a:ext uri="{FF2B5EF4-FFF2-40B4-BE49-F238E27FC236}">
                <a16:creationId xmlns:a16="http://schemas.microsoft.com/office/drawing/2014/main" id="{DF6444F6-961C-E4CA-E303-543B48700A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2531" y="4221494"/>
            <a:ext cx="318034" cy="270454"/>
          </a:xfrm>
          <a:prstGeom prst="rect">
            <a:avLst/>
          </a:prstGeom>
        </p:spPr>
      </p:pic>
      <p:pic>
        <p:nvPicPr>
          <p:cNvPr id="15" name="Bildobjekt 14" descr="En bild som visar Grafik, symbol, Teckensnitt, röd&#10;&#10;AI-genererat innehåll kan vara felaktigt.">
            <a:extLst>
              <a:ext uri="{FF2B5EF4-FFF2-40B4-BE49-F238E27FC236}">
                <a16:creationId xmlns:a16="http://schemas.microsoft.com/office/drawing/2014/main" id="{57C0AFFD-06A8-9733-439D-5472FB0D16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2530" y="4983657"/>
            <a:ext cx="293329" cy="293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8C65C0F-3A78-7604-0F3B-0384A0F4B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Migration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deployments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CD10646-C3D8-5E43-3BBB-565BA567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To upgrade database from version 1 to version 7, run upgrade scripts for versions 2, 3, 4, 5, 6 and 7.</a:t>
            </a:r>
          </a:p>
          <a:p>
            <a:r>
              <a:rPr lang="sv-SE"/>
              <a:t>Often together with some sort of SchemaVersions table.</a:t>
            </a:r>
          </a:p>
          <a:p>
            <a:pPr lvl="1"/>
            <a:r>
              <a:rPr lang="sv-SE"/>
              <a:t>Entity Framework migrations</a:t>
            </a:r>
          </a:p>
          <a:p>
            <a:pPr lvl="1"/>
            <a:r>
              <a:rPr lang="sv-SE"/>
              <a:t>Flyway</a:t>
            </a:r>
          </a:p>
          <a:p>
            <a:pPr lvl="1"/>
            <a:r>
              <a:rPr lang="sv-SE"/>
              <a:t>Liquibase</a:t>
            </a:r>
          </a:p>
          <a:p>
            <a:pPr lvl="1"/>
            <a:r>
              <a:rPr lang="sv-SE"/>
              <a:t>DbUp</a:t>
            </a:r>
          </a:p>
          <a:p>
            <a:pPr lvl="1"/>
            <a:r>
              <a:rPr lang="sv-SE"/>
              <a:t>Many more</a:t>
            </a:r>
          </a:p>
          <a:p>
            <a:r>
              <a:rPr lang="sv-SE"/>
              <a:t>Often idempotent scripts</a:t>
            </a:r>
          </a:p>
          <a:p>
            <a:pPr lvl="1"/>
            <a:r>
              <a:rPr lang="sv-SE"/>
              <a:t>Most often to avoid problems when old-school manual deploys happened</a:t>
            </a:r>
            <a:endParaRPr lang="sv-S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C78F8-69C1-911D-29E5-23C8DCC0094B}"/>
              </a:ext>
            </a:extLst>
          </p:cNvPr>
          <p:cNvSpPr txBox="1"/>
          <p:nvPr/>
        </p:nvSpPr>
        <p:spPr>
          <a:xfrm rot="21035740">
            <a:off x="3694839" y="3513529"/>
            <a:ext cx="8062190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sv-SE" dirty="0"/>
              <a:t>Migrations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deployments</a:t>
            </a:r>
            <a:r>
              <a:rPr lang="sv-SE" dirty="0"/>
              <a:t>. </a:t>
            </a:r>
            <a:r>
              <a:rPr lang="sv-SE" dirty="0" err="1"/>
              <a:t>What</a:t>
            </a:r>
            <a:r>
              <a:rPr lang="sv-SE" dirty="0"/>
              <a:t> </a:t>
            </a:r>
            <a:r>
              <a:rPr lang="sv-SE" dirty="0" err="1"/>
              <a:t>they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and </a:t>
            </a:r>
            <a:r>
              <a:rPr lang="sv-SE" dirty="0" err="1"/>
              <a:t>why</a:t>
            </a:r>
            <a:r>
              <a:rPr lang="sv-SE" dirty="0"/>
              <a:t> I </a:t>
            </a:r>
            <a:r>
              <a:rPr lang="sv-SE" dirty="0" err="1"/>
              <a:t>don’t</a:t>
            </a:r>
            <a:r>
              <a:rPr lang="sv-SE" dirty="0"/>
              <a:t> like </a:t>
            </a:r>
            <a:r>
              <a:rPr lang="sv-SE" dirty="0" err="1"/>
              <a:t>them</a:t>
            </a:r>
            <a:r>
              <a:rPr lang="sv-SE" dirty="0"/>
              <a:t>.</a:t>
            </a:r>
          </a:p>
          <a:p>
            <a:r>
              <a:rPr lang="sv-SE" dirty="0"/>
              <a:t>https://www.youtube.com/watch?v=-WR-XA_1aXA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21112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06123B5-C240-1E22-CDE3-9130EF43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Migrations initialization</a:t>
            </a:r>
            <a:endParaRPr lang="sv-SE" dirty="0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69EA7FA3-11CD-235E-4278-873E519EA4EB}"/>
              </a:ext>
            </a:extLst>
          </p:cNvPr>
          <p:cNvSpPr txBox="1"/>
          <p:nvPr/>
        </p:nvSpPr>
        <p:spPr>
          <a:xfrm>
            <a:off x="677334" y="1724085"/>
            <a:ext cx="9883140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--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Initiatialize</a:t>
            </a:r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empty</a:t>
            </a:r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database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DB_ID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MigrationDb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	CREATE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DATABASE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MigrationDb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sv-SE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USE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MigrationDb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EXISTS(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FF00"/>
                </a:solidFill>
                <a:latin typeface="Consolas" panose="020B0609020204030204" pitchFamily="49" charset="0"/>
              </a:rPr>
              <a:t>sys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FF00"/>
                </a:solidFill>
                <a:latin typeface="Consolas" panose="020B0609020204030204" pitchFamily="49" charset="0"/>
              </a:rPr>
              <a:t>tables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name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SchemaVersions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’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	CREATE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sv-SE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SchemaVersions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SchemaVersion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30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			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pk_SchemaVersion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PRIMARY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sv-SE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Applied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DATETIME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sv-SE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	);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647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96650-C3F7-4088-49A3-B82557DB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CB58B6-F474-7C95-CAB4-AADBED3B5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Version 1.0.0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15A0F2E9-7E05-100D-6B85-502D84C29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870" y="0"/>
            <a:ext cx="64737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04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3C7FC-7A09-107A-EDC9-0909D3CA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B7B1F15-2E6C-2333-CBE7-DE227368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Version 1.1.0</a:t>
            </a: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6BEEE4E5-0E15-AA43-E170-E7E55D31C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024" y="609600"/>
            <a:ext cx="6289616" cy="547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49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CB45-0FED-AB92-18B7-D6035CE0D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EC8900D-BCFA-CE4B-83F1-3C9668EBF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Version 1.2.0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56D2E51E-E6AB-AC40-D569-664A64441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607" y="609600"/>
            <a:ext cx="6478854" cy="5680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008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B0CC8-6C08-B949-7F94-6E6B5C4DA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Short demo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D2805-BF0E-C045-BFF8-12A430A10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Migrations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83047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BFF07C0-1EBD-0808-1199-66A4D3075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1539999-38DF-6F25-D7AF-B1B565954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err="1"/>
              <a:t>Create</a:t>
            </a:r>
            <a:r>
              <a:rPr lang="sv-SE" dirty="0"/>
              <a:t> a data </a:t>
            </a:r>
            <a:r>
              <a:rPr lang="sv-SE" dirty="0" err="1"/>
              <a:t>model</a:t>
            </a:r>
            <a:r>
              <a:rPr lang="sv-SE" dirty="0"/>
              <a:t> in </a:t>
            </a:r>
            <a:r>
              <a:rPr lang="sv-SE" dirty="0" err="1"/>
              <a:t>code</a:t>
            </a:r>
            <a:endParaRPr lang="sv-SE" dirty="0"/>
          </a:p>
          <a:p>
            <a:pPr lvl="1"/>
            <a:r>
              <a:rPr lang="sv-SE" dirty="0"/>
              <a:t>SSDT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  <a:p>
            <a:pPr lvl="1"/>
            <a:r>
              <a:rPr lang="sv-SE" dirty="0"/>
              <a:t>SDK Style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  <a:p>
            <a:r>
              <a:rPr lang="sv-SE" dirty="0" err="1"/>
              <a:t>Compile</a:t>
            </a:r>
            <a:r>
              <a:rPr lang="sv-SE" dirty="0"/>
              <a:t> the </a:t>
            </a:r>
            <a:r>
              <a:rPr lang="sv-SE" dirty="0" err="1"/>
              <a:t>model</a:t>
            </a:r>
            <a:r>
              <a:rPr lang="sv-SE" dirty="0"/>
              <a:t> to a </a:t>
            </a:r>
            <a:r>
              <a:rPr lang="sv-SE" dirty="0" err="1"/>
              <a:t>dacpac</a:t>
            </a:r>
            <a:endParaRPr lang="sv-SE" dirty="0"/>
          </a:p>
          <a:p>
            <a:pPr lvl="1"/>
            <a:r>
              <a:rPr lang="sv-SE" dirty="0" err="1"/>
              <a:t>sqlpackage</a:t>
            </a:r>
            <a:r>
              <a:rPr lang="sv-SE" dirty="0"/>
              <a:t> </a:t>
            </a:r>
          </a:p>
          <a:p>
            <a:pPr lvl="1"/>
            <a:r>
              <a:rPr lang="sv-SE" dirty="0"/>
              <a:t>dotnet </a:t>
            </a:r>
            <a:r>
              <a:rPr lang="sv-SE" dirty="0" err="1"/>
              <a:t>build</a:t>
            </a:r>
            <a:endParaRPr lang="sv-SE" dirty="0"/>
          </a:p>
          <a:p>
            <a:r>
              <a:rPr lang="sv-SE" dirty="0" err="1"/>
              <a:t>Deploy</a:t>
            </a:r>
            <a:r>
              <a:rPr lang="sv-SE" dirty="0"/>
              <a:t> </a:t>
            </a:r>
            <a:r>
              <a:rPr lang="sv-SE" dirty="0" err="1"/>
              <a:t>using</a:t>
            </a:r>
            <a:r>
              <a:rPr lang="sv-SE" dirty="0"/>
              <a:t> a </a:t>
            </a:r>
            <a:r>
              <a:rPr lang="sv-SE" dirty="0" err="1"/>
              <a:t>tool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</a:t>
            </a:r>
            <a:r>
              <a:rPr lang="sv-SE" dirty="0" err="1"/>
              <a:t>compare</a:t>
            </a:r>
            <a:r>
              <a:rPr lang="sv-SE" dirty="0"/>
              <a:t> the </a:t>
            </a:r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the </a:t>
            </a:r>
            <a:r>
              <a:rPr lang="sv-SE" dirty="0" err="1"/>
              <a:t>target</a:t>
            </a:r>
            <a:r>
              <a:rPr lang="sv-SE" dirty="0"/>
              <a:t> data </a:t>
            </a:r>
            <a:r>
              <a:rPr lang="sv-SE" dirty="0" err="1"/>
              <a:t>model</a:t>
            </a:r>
            <a:r>
              <a:rPr lang="sv-SE" dirty="0"/>
              <a:t> and make </a:t>
            </a:r>
            <a:r>
              <a:rPr lang="sv-SE" dirty="0" err="1"/>
              <a:t>corrections</a:t>
            </a:r>
            <a:r>
              <a:rPr lang="sv-SE" dirty="0"/>
              <a:t> to the </a:t>
            </a:r>
            <a:r>
              <a:rPr lang="sv-SE" dirty="0" err="1"/>
              <a:t>target</a:t>
            </a:r>
            <a:endParaRPr lang="sv-SE" dirty="0"/>
          </a:p>
          <a:p>
            <a:pPr lvl="1"/>
            <a:r>
              <a:rPr lang="sv-SE" dirty="0" err="1"/>
              <a:t>Sqlpackage</a:t>
            </a:r>
            <a:endParaRPr lang="sv-SE" dirty="0"/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475718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1BD2D2D-8C5C-76A0-ADED-C851B8A4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SQL Server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EB283A5-1724-8B3C-3E44-780DC660A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err="1"/>
              <a:t>Mainly</a:t>
            </a:r>
            <a:r>
              <a:rPr lang="sv-SE" dirty="0"/>
              <a:t> a </a:t>
            </a:r>
            <a:r>
              <a:rPr lang="sv-SE" dirty="0" err="1"/>
              <a:t>tool</a:t>
            </a:r>
            <a:r>
              <a:rPr lang="sv-SE" dirty="0"/>
              <a:t> for </a:t>
            </a:r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deployments</a:t>
            </a:r>
            <a:endParaRPr lang="sv-SE" dirty="0"/>
          </a:p>
          <a:p>
            <a:r>
              <a:rPr lang="sv-SE" dirty="0"/>
              <a:t>Supports migrations </a:t>
            </a:r>
            <a:r>
              <a:rPr lang="sv-SE" dirty="0" err="1"/>
              <a:t>with</a:t>
            </a:r>
            <a:r>
              <a:rPr lang="sv-SE" dirty="0"/>
              <a:t> Pre- and Post </a:t>
            </a:r>
            <a:r>
              <a:rPr lang="sv-SE" dirty="0" err="1"/>
              <a:t>Deploy</a:t>
            </a:r>
            <a:r>
              <a:rPr lang="sv-SE" dirty="0"/>
              <a:t> scripts and </a:t>
            </a:r>
            <a:r>
              <a:rPr lang="sv-SE" dirty="0" err="1"/>
              <a:t>refactor</a:t>
            </a:r>
            <a:r>
              <a:rPr lang="sv-SE" dirty="0"/>
              <a:t>-log.</a:t>
            </a:r>
          </a:p>
        </p:txBody>
      </p:sp>
    </p:spTree>
    <p:extLst>
      <p:ext uri="{BB962C8B-B14F-4D97-AF65-F5344CB8AC3E}">
        <p14:creationId xmlns:p14="http://schemas.microsoft.com/office/powerpoint/2010/main" val="24257754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4F8E6A7D-FFAA-B823-8804-EC93946E6E19}"/>
              </a:ext>
            </a:extLst>
          </p:cNvPr>
          <p:cNvSpPr/>
          <p:nvPr/>
        </p:nvSpPr>
        <p:spPr>
          <a:xfrm>
            <a:off x="7337146" y="365760"/>
            <a:ext cx="4440326" cy="2106778"/>
          </a:xfrm>
          <a:prstGeom prst="wedgeRoundRectCallout">
            <a:avLst>
              <a:gd name="adj1" fmla="val -25605"/>
              <a:gd name="adj2" fmla="val 139359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Warning!</a:t>
            </a:r>
          </a:p>
          <a:p>
            <a:pPr algn="ctr"/>
            <a:r>
              <a:rPr lang="en-GB" b="1" dirty="0">
                <a:solidFill>
                  <a:schemeClr val="tx1"/>
                </a:solidFill>
              </a:rPr>
              <a:t>Copy/Paste of these commands from PowerPoint won’t work.</a:t>
            </a:r>
          </a:p>
          <a:p>
            <a:pPr algn="ctr"/>
            <a:r>
              <a:rPr lang="en-GB" b="1" dirty="0">
                <a:solidFill>
                  <a:schemeClr val="tx1"/>
                </a:solidFill>
              </a:rPr>
              <a:t>Because hyphens are broken.</a:t>
            </a:r>
          </a:p>
          <a:p>
            <a:pPr algn="ctr"/>
            <a:r>
              <a:rPr lang="en-GB" b="1" dirty="0">
                <a:solidFill>
                  <a:schemeClr val="tx1"/>
                </a:solidFill>
              </a:rPr>
              <a:t>-o is not the same as </a:t>
            </a:r>
            <a:r>
              <a:rPr lang="sv-SE" b="1" dirty="0">
                <a:solidFill>
                  <a:schemeClr val="tx1"/>
                </a:solidFill>
                <a:latin typeface="Consolas" panose="020B0609020204030204" pitchFamily="49" charset="0"/>
              </a:rPr>
              <a:t>–o</a:t>
            </a:r>
            <a:endParaRPr lang="LID4096" b="1" dirty="0">
              <a:solidFill>
                <a:schemeClr val="tx1"/>
              </a:solidFill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2255877-C3B2-3DA3-1D07-F0737210D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SDK Style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B54F8F6-6C3F-39C4-28EA-5125DF9BC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10935546" cy="3880773"/>
          </a:xfrm>
        </p:spPr>
        <p:txBody>
          <a:bodyPr>
            <a:normAutofit fontScale="92500" lnSpcReduction="20000"/>
          </a:bodyPr>
          <a:lstStyle/>
          <a:p>
            <a:r>
              <a:rPr lang="sv-SE" dirty="0"/>
              <a:t>.NET </a:t>
            </a:r>
            <a:r>
              <a:rPr lang="sv-SE" dirty="0" err="1"/>
              <a:t>Core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file</a:t>
            </a:r>
            <a:endParaRPr lang="sv-SE" dirty="0"/>
          </a:p>
          <a:p>
            <a:r>
              <a:rPr lang="sv-SE" dirty="0"/>
              <a:t>Minimalistic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file</a:t>
            </a:r>
            <a:r>
              <a:rPr lang="sv-SE" dirty="0"/>
              <a:t> </a:t>
            </a:r>
            <a:r>
              <a:rPr lang="sv-SE" dirty="0" err="1"/>
              <a:t>compared</a:t>
            </a:r>
            <a:r>
              <a:rPr lang="sv-SE" dirty="0"/>
              <a:t> to SSDT </a:t>
            </a:r>
            <a:r>
              <a:rPr lang="sv-SE" dirty="0" err="1"/>
              <a:t>Database</a:t>
            </a:r>
            <a:r>
              <a:rPr lang="sv-SE" dirty="0"/>
              <a:t> Project</a:t>
            </a:r>
          </a:p>
          <a:p>
            <a:r>
              <a:rPr lang="sv-SE" dirty="0" err="1"/>
              <a:t>Create</a:t>
            </a:r>
            <a:r>
              <a:rPr lang="sv-SE" dirty="0"/>
              <a:t> </a:t>
            </a:r>
            <a:r>
              <a:rPr lang="sv-SE" dirty="0" err="1"/>
              <a:t>using</a:t>
            </a:r>
            <a:r>
              <a:rPr lang="sv-SE" dirty="0"/>
              <a:t> dotnet cli, </a:t>
            </a:r>
            <a:r>
              <a:rPr lang="sv-SE" dirty="0" err="1"/>
              <a:t>Azure</a:t>
            </a:r>
            <a:r>
              <a:rPr lang="sv-SE" dirty="0"/>
              <a:t> Data Studio or </a:t>
            </a:r>
            <a:r>
              <a:rPr lang="sv-SE" dirty="0" err="1"/>
              <a:t>VSCode</a:t>
            </a:r>
            <a:r>
              <a:rPr lang="sv-SE" dirty="0"/>
              <a:t> (or </a:t>
            </a:r>
            <a:r>
              <a:rPr lang="sv-SE" dirty="0" err="1"/>
              <a:t>preview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SDK Style </a:t>
            </a:r>
            <a:r>
              <a:rPr lang="sv-SE" dirty="0" err="1"/>
              <a:t>projects</a:t>
            </a:r>
            <a:r>
              <a:rPr lang="sv-SE" dirty="0"/>
              <a:t> in Visual Studio 2022)</a:t>
            </a:r>
          </a:p>
          <a:p>
            <a:pPr lvl="1"/>
            <a:r>
              <a:rPr lang="sv-SE" dirty="0" err="1"/>
              <a:t>Install</a:t>
            </a:r>
            <a:r>
              <a:rPr lang="sv-SE" dirty="0"/>
              <a:t> </a:t>
            </a:r>
            <a:r>
              <a:rPr lang="sv-SE" dirty="0" err="1"/>
              <a:t>sqlpackage</a:t>
            </a:r>
            <a:r>
              <a:rPr lang="sv-SE" dirty="0"/>
              <a:t> and the </a:t>
            </a:r>
            <a:r>
              <a:rPr lang="sv-SE" dirty="0" err="1"/>
              <a:t>sqlproj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template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</a:t>
            </a:r>
            <a:r>
              <a:rPr lang="sv-SE" dirty="0" err="1">
                <a:latin typeface="Consolas" panose="020B0609020204030204" pitchFamily="49" charset="0"/>
              </a:rPr>
              <a:t>tool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install</a:t>
            </a:r>
            <a:r>
              <a:rPr lang="sv-SE" dirty="0">
                <a:latin typeface="Consolas" panose="020B0609020204030204" pitchFamily="49" charset="0"/>
              </a:rPr>
              <a:t> --global </a:t>
            </a:r>
            <a:r>
              <a:rPr lang="sv-SE" dirty="0" err="1">
                <a:latin typeface="Consolas" panose="020B0609020204030204" pitchFamily="49" charset="0"/>
              </a:rPr>
              <a:t>microsoft.sqlpackage</a:t>
            </a:r>
            <a:endParaRPr lang="sv-SE" dirty="0">
              <a:latin typeface="Consolas" panose="020B0609020204030204" pitchFamily="49" charset="0"/>
            </a:endParaRP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install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Microsoft.Build.Sql.Templates</a:t>
            </a:r>
            <a:endParaRPr lang="sv-SE" dirty="0">
              <a:latin typeface="Consolas" panose="020B0609020204030204" pitchFamily="49" charset="0"/>
            </a:endParaRPr>
          </a:p>
          <a:p>
            <a:pPr lvl="1"/>
            <a:r>
              <a:rPr lang="sv-SE" dirty="0" err="1"/>
              <a:t>Create</a:t>
            </a:r>
            <a:r>
              <a:rPr lang="sv-SE" dirty="0"/>
              <a:t> a new DB-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target</a:t>
            </a:r>
            <a:r>
              <a:rPr lang="sv-SE" dirty="0"/>
              <a:t> </a:t>
            </a:r>
            <a:r>
              <a:rPr lang="sv-SE" dirty="0" err="1"/>
              <a:t>platform</a:t>
            </a:r>
            <a:r>
              <a:rPr lang="sv-SE" dirty="0"/>
              <a:t> = </a:t>
            </a:r>
            <a:r>
              <a:rPr lang="sv-SE" dirty="0" err="1"/>
              <a:t>Sql</a:t>
            </a:r>
            <a:r>
              <a:rPr lang="sv-SE" dirty="0"/>
              <a:t> Server 2022 or </a:t>
            </a:r>
            <a:r>
              <a:rPr lang="sv-SE" dirty="0" err="1"/>
              <a:t>Azure</a:t>
            </a:r>
            <a:r>
              <a:rPr lang="sv-SE" dirty="0"/>
              <a:t> </a:t>
            </a:r>
            <a:r>
              <a:rPr lang="sv-SE" dirty="0" err="1"/>
              <a:t>Sql</a:t>
            </a:r>
            <a:r>
              <a:rPr lang="sv-SE" dirty="0"/>
              <a:t> (default)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–n </a:t>
            </a:r>
            <a:r>
              <a:rPr lang="sv-SE" dirty="0" err="1">
                <a:latin typeface="Consolas" panose="020B0609020204030204" pitchFamily="49" charset="0"/>
              </a:rPr>
              <a:t>ArtyPartyDatabaseName</a:t>
            </a:r>
            <a:r>
              <a:rPr lang="sv-SE" dirty="0">
                <a:latin typeface="Consolas" panose="020B0609020204030204" pitchFamily="49" charset="0"/>
              </a:rPr>
              <a:t> –o c:\git\ArtyPartyDatabaseName –</a:t>
            </a:r>
            <a:r>
              <a:rPr lang="sv-SE" dirty="0" err="1">
                <a:latin typeface="Consolas" panose="020B0609020204030204" pitchFamily="49" charset="0"/>
              </a:rPr>
              <a:t>tp</a:t>
            </a:r>
            <a:r>
              <a:rPr lang="sv-SE" dirty="0">
                <a:latin typeface="Consolas" panose="020B0609020204030204" pitchFamily="49" charset="0"/>
              </a:rPr>
              <a:t> Sql160</a:t>
            </a:r>
          </a:p>
          <a:p>
            <a:pPr lvl="1"/>
            <a:r>
              <a:rPr lang="sv-SE" dirty="0" err="1"/>
              <a:t>Create</a:t>
            </a:r>
            <a:r>
              <a:rPr lang="sv-SE" dirty="0"/>
              <a:t> a new DB-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target</a:t>
            </a:r>
            <a:r>
              <a:rPr lang="sv-SE" dirty="0"/>
              <a:t> </a:t>
            </a:r>
            <a:r>
              <a:rPr lang="sv-SE" dirty="0" err="1"/>
              <a:t>platform</a:t>
            </a:r>
            <a:r>
              <a:rPr lang="sv-SE" dirty="0"/>
              <a:t> = </a:t>
            </a:r>
            <a:r>
              <a:rPr lang="sv-SE" dirty="0" err="1"/>
              <a:t>Fabric</a:t>
            </a:r>
            <a:r>
              <a:rPr lang="sv-SE" dirty="0"/>
              <a:t> DW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–n </a:t>
            </a:r>
            <a:r>
              <a:rPr lang="sv-SE" dirty="0" err="1">
                <a:latin typeface="Consolas" panose="020B0609020204030204" pitchFamily="49" charset="0"/>
              </a:rPr>
              <a:t>FabricateStuff</a:t>
            </a:r>
            <a:r>
              <a:rPr lang="sv-SE" dirty="0">
                <a:latin typeface="Consolas" panose="020B0609020204030204" pitchFamily="49" charset="0"/>
              </a:rPr>
              <a:t> –o c:\git\Fabric\db\FabricateStuff –</a:t>
            </a:r>
            <a:r>
              <a:rPr lang="sv-SE" dirty="0" err="1">
                <a:latin typeface="Consolas" panose="020B0609020204030204" pitchFamily="49" charset="0"/>
              </a:rPr>
              <a:t>tp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SqlDwUnified</a:t>
            </a:r>
            <a:endParaRPr lang="sv-SE" dirty="0">
              <a:latin typeface="Consolas" panose="020B0609020204030204" pitchFamily="49" charset="0"/>
            </a:endParaRPr>
          </a:p>
          <a:p>
            <a:pPr lvl="1"/>
            <a:r>
              <a:rPr lang="sv-SE" dirty="0"/>
              <a:t> Get </a:t>
            </a:r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help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options for dotnet new </a:t>
            </a:r>
            <a:r>
              <a:rPr lang="sv-SE" dirty="0" err="1"/>
              <a:t>sqlproj</a:t>
            </a:r>
            <a:endParaRPr lang="sv-SE" dirty="0"/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-h</a:t>
            </a:r>
          </a:p>
        </p:txBody>
      </p:sp>
    </p:spTree>
    <p:extLst>
      <p:ext uri="{BB962C8B-B14F-4D97-AF65-F5344CB8AC3E}">
        <p14:creationId xmlns:p14="http://schemas.microsoft.com/office/powerpoint/2010/main" val="3189988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BA59C8D-A0B5-92CB-01C5-435A152EC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SSDT </a:t>
            </a:r>
            <a:r>
              <a:rPr lang="sv-SE" dirty="0" err="1"/>
              <a:t>Database</a:t>
            </a:r>
            <a:r>
              <a:rPr lang="sv-SE" dirty="0"/>
              <a:t> Projects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489E1F7-AEA4-DEF2-6DD6-BE777B457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/>
              <a:t>.NET </a:t>
            </a:r>
            <a:r>
              <a:rPr lang="sv-SE" dirty="0" err="1"/>
              <a:t>Framework</a:t>
            </a:r>
            <a:r>
              <a:rPr lang="sv-SE" dirty="0"/>
              <a:t> </a:t>
            </a:r>
            <a:r>
              <a:rPr lang="sv-SE" dirty="0" err="1"/>
              <a:t>based</a:t>
            </a:r>
            <a:r>
              <a:rPr lang="sv-SE" dirty="0"/>
              <a:t> </a:t>
            </a:r>
            <a:r>
              <a:rPr lang="sv-SE" dirty="0" err="1"/>
              <a:t>project</a:t>
            </a:r>
            <a:r>
              <a:rPr lang="sv-SE" dirty="0"/>
              <a:t> </a:t>
            </a:r>
            <a:r>
              <a:rPr lang="sv-SE" dirty="0" err="1"/>
              <a:t>type</a:t>
            </a:r>
            <a:endParaRPr lang="sv-SE" dirty="0"/>
          </a:p>
          <a:p>
            <a:r>
              <a:rPr lang="sv-SE" dirty="0"/>
              <a:t>Visual Studio support </a:t>
            </a:r>
            <a:r>
              <a:rPr lang="sv-SE" dirty="0" err="1"/>
              <a:t>since</a:t>
            </a:r>
            <a:r>
              <a:rPr lang="sv-SE" dirty="0"/>
              <a:t> long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6644759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8322C01-6142-FDFA-F4A2-24D0A2DAC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Project </a:t>
            </a:r>
            <a:r>
              <a:rPr lang="sv-SE" dirty="0" err="1"/>
              <a:t>file</a:t>
            </a:r>
            <a:r>
              <a:rPr lang="sv-SE" dirty="0"/>
              <a:t> </a:t>
            </a:r>
            <a:r>
              <a:rPr lang="sv-SE" dirty="0" err="1"/>
              <a:t>differences</a:t>
            </a:r>
            <a:endParaRPr lang="sv-SE" dirty="0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06960D-7F25-F57F-5B95-A71EB92AC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83" y="1463040"/>
            <a:ext cx="5583830" cy="4457700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BC4EDB47-3148-4143-C865-18B4EFC96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86817"/>
            <a:ext cx="5611008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432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F760-B367-6E08-C5A6-FA249A9DA3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Create, don’t alter</a:t>
            </a:r>
            <a:endParaRPr lang="LID4096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10C7DCB-DAE1-0CD7-C8ED-063D70AD4A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…except in pre- and post-deploy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31876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B30D-54DA-3A1F-3B93-84F647E0A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 started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71478-AF36-5F1B-AA7C-A686E5AB4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clean</a:t>
            </a:r>
          </a:p>
          <a:p>
            <a:r>
              <a:rPr lang="en-GB" dirty="0"/>
              <a:t>Import existing database with Schema Comparison</a:t>
            </a:r>
          </a:p>
        </p:txBody>
      </p:sp>
    </p:spTree>
    <p:extLst>
      <p:ext uri="{BB962C8B-B14F-4D97-AF65-F5344CB8AC3E}">
        <p14:creationId xmlns:p14="http://schemas.microsoft.com/office/powerpoint/2010/main" val="2316356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EF7FE-4AD3-24F3-DFAC-A603E30D4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Database 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3214C-7556-D124-FFBE-2C39A324D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Cross database</a:t>
            </a:r>
          </a:p>
          <a:p>
            <a:pPr lvl="1"/>
            <a:r>
              <a:rPr lang="en-GB" dirty="0"/>
              <a:t>Reference system databases</a:t>
            </a:r>
          </a:p>
          <a:p>
            <a:pPr lvl="1"/>
            <a:r>
              <a:rPr lang="en-GB" dirty="0"/>
              <a:t>Reference user databases</a:t>
            </a:r>
          </a:p>
          <a:p>
            <a:pPr lvl="2"/>
            <a:r>
              <a:rPr lang="en-GB" dirty="0"/>
              <a:t>Database project reference</a:t>
            </a:r>
          </a:p>
          <a:p>
            <a:pPr lvl="2"/>
            <a:r>
              <a:rPr lang="en-GB" dirty="0" err="1"/>
              <a:t>Dacpac</a:t>
            </a:r>
            <a:r>
              <a:rPr lang="en-GB" dirty="0"/>
              <a:t> reference</a:t>
            </a:r>
          </a:p>
          <a:p>
            <a:pPr lvl="2"/>
            <a:r>
              <a:rPr lang="en-GB" dirty="0" err="1"/>
              <a:t>Nuget</a:t>
            </a:r>
            <a:r>
              <a:rPr lang="en-GB" dirty="0"/>
              <a:t> reference (SDK-style only)</a:t>
            </a:r>
          </a:p>
          <a:p>
            <a:r>
              <a:rPr lang="en-GB" dirty="0"/>
              <a:t>Reference as inheritance</a:t>
            </a:r>
          </a:p>
          <a:p>
            <a:pPr lvl="1"/>
            <a:r>
              <a:rPr lang="en-GB" dirty="0"/>
              <a:t>Useful </a:t>
            </a:r>
            <a:r>
              <a:rPr lang="en-GB" dirty="0" err="1"/>
              <a:t>eg</a:t>
            </a:r>
            <a:r>
              <a:rPr lang="en-GB" dirty="0"/>
              <a:t> when using </a:t>
            </a:r>
            <a:r>
              <a:rPr lang="en-GB" dirty="0" err="1"/>
              <a:t>tSQLt</a:t>
            </a:r>
            <a:r>
              <a:rPr lang="en-GB" dirty="0"/>
              <a:t> for tests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03353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DD853DA-0891-1F38-3928-1627F615C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472" y="1161057"/>
            <a:ext cx="6356527" cy="23648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70F726-3103-E09B-3850-C19C0BB43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dacpac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97819-062B-1B1A-C3DF-9CDF049D3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335760" cy="3880773"/>
          </a:xfrm>
        </p:spPr>
        <p:txBody>
          <a:bodyPr/>
          <a:lstStyle/>
          <a:p>
            <a:r>
              <a:rPr lang="en-GB" dirty="0"/>
              <a:t>Zip-file with .</a:t>
            </a:r>
            <a:r>
              <a:rPr lang="en-GB" dirty="0" err="1"/>
              <a:t>dacpac</a:t>
            </a:r>
            <a:r>
              <a:rPr lang="en-GB" dirty="0"/>
              <a:t> extension</a:t>
            </a:r>
          </a:p>
          <a:p>
            <a:r>
              <a:rPr lang="en-GB" dirty="0"/>
              <a:t>Contains xml-files</a:t>
            </a:r>
          </a:p>
          <a:p>
            <a:pPr lvl="1"/>
            <a:r>
              <a:rPr lang="en-GB" dirty="0"/>
              <a:t>[Content types.xml]</a:t>
            </a:r>
          </a:p>
          <a:p>
            <a:pPr lvl="1"/>
            <a:r>
              <a:rPr lang="en-GB" dirty="0"/>
              <a:t>DacMetadata.xml – Build version of the </a:t>
            </a:r>
            <a:r>
              <a:rPr lang="en-GB" dirty="0" err="1"/>
              <a:t>dacpac</a:t>
            </a:r>
            <a:endParaRPr lang="en-GB" dirty="0"/>
          </a:p>
          <a:p>
            <a:pPr lvl="1"/>
            <a:r>
              <a:rPr lang="en-GB" dirty="0"/>
              <a:t>Origin.xml – Schema version of model-file</a:t>
            </a:r>
          </a:p>
          <a:p>
            <a:pPr lvl="1"/>
            <a:r>
              <a:rPr lang="en-GB" dirty="0"/>
              <a:t>Model.xml – the data model for the database</a:t>
            </a:r>
          </a:p>
          <a:p>
            <a:pPr marL="0" indent="0">
              <a:buNone/>
            </a:pPr>
            <a:endParaRPr lang="en-GB" dirty="0"/>
          </a:p>
          <a:p>
            <a:pPr lvl="1"/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C74ADE-6770-E178-A225-92AF86F3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356" y="31866"/>
            <a:ext cx="5982256" cy="50097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DEBAE6-7A5D-368F-E822-2E64CE6FE7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047" y="31866"/>
            <a:ext cx="5922874" cy="504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0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2E17D-6843-9CA5-6E77-CE249D89D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Deploy </a:t>
            </a:r>
            <a:r>
              <a:rPr lang="en-GB" dirty="0" err="1"/>
              <a:t>dacpac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DC42A-F835-EC06-1EAD-6160065B1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Publish action from Visual Studio/Azure Data Studio/</a:t>
            </a:r>
            <a:r>
              <a:rPr lang="en-GB" dirty="0" err="1"/>
              <a:t>VSCode</a:t>
            </a:r>
            <a:endParaRPr lang="en-GB" dirty="0"/>
          </a:p>
          <a:p>
            <a:r>
              <a:rPr lang="en-GB" dirty="0"/>
              <a:t>Sqlpackage.exe /Action=Publish</a:t>
            </a:r>
          </a:p>
          <a:p>
            <a:r>
              <a:rPr lang="en-GB" dirty="0"/>
              <a:t>Azure DevOps pipeline</a:t>
            </a:r>
          </a:p>
          <a:p>
            <a:r>
              <a:rPr lang="en-GB" dirty="0"/>
              <a:t>GitHub action</a:t>
            </a:r>
          </a:p>
          <a:p>
            <a:r>
              <a:rPr lang="en-GB" dirty="0"/>
              <a:t>…</a:t>
            </a:r>
          </a:p>
          <a:p>
            <a:r>
              <a:rPr lang="en-GB" dirty="0"/>
              <a:t>…</a:t>
            </a:r>
          </a:p>
          <a:p>
            <a:r>
              <a:rPr lang="en-GB" dirty="0"/>
              <a:t>…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7265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42C689-C3E5-FBBC-6CD1-73FF8D04F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747709"/>
            <a:ext cx="8596668" cy="1826581"/>
          </a:xfrm>
        </p:spPr>
        <p:txBody>
          <a:bodyPr/>
          <a:lstStyle/>
          <a:p>
            <a:r>
              <a:rPr lang="en-GB" dirty="0"/>
              <a:t>DEMO</a:t>
            </a:r>
            <a:endParaRPr lang="LID4096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9A438A-8EDA-FCC9-F817-316FD95AC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3240964"/>
            <a:ext cx="8596668" cy="2085493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Create database project</a:t>
            </a:r>
          </a:p>
          <a:p>
            <a:r>
              <a:rPr lang="en-GB" dirty="0"/>
              <a:t>Import existing database</a:t>
            </a:r>
          </a:p>
          <a:p>
            <a:r>
              <a:rPr lang="en-GB" dirty="0"/>
              <a:t>Database references</a:t>
            </a:r>
          </a:p>
          <a:p>
            <a:r>
              <a:rPr lang="en-GB" dirty="0"/>
              <a:t>Refactoring objects</a:t>
            </a:r>
          </a:p>
          <a:p>
            <a:r>
              <a:rPr lang="en-GB" dirty="0"/>
              <a:t>Deploy using publish action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763902318"/>
      </p:ext>
    </p:extLst>
  </p:cSld>
  <p:clrMapOvr>
    <a:masterClrMapping/>
  </p:clrMapOvr>
</p:sld>
</file>

<file path=ppt/theme/theme1.xml><?xml version="1.0" encoding="utf-8"?>
<a:theme xmlns:a="http://schemas.openxmlformats.org/drawingml/2006/main" name="Fasett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oupBy_Eight_hours_of_work_in_20_minutes_Partitioning_Rox.pptx" id="{70D7657E-FDF3-4AF8-B760-E8DCE5C23891}" vid="{32728EFA-864A-41EB-A785-94AF657B65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DF362DDD05A45B86D781376AAC476" ma:contentTypeVersion="7" ma:contentTypeDescription="Create a new document." ma:contentTypeScope="" ma:versionID="3a57987203f074c548de98d113b4286b">
  <xsd:schema xmlns:xsd="http://www.w3.org/2001/XMLSchema" xmlns:xs="http://www.w3.org/2001/XMLSchema" xmlns:p="http://schemas.microsoft.com/office/2006/metadata/properties" xmlns:ns2="d199752a-3aa5-47db-8ae7-beef1561cea0" targetNamespace="http://schemas.microsoft.com/office/2006/metadata/properties" ma:root="true" ma:fieldsID="70b53b01044eee4a42e00434b4075c16" ns2:_="">
    <xsd:import namespace="d199752a-3aa5-47db-8ae7-beef1561ce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99752a-3aa5-47db-8ae7-beef1561ce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76C713D-8D2B-492D-A52A-375696712C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99752a-3aa5-47db-8ae7-beef1561ce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42A527-91EE-49D6-AF42-393E29B98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5AA9653-386D-4377-A986-DC4A02C60CD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PPTMALL</Template>
  <TotalTime>0</TotalTime>
  <Words>682</Words>
  <Application>Microsoft Office PowerPoint</Application>
  <PresentationFormat>Widescreen</PresentationFormat>
  <Paragraphs>127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Consolas</vt:lpstr>
      <vt:lpstr>open sans</vt:lpstr>
      <vt:lpstr>Roboto</vt:lpstr>
      <vt:lpstr>Roboto Light</vt:lpstr>
      <vt:lpstr>Source Sans Pro</vt:lpstr>
      <vt:lpstr>Trebuchet MS</vt:lpstr>
      <vt:lpstr>Wingdings 3</vt:lpstr>
      <vt:lpstr>Fasett</vt:lpstr>
      <vt:lpstr>Office Theme</vt:lpstr>
      <vt:lpstr>An Introduction to  Sql Server Database Projects</vt:lpstr>
      <vt:lpstr>Free events aren’t really free</vt:lpstr>
      <vt:lpstr>PowerPoint Presentation</vt:lpstr>
      <vt:lpstr>Content</vt:lpstr>
      <vt:lpstr>Magnus Ahlkvist</vt:lpstr>
      <vt:lpstr>Migration based deployments</vt:lpstr>
      <vt:lpstr>Migrations initialization</vt:lpstr>
      <vt:lpstr>Version 1.0.0</vt:lpstr>
      <vt:lpstr>Version 1.1.0</vt:lpstr>
      <vt:lpstr>Version 1.2.0</vt:lpstr>
      <vt:lpstr>Short demo</vt:lpstr>
      <vt:lpstr>Model based deployment</vt:lpstr>
      <vt:lpstr>SQL Server Database Projects</vt:lpstr>
      <vt:lpstr>SDK Style Database Projects</vt:lpstr>
      <vt:lpstr>SSDT Database Projects</vt:lpstr>
      <vt:lpstr>Project file differences</vt:lpstr>
      <vt:lpstr>Create, don’t alter</vt:lpstr>
      <vt:lpstr>Get started</vt:lpstr>
      <vt:lpstr>Database references</vt:lpstr>
      <vt:lpstr>The dacpac</vt:lpstr>
      <vt:lpstr>Deploy dacpac</vt:lpstr>
      <vt:lpstr>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Magnus Ahlkvist</dc:creator>
  <cp:lastModifiedBy>Magnus Ahlkvist</cp:lastModifiedBy>
  <cp:revision>39</cp:revision>
  <dcterms:created xsi:type="dcterms:W3CDTF">2019-10-13T08:45:28Z</dcterms:created>
  <dcterms:modified xsi:type="dcterms:W3CDTF">2025-05-10T18:31:47Z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0x010100BE9DF362DDD05A45B86D781376AAC476</vt:lpwstr>
  </property>
</Properties>
</file>