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  <p:sldId id="257" r:id="rId5"/>
    <p:sldId id="262" r:id="rId6"/>
    <p:sldId id="265" r:id="rId7"/>
    <p:sldId id="269" r:id="rId8"/>
    <p:sldId id="263" r:id="rId9"/>
    <p:sldId id="264" r:id="rId1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4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6A58-E3F0-3C8A-881A-849FAAAD4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FDA6E-CE45-423A-BB5B-3E8AB8A24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71425-148B-2A1D-3615-C44C837CE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CAB39-CBF7-5D45-B6F4-BD293D0DD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9D177-8BBA-8E9E-9608-0BF5556F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72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3A9F-9EF6-E7FB-29A9-EEEA3D20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A7EAC-5F2F-8116-CB78-F0AD50592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0CE85-1915-01DF-EA86-573A40856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7D053-A688-2EDC-256A-CB825EFE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C8BB-E97C-D98F-9986-BB0D33C3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500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8191-2D06-5F08-B4A1-354DCCF7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0FAB5-754C-84D7-94E6-9AB3B163A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131B7-2BD9-5A2F-91BB-BF96FFB9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0D639-6C18-47C4-D912-7D1689E5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7D33F-7410-572D-04FB-4A7618DA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830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2CFC-5269-E54C-873B-B7B7703B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2E675-2389-8C66-23CB-63044824F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EED60-0175-C1CA-F971-131D7C620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680E6-D332-C2DE-C229-554D6029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EFC58-47EC-F83A-AC0E-61E28053B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E1E1E-8835-8B75-B6FA-03E93209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703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2C89-999E-B67E-638D-A83B5012D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18CBF-4287-318B-F601-8715F29C7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9D72E-8694-BF73-A771-F399250E5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99BB1-2089-2649-04BD-A334E9B34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E7F5F-2FA6-BF28-D148-32F34A8A8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FA4CD-20F6-A7C9-E943-DEB9AC23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E906B-2C0D-8009-0882-E84E2C4A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9D283-0476-2EFC-E62C-11EF465D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918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CA06-58A8-8963-D581-739E7712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C6D5E-F6F9-886F-0981-787452929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0F769-1E99-3825-04F1-C57A6181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5C823-A0D8-D788-E8E9-82C80BFE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25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36B0BD-4357-4D54-E9A6-DF754A3D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71A78-B0BD-15FD-03AA-A05B6070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91E6B-165A-128D-4CCB-408D35B6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898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AB3D-2286-6FF1-632A-14EE4DC05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7F29C-D47E-B2D7-7415-2A8838D4E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9392D-9404-0BD8-D242-E1E19D36D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A76F5-2255-9CF7-8F82-9131BD4B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2E221-32FC-140F-742C-26DA5209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FDDD0-AAB5-1049-7B08-5239B46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633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9C1C-5FE0-E180-1897-4FD27833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E3449-9F82-091A-D787-9BCC4CC5A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25B18-4F20-316B-6262-A6957E103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697CE-6801-92D3-197D-1579CD80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D6206-FBEA-A984-0210-6C238BFE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9243C-1DAA-FB38-3215-E9EA5F84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6445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9D6B-05EA-9CC4-AC84-09F5E6340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1A6E5-2284-09CF-3343-75CA87B3A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76383-DC31-C9F2-9FBD-A288C854C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20484-B58C-3F56-BF1A-29CC155C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416E2-FC07-1FD6-31CC-1E05E2F0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953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EF9FA1-1D44-9514-E5D3-C0D54E4AD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93E8B-41C5-2A01-1DD5-7AA9C79F3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87A9-E716-CB04-95A9-FD8B33DE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6FCE7-6368-C762-C73A-FEFD5287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F784D-8FA1-65B2-E0F2-BE1DA87B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7860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8" name="Bild 17">
            <a:extLst>
              <a:ext uri="{FF2B5EF4-FFF2-40B4-BE49-F238E27FC236}">
                <a16:creationId xmlns:a16="http://schemas.microsoft.com/office/drawing/2014/main" id="{42BCFCD7-74CB-442B-9206-4BBDA1D162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7593" y="4100975"/>
            <a:ext cx="2736965" cy="273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88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93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77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03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19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42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88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14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77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2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eskriv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54687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137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 för 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58797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t eller fals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806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223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3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sv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1E12D-A286-B6C1-E107-F4B0D8D03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56572-87B7-2902-0728-41AFF9EE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CB777-553E-4D23-C7D4-9D8059D40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9F9ED-2410-4CD1-B5CD-D275AA293E22}" type="datetimeFigureOut">
              <a:rPr lang="LID4096" smtClean="0"/>
              <a:t>04/20/2026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F4DEB-D6F8-9412-F14C-EEEAB909D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70F63-2481-6091-985C-7523AEF10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4F4BA-9ECE-4834-A1C0-C8A764EAE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354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100000">
              <a:srgbClr val="FFCCCC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9" name="Bild 8">
            <a:extLst>
              <a:ext uri="{FF2B5EF4-FFF2-40B4-BE49-F238E27FC236}">
                <a16:creationId xmlns:a16="http://schemas.microsoft.com/office/drawing/2014/main" id="{40A61AF8-6CA2-4DC0-AB0C-54B2BDCB30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634870" y="4988252"/>
            <a:ext cx="1849688" cy="18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3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EC31-E066-4E62-BAAB-C170893FF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257" y="1838476"/>
            <a:ext cx="10668000" cy="1646302"/>
          </a:xfrm>
        </p:spPr>
        <p:txBody>
          <a:bodyPr/>
          <a:lstStyle/>
          <a:p>
            <a:r>
              <a:rPr lang="en-US" sz="3200" dirty="0"/>
              <a:t>Everything you need to know about </a:t>
            </a:r>
            <a:br>
              <a:rPr lang="en-US" sz="3200" dirty="0"/>
            </a:br>
            <a:r>
              <a:rPr lang="en-US" sz="3200" dirty="0"/>
              <a:t>Temporal tables</a:t>
            </a:r>
            <a:br>
              <a:rPr lang="en-US" sz="3200" dirty="0"/>
            </a:br>
            <a:br>
              <a:rPr lang="en-US" sz="3200" dirty="0"/>
            </a:br>
            <a:r>
              <a:rPr lang="en-US" sz="2400" dirty="0"/>
              <a:t>…or at least enough to get started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B0E28-205D-4B8D-B72F-75D77CF216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Magnus Ahlkvist</a:t>
            </a:r>
          </a:p>
          <a:p>
            <a:r>
              <a:rPr lang="en-US" dirty="0"/>
              <a:t>He/Him</a:t>
            </a:r>
          </a:p>
        </p:txBody>
      </p:sp>
      <p:pic>
        <p:nvPicPr>
          <p:cNvPr id="5" name="Picture 4" descr="A picture containing person, looking, cellphone, phone&#10;&#10;Description automatically generated">
            <a:extLst>
              <a:ext uri="{FF2B5EF4-FFF2-40B4-BE49-F238E27FC236}">
                <a16:creationId xmlns:a16="http://schemas.microsoft.com/office/drawing/2014/main" id="{099A75BC-ED83-4232-8CE1-447DBDA9BC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596"/>
          <a:stretch/>
        </p:blipFill>
        <p:spPr>
          <a:xfrm>
            <a:off x="0" y="0"/>
            <a:ext cx="4269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8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0C438DB-20F7-4B34-8E2C-4BF45E72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Session </a:t>
            </a:r>
            <a:r>
              <a:rPr lang="sv-SE" dirty="0" err="1"/>
              <a:t>contents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308BB25-8932-48AF-AEB6-FF932D5D4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solidFill>
                  <a:schemeClr val="accent2"/>
                </a:solidFill>
              </a:rPr>
              <a:t>What are temporal tables and why should I care</a:t>
            </a:r>
          </a:p>
          <a:p>
            <a:r>
              <a:rPr lang="en-IN" dirty="0">
                <a:solidFill>
                  <a:schemeClr val="accent2"/>
                </a:solidFill>
              </a:rPr>
              <a:t>Create a new temporal/system-versioned table</a:t>
            </a:r>
          </a:p>
          <a:p>
            <a:r>
              <a:rPr lang="en-IN" dirty="0">
                <a:solidFill>
                  <a:schemeClr val="accent2"/>
                </a:solidFill>
              </a:rPr>
              <a:t>Make an existing table system-versioned</a:t>
            </a:r>
          </a:p>
          <a:p>
            <a:r>
              <a:rPr lang="en-IN" dirty="0">
                <a:solidFill>
                  <a:schemeClr val="accent2"/>
                </a:solidFill>
              </a:rPr>
              <a:t>Migrate another temporal pattern to system-versioned</a:t>
            </a:r>
          </a:p>
          <a:p>
            <a:r>
              <a:rPr lang="en-IN" dirty="0">
                <a:solidFill>
                  <a:schemeClr val="accent2"/>
                </a:solidFill>
              </a:rPr>
              <a:t>Some performance considerations</a:t>
            </a:r>
          </a:p>
          <a:p>
            <a:r>
              <a:rPr lang="en-IN" dirty="0">
                <a:solidFill>
                  <a:schemeClr val="accent2"/>
                </a:solidFill>
              </a:rPr>
              <a:t>What I’m want in addition to all this</a:t>
            </a:r>
          </a:p>
          <a:p>
            <a:endParaRPr lang="en-IN" sz="1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looking, cellphone, phone&#10;&#10;Description automatically generated">
            <a:extLst>
              <a:ext uri="{FF2B5EF4-FFF2-40B4-BE49-F238E27FC236}">
                <a16:creationId xmlns:a16="http://schemas.microsoft.com/office/drawing/2014/main" id="{891EB2BC-E034-D456-D531-ADC2ED9E13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596"/>
          <a:stretch/>
        </p:blipFill>
        <p:spPr>
          <a:xfrm>
            <a:off x="7922083" y="0"/>
            <a:ext cx="4269917" cy="6858000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About</a:t>
            </a:r>
            <a:r>
              <a:rPr lang="sv-SE" dirty="0"/>
              <a:t> Magnus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SQL Server </a:t>
            </a:r>
            <a:r>
              <a:rPr lang="sv-SE" dirty="0" err="1"/>
              <a:t>consultant</a:t>
            </a:r>
            <a:r>
              <a:rPr lang="sv-SE" dirty="0"/>
              <a:t> </a:t>
            </a:r>
            <a:r>
              <a:rPr lang="sv-SE" dirty="0" err="1"/>
              <a:t>Transmokopter</a:t>
            </a:r>
            <a:r>
              <a:rPr lang="sv-SE" dirty="0"/>
              <a:t> SQL AB</a:t>
            </a:r>
          </a:p>
          <a:p>
            <a:r>
              <a:rPr lang="sv-SE" dirty="0"/>
              <a:t>Data Platform MVP</a:t>
            </a:r>
          </a:p>
          <a:p>
            <a:r>
              <a:rPr lang="sv-SE" dirty="0"/>
              <a:t>Social media: @transmokopter</a:t>
            </a:r>
          </a:p>
          <a:p>
            <a:r>
              <a:rPr lang="sv-SE" dirty="0"/>
              <a:t>E-mail: magnus@transmokopter.se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9FB2397-446C-E023-AC9C-4F7894C1D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083" y="6153150"/>
            <a:ext cx="17240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BDE3-F4E3-AE3B-359C-EF1273001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temporal tables and why should I care?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2BF73-82E9-2F1F-43E7-8F295D6F1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Temporal tables = system-versioned tables</a:t>
            </a:r>
          </a:p>
          <a:p>
            <a:r>
              <a:rPr lang="en-GB" dirty="0"/>
              <a:t>Automatic versioning of rows in a table</a:t>
            </a:r>
          </a:p>
          <a:p>
            <a:pPr lvl="1"/>
            <a:r>
              <a:rPr lang="en-GB" dirty="0"/>
              <a:t>Old value is moved into history table when a row is updated</a:t>
            </a:r>
          </a:p>
          <a:p>
            <a:pPr lvl="1"/>
            <a:r>
              <a:rPr lang="en-GB" dirty="0"/>
              <a:t>Old value is moved into history table when a row is deleted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400" dirty="0"/>
              <a:t>…and why should I care?</a:t>
            </a:r>
          </a:p>
          <a:p>
            <a:r>
              <a:rPr lang="en-GB" sz="2400" dirty="0"/>
              <a:t>We need to maintain an audit-trail</a:t>
            </a:r>
          </a:p>
          <a:p>
            <a:r>
              <a:rPr lang="en-GB" sz="2400" dirty="0"/>
              <a:t>Or we need to know what the price was for a product at a specific point in time</a:t>
            </a:r>
          </a:p>
          <a:p>
            <a:r>
              <a:rPr lang="en-GB" sz="2400" dirty="0"/>
              <a:t>System-time properties of a table can be used for loading SCD2 dimensions in a Data Warehouse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0931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506C-F8E4-30C1-7E15-086578F6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 scenarios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563E6-E2F4-FBD6-5A01-E5B17224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new table with versioning</a:t>
            </a:r>
          </a:p>
          <a:p>
            <a:pPr lvl="1"/>
            <a:r>
              <a:rPr lang="en-GB" dirty="0"/>
              <a:t>“Easy” – just create the table as system versioned</a:t>
            </a:r>
          </a:p>
          <a:p>
            <a:r>
              <a:rPr lang="en-GB" dirty="0"/>
              <a:t>An existing table that you want to start versioning</a:t>
            </a:r>
          </a:p>
          <a:p>
            <a:pPr lvl="1"/>
            <a:r>
              <a:rPr lang="en-GB" dirty="0"/>
              <a:t>“Less easy but not really too hard”. Create the From- and To-columns, give them default values and then start versioning.</a:t>
            </a:r>
          </a:p>
          <a:p>
            <a:r>
              <a:rPr lang="en-GB" dirty="0"/>
              <a:t>An existing table versioned with some sort of home-cooked temporal pattern</a:t>
            </a:r>
          </a:p>
          <a:p>
            <a:pPr lvl="1"/>
            <a:r>
              <a:rPr lang="en-GB" dirty="0"/>
              <a:t>“More complex, implementation requires downtime”. Alter existing columns to datetime2(7). Create history table. Move history rows to history table. Set new To-value, if it’s not already 9999-12-31 23:59:59.9999999.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1294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1F3D-EE82-F800-E95F-B6F4B48C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Gotchas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B0A67-E132-A29C-7302-D99065A7C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Selecting historical records means accessing both the “current” and the history table.</a:t>
            </a:r>
          </a:p>
          <a:p>
            <a:pPr lvl="1"/>
            <a:r>
              <a:rPr lang="en-GB" dirty="0"/>
              <a:t>Look at execution plans, figure out indexing patterns for your history table</a:t>
            </a:r>
          </a:p>
          <a:p>
            <a:r>
              <a:rPr lang="en-GB" dirty="0"/>
              <a:t>Everything is duplicated. The whole row, not just the changes.</a:t>
            </a:r>
          </a:p>
          <a:p>
            <a:pPr lvl="1"/>
            <a:r>
              <a:rPr lang="en-GB" dirty="0"/>
              <a:t>80 columns in a table, two or three columns that can ever change =&gt; Probably worth reworking your data model</a:t>
            </a:r>
          </a:p>
          <a:p>
            <a:r>
              <a:rPr lang="en-GB" dirty="0"/>
              <a:t>Purging historical records</a:t>
            </a:r>
          </a:p>
          <a:p>
            <a:pPr lvl="1"/>
            <a:r>
              <a:rPr lang="en-GB" dirty="0"/>
              <a:t>Set HISTORY_RETENTION_PERIOD when you enable system versioning</a:t>
            </a:r>
          </a:p>
          <a:p>
            <a:pPr lvl="1"/>
            <a:r>
              <a:rPr lang="en-GB" dirty="0"/>
              <a:t>Or (probably more effective for you) – partition the history table and switch out the oldest partition in a scheduled job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7763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A1E9D-B2EF-967E-E277-90525DD9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it work?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30CA-9BC4-3C7B-0266-4EAD7706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8000" dirty="0"/>
              <a:t>Demo</a:t>
            </a:r>
          </a:p>
          <a:p>
            <a:pPr marL="0" indent="0">
              <a:buNone/>
            </a:pPr>
            <a:endParaRPr lang="en-GB" sz="8000" dirty="0"/>
          </a:p>
          <a:p>
            <a:pPr marL="0" indent="0">
              <a:buNone/>
            </a:pPr>
            <a:endParaRPr lang="LID4096" sz="4000" dirty="0"/>
          </a:p>
        </p:txBody>
      </p:sp>
    </p:spTree>
    <p:extLst>
      <p:ext uri="{BB962C8B-B14F-4D97-AF65-F5344CB8AC3E}">
        <p14:creationId xmlns:p14="http://schemas.microsoft.com/office/powerpoint/2010/main" val="476182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9DF0-068F-382F-D987-12A02A3C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about business-time?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5D623-1F3C-437C-D3A0-CEF6E919D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Business time dimension</a:t>
            </a:r>
          </a:p>
          <a:p>
            <a:pPr lvl="1"/>
            <a:r>
              <a:rPr lang="en-GB" dirty="0"/>
              <a:t>Price is updated. But </a:t>
            </a:r>
            <a:r>
              <a:rPr lang="en-GB" dirty="0" err="1"/>
              <a:t>ValidFrom</a:t>
            </a:r>
            <a:r>
              <a:rPr lang="en-GB" dirty="0"/>
              <a:t> is not when the row was physically changed</a:t>
            </a:r>
          </a:p>
          <a:p>
            <a:r>
              <a:rPr lang="en-GB" dirty="0"/>
              <a:t>DB/2 has had this since long</a:t>
            </a:r>
          </a:p>
          <a:p>
            <a:r>
              <a:rPr lang="en-GB" dirty="0"/>
              <a:t>Would be more useful for SCD2</a:t>
            </a:r>
          </a:p>
          <a:p>
            <a:pPr lvl="1"/>
            <a:r>
              <a:rPr lang="en-GB" dirty="0"/>
              <a:t>… and lots of other scenarios</a:t>
            </a:r>
          </a:p>
        </p:txBody>
      </p:sp>
    </p:spTree>
    <p:extLst>
      <p:ext uri="{BB962C8B-B14F-4D97-AF65-F5344CB8AC3E}">
        <p14:creationId xmlns:p14="http://schemas.microsoft.com/office/powerpoint/2010/main" val="1727796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sett">
  <a:themeElements>
    <a:clrScheme name="Varm blå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oupBy_Eight_hours_of_work_in_20_minutes_Partitioning_Rox.pptx" id="{70D7657E-FDF3-4AF8-B760-E8DCE5C23891}" vid="{32728EFA-864A-41EB-A785-94AF657B65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Roboto Light</vt:lpstr>
      <vt:lpstr>Source Sans Pro</vt:lpstr>
      <vt:lpstr>Trebuchet MS</vt:lpstr>
      <vt:lpstr>Wingdings 3</vt:lpstr>
      <vt:lpstr>Office Theme</vt:lpstr>
      <vt:lpstr>Fasett</vt:lpstr>
      <vt:lpstr>Everything you need to know about  Temporal tables  …or at least enough to get started</vt:lpstr>
      <vt:lpstr>Session contents</vt:lpstr>
      <vt:lpstr>About Magnus</vt:lpstr>
      <vt:lpstr>What are temporal tables and why should I care?</vt:lpstr>
      <vt:lpstr>Three scenarios</vt:lpstr>
      <vt:lpstr>Gotchas</vt:lpstr>
      <vt:lpstr>How does it work?</vt:lpstr>
      <vt:lpstr>How about business-time?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Magnus Ahlkvist</dc:creator>
  <cp:lastModifiedBy>Magnus Ahlkvist</cp:lastModifiedBy>
  <cp:revision>15</cp:revision>
  <dcterms:created xsi:type="dcterms:W3CDTF">2022-05-20T07:54:08Z</dcterms:created>
  <dcterms:modified xsi:type="dcterms:W3CDTF">2026-04-20T15:34:11Z</dcterms:modified>
</cp:coreProperties>
</file>