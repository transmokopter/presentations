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78" r:id="rId4"/>
    <p:sldId id="257" r:id="rId5"/>
    <p:sldId id="259" r:id="rId6"/>
    <p:sldId id="258" r:id="rId7"/>
    <p:sldId id="276" r:id="rId8"/>
    <p:sldId id="263" r:id="rId9"/>
    <p:sldId id="264" r:id="rId10"/>
    <p:sldId id="268" r:id="rId11"/>
    <p:sldId id="269" r:id="rId12"/>
    <p:sldId id="260" r:id="rId13"/>
    <p:sldId id="270" r:id="rId14"/>
    <p:sldId id="261" r:id="rId15"/>
    <p:sldId id="277" r:id="rId16"/>
    <p:sldId id="267" r:id="rId17"/>
    <p:sldId id="262" r:id="rId18"/>
    <p:sldId id="271" r:id="rId19"/>
    <p:sldId id="265" r:id="rId20"/>
    <p:sldId id="266" r:id="rId2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98" d="100"/>
          <a:sy n="98" d="100"/>
        </p:scale>
        <p:origin x="27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85829-DE77-4927-8834-2B86EE4EE4A6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96F89-4EC9-4E3B-A938-FB03ACBE0CE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295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when we do the first demo. Functions, Cursors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96F89-4EC9-4E3B-A938-FB03ACBE0CE6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0478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when we do the second demo. The one about naming procedures </a:t>
            </a:r>
            <a:r>
              <a:rPr lang="en-GB" dirty="0" err="1"/>
              <a:t>sp_procname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96F89-4EC9-4E3B-A938-FB03ACBE0CE6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520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Crash Boom Bang demo goes here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96F89-4EC9-4E3B-A938-FB03ACBE0CE6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1513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DBFE-28A2-C337-1495-2EA76A034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2E194-48C5-FE33-887B-3C8B7E391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D4A0A-BDB5-6983-0669-F44B62D9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938EE-6721-B45A-374D-CE4C083B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1974F-323C-D578-C070-FFADE00F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22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BE50-B8D4-BE6C-3B7E-E1C55F55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E4B5-30D4-F02F-E122-0880C2D02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7421E-D872-396F-E8F0-1E692D0F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A6183-35CE-3007-EF8C-1081B718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78BD-8AA4-C71E-A1A2-4CA3BDA5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871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F6AE-CD34-3D4F-979E-2C194DCC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6D684-8A49-75B5-5B1F-0B6FEC3A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71F10-D2A2-4B68-9281-B1C2B02FF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55807-044F-D379-760E-E97993A5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4EB8E-664C-D693-F098-B8BE96FC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213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B3E7-D443-A0A0-8F71-0CDCFD73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0BAF2-A877-DADA-509F-22339CEAC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F604D-819D-F9A9-C5E5-DDD19F602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B40B8-B6B3-3D19-FA3F-3100630C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694D5-4A0B-1339-3020-DCFABBA7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C15D0-AF91-41DB-BF2E-AD6F0590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808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E710-8370-D591-5B4C-46AEA498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ED37B-DF99-47DF-7701-51B9A1B7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3BF7D-390A-40BB-8272-609458A6A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73923-50FE-D16D-6026-DE7A88812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5A00F-81BC-606B-9155-7CCB8670D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C6D88-A4E9-77CB-7FD1-311C03BF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8FFFB-3EAE-FD55-DB7C-9D4A2A73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D10D6-676B-3F48-477A-BFCCB401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608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15937-3850-242A-8265-D244D958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15762-5680-AB9A-B4AE-F4C643B9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FC7CD-BE69-3522-25CD-0B882A77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C3230-00BA-7813-CB90-9F3ED538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316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147C9-D350-8A32-6ADB-67A103C6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2E11E-0578-40CB-695B-7E055137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C0786-D28E-C060-E613-0B4FAB7F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247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CEE3-DEA0-9C25-80B9-75EAE4DD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73ED-A5D0-3BCA-CD2E-0293FD3B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CD760-31DC-4476-7EBA-BC418A430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0E343-DC66-C3E9-871C-22016D65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CE31B-D4CD-9F69-5FBD-F54324A5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81AFD-D3EA-EF52-5855-6E74EA04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699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6A8E-BAAF-CB8A-957C-5C07E5ED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B54E06-A6FF-0480-FE74-ABC3FDDBA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79FB6-2F3C-3FF8-9142-8F5F1E7FE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6FC07-CE4F-061C-125F-92664A89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8C227-B84D-FACB-3910-0B992173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5DD14-3BAB-5AD2-67B7-53A07B935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338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302B-6B6B-E3C7-B644-CFB696D24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BC80A-B7A3-C900-EF0B-C1636E862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CB901-63CD-88BA-0150-380BA52D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92E4F-FF44-E7CD-BD2C-FBB6F60D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D3F22-A337-374B-B251-FAF4AA87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010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1C387-83CD-98F0-83C5-0B501FF02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E2B64-E15E-7CE4-3C6A-00A99AEC4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A5DD-861F-1AED-6ADA-E04F5404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4E792-9695-7D31-AB70-0B210D0C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513A8-761A-E4E8-E754-395D3E2C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9643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46E8-D4CE-2F58-1510-F9C515512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55C5C-17E7-BAFE-2DE1-B2D645514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32DA2-9F3D-CBEC-4755-6E1918EF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9CE76-640E-5157-7B51-6A9305B8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BD15F-ED34-89FB-D132-ACE11214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83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05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25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54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3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90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53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5EA-0E57-B9F1-AC24-990C20A0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79B0-CA2E-970B-8434-A2AF7752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F931-E3C1-1E0C-C038-6A1262E8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CAE79-9B1B-D6B6-2729-9A5E2B9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88A7-4D4B-E298-37B1-F77B3916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40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1FD6-33E0-2040-45C9-164DEC5A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BDA95-0DDB-08BC-079E-0F75B082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560B5-F692-EDD5-6D04-D9A5EE7C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7E0E-5288-F7B7-8530-D3F6A9DE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AA9C9-DC12-1035-8CEB-55828072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25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863A-C6E3-2A45-6E79-3EAD718C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9438-72B6-1420-F28B-4C31D93B2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39C1C-2569-9C57-865C-DE7D32711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30CCC-4C22-5A33-5E30-D47024D6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FC9A7-FF49-4545-B2D5-672A0F4E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CF51-49D9-00BB-B689-26C03AB6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84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9D5F-480F-8497-ED83-BA0FB63D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65057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475AD-A3DA-6F7F-DEE3-4A0D55FF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50444-C4B7-BF77-E77E-32363E5DE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2C262-6AE0-AAE5-11C9-FDF32E4CE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37F91-2EC2-E4F2-334F-4C0C1AAE2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F604-7A2C-09FA-748F-0AA262B0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CDB47-8ECC-918D-17AB-7EABD292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7ED50-068B-EB42-17A0-EF433286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89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2BD0-3E8F-915C-23F3-4FFF40C2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57ABD-964D-D1CB-61C2-086DBC52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639E-E6C4-F10B-274F-ECD5D6F9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8FADB-9722-FDB8-B825-864C61B9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564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2912-2EB3-7935-32F8-6C235A03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4228-55C4-BA66-9130-8E67E9D3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26836"/>
            <a:ext cx="6172200" cy="47342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ACB25-3607-0C37-09BE-F9B3381E7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9070-EE56-FD1E-9EE1-4782C908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1F71-1703-5E8F-1C8A-AAA2026B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BC3BA-9DAF-76B5-0592-BF039C40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875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C3EE-DD3D-CC0A-9622-34AF2925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F5ECF-C541-6FC8-65E5-0C48F86A9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17600"/>
            <a:ext cx="6172200" cy="4743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8BC86-F3CB-0712-0F2B-63F3D994B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008B2-EEFD-36BF-E8C7-B270B96B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7105F-11BE-92C7-4A21-3AA3CF9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3FA3-679C-7B34-E566-8D1680AA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14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117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6F395-F0CD-D071-58F0-98D92341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E10D7-DCE6-9773-E24E-4EBCF260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F035-63A4-992E-886B-D827C2C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5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1BCEC-C418-37D8-4319-E2F550A0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2FF07-4AB2-8614-C601-33087AA5F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FF618-209E-CD4A-BF55-5E794D77F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9C624-DE7C-4C92-B706-E4A2487C993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3E08-A824-2B1B-CEAD-C2E0E8F2A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E924-277E-174F-8485-74545EADA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FD38B-692B-4B34-8B2D-739CC2ED8EC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225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20FCF-99F2-7A24-42F1-EBD4F337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475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20CC-F572-DE62-0AAB-CCC45741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2F9E-3C55-8F8A-D67A-7C9AA57BE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18A68-7E6F-4792-81EA-3F8FCF2AD9D6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732D-4FFE-1FB3-4CFA-9B128DD83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36AF-2FAC-96CE-CCF7-B6189B2D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103C2-89A1-4FCA-87EF-DAE6FA72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swal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swald" pitchFamily="2" charset="-1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swald" pitchFamily="2" charset="-1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swald" pitchFamily="2" charset="-1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wald" pitchFamily="2" charset="-1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ofpoint.com/us/blog/information-protection/2024-data-loss-landscape-report-dlp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F9539-A255-7F8D-F466-40D670B0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GB" sz="4800"/>
              <a:t>SQL Server Worst Practices</a:t>
            </a:r>
            <a:endParaRPr lang="LID4096" sz="48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person holding a phone and a pile of data&#10;&#10;Description automatically generated">
            <a:extLst>
              <a:ext uri="{FF2B5EF4-FFF2-40B4-BE49-F238E27FC236}">
                <a16:creationId xmlns:a16="http://schemas.microsoft.com/office/drawing/2014/main" id="{8A02193C-C8D8-8F90-8477-694BD4FABD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2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2DFB381-84D2-CF77-B96F-28ECB044E438}"/>
              </a:ext>
            </a:extLst>
          </p:cNvPr>
          <p:cNvSpPr/>
          <p:nvPr/>
        </p:nvSpPr>
        <p:spPr>
          <a:xfrm>
            <a:off x="6657715" y="4127157"/>
            <a:ext cx="4691958" cy="4510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D46E723-36CF-FF30-6F83-F8801A37E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846421" cy="2913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Magnus Ahlkvist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SQL Server Specialist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Transmokopter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SQL AB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github.com/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transmokopter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/Presentations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@transmokopter on social media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Data Platform MVP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Maker of mistakes</a:t>
            </a:r>
          </a:p>
        </p:txBody>
      </p:sp>
    </p:spTree>
    <p:extLst>
      <p:ext uri="{BB962C8B-B14F-4D97-AF65-F5344CB8AC3E}">
        <p14:creationId xmlns:p14="http://schemas.microsoft.com/office/powerpoint/2010/main" val="23593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8AB45-0604-69C1-FDC7-EABF580C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Obraz 4" descr="Obraz zawierający tekst, zrzut ekranu, Czcionka, Grafika&#10;&#10;Zawartość wygenerowana przez AI może być niepoprawna.">
            <a:extLst>
              <a:ext uri="{FF2B5EF4-FFF2-40B4-BE49-F238E27FC236}">
                <a16:creationId xmlns:a16="http://schemas.microsoft.com/office/drawing/2014/main" id="{1D7A94E9-04AD-4568-AAD7-17932AB0F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-7620"/>
            <a:ext cx="11826240" cy="66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1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sitting in front of a computer&#10;&#10;Description automatically generated">
            <a:extLst>
              <a:ext uri="{FF2B5EF4-FFF2-40B4-BE49-F238E27FC236}">
                <a16:creationId xmlns:a16="http://schemas.microsoft.com/office/drawing/2014/main" id="{1F822079-BEAA-2733-7249-D877095A5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3" b="3233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59AA38-7B9B-8154-F108-2C89BCB8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</a:rPr>
              <a:t>Developer oriented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E6815-7B93-E2D5-8EF8-C98CEB97ACD5}"/>
              </a:ext>
            </a:extLst>
          </p:cNvPr>
          <p:cNvSpPr txBox="1"/>
          <p:nvPr/>
        </p:nvSpPr>
        <p:spPr>
          <a:xfrm>
            <a:off x="1524000" y="4159404"/>
            <a:ext cx="9144000" cy="1098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</a:rPr>
              <a:t>How to make the code really slow and hard to maintain</a:t>
            </a:r>
          </a:p>
        </p:txBody>
      </p:sp>
    </p:spTree>
    <p:extLst>
      <p:ext uri="{BB962C8B-B14F-4D97-AF65-F5344CB8AC3E}">
        <p14:creationId xmlns:p14="http://schemas.microsoft.com/office/powerpoint/2010/main" val="3635893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5166D1-1B21-4128-AC42-61745528E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8E67F-8EC1-1832-1A47-8476D8AD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Bring your C# knowledge into your T-SQL programming</a:t>
            </a:r>
            <a:endParaRPr lang="LID4096" sz="2800">
              <a:solidFill>
                <a:schemeClr val="bg1"/>
              </a:solidFill>
            </a:endParaRPr>
          </a:p>
        </p:txBody>
      </p:sp>
      <p:pic>
        <p:nvPicPr>
          <p:cNvPr id="5" name="Content Placeholder 4" descr="A computer screen with colorful lines&#10;&#10;Description automatically generated">
            <a:extLst>
              <a:ext uri="{FF2B5EF4-FFF2-40B4-BE49-F238E27FC236}">
                <a16:creationId xmlns:a16="http://schemas.microsoft.com/office/drawing/2014/main" id="{19A54A7E-12CE-B946-BBB9-326494F7C6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4" r="2200"/>
          <a:stretch/>
        </p:blipFill>
        <p:spPr>
          <a:xfrm>
            <a:off x="20" y="2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6517BAC-C80F-4065-90D8-703493E0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95368" y="0"/>
            <a:ext cx="874718" cy="6857455"/>
            <a:chOff x="5395368" y="0"/>
            <a:chExt cx="874718" cy="685745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4DCDA5-A261-4103-B44C-068DCEA03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4000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E59A2A1-1352-47AA-80C2-0FF53759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399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2EA644-0B66-8102-377F-3E97E222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682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Code reusability is awesome, let’s use functions</a:t>
            </a:r>
          </a:p>
          <a:p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68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A54858-4747-B282-BE34-697BC8EB41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58" b="1929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22E067-CBE2-C323-0D00-4D3F950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GB" sz="500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Be in total control</a:t>
            </a:r>
            <a:endParaRPr lang="LID4096" sz="5000">
              <a:ln w="22225">
                <a:solidFill>
                  <a:srgbClr val="FFFFFF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EE9CF8-F713-F936-BE3A-E87EB5970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Cursors – look at every row and decide what to do with it based on column values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Business logic should be in the application, not in the database – now let’s create our annual reports…</a:t>
            </a:r>
          </a:p>
          <a:p>
            <a:r>
              <a:rPr lang="en-US" sz="2000" dirty="0">
                <a:solidFill>
                  <a:schemeClr val="bg1"/>
                </a:solidFill>
              </a:rPr>
              <a:t>I heard the word “RBAR” and that’s exactly what I want to do – master every row in the database!</a:t>
            </a:r>
          </a:p>
        </p:txBody>
      </p:sp>
    </p:spTree>
    <p:extLst>
      <p:ext uri="{BB962C8B-B14F-4D97-AF65-F5344CB8AC3E}">
        <p14:creationId xmlns:p14="http://schemas.microsoft.com/office/powerpoint/2010/main" val="1224092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DFF24-3428-2504-330E-7E4CD6EC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Demo</a:t>
            </a:r>
            <a:endParaRPr lang="LID4096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B4CE-ACCB-7B3F-68EF-17791821B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Scalar UDFs</a:t>
            </a:r>
          </a:p>
          <a:p>
            <a:r>
              <a:rPr lang="en-GB" sz="2000"/>
              <a:t>Cursors</a:t>
            </a:r>
          </a:p>
        </p:txBody>
      </p:sp>
      <p:pic>
        <p:nvPicPr>
          <p:cNvPr id="5" name="Picture 4" descr="Seta azuis com ID cinzento">
            <a:extLst>
              <a:ext uri="{FF2B5EF4-FFF2-40B4-BE49-F238E27FC236}">
                <a16:creationId xmlns:a16="http://schemas.microsoft.com/office/drawing/2014/main" id="{84863CE1-B2D4-E17D-991F-1726524A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3" r="15806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3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2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B536CB8-AC13-C6D1-9FA2-13664028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sv-SE" sz="2800" dirty="0" err="1"/>
              <a:t>Naming</a:t>
            </a:r>
            <a:r>
              <a:rPr lang="sv-SE" sz="2800" dirty="0"/>
              <a:t> </a:t>
            </a:r>
            <a:r>
              <a:rPr lang="sv-SE" sz="2800" dirty="0" err="1"/>
              <a:t>conventions</a:t>
            </a:r>
            <a:r>
              <a:rPr lang="sv-SE" sz="2800" dirty="0"/>
              <a:t> </a:t>
            </a:r>
            <a:r>
              <a:rPr lang="sv-SE" sz="2800" dirty="0" err="1"/>
              <a:t>are</a:t>
            </a:r>
            <a:r>
              <a:rPr lang="sv-SE" sz="2800" dirty="0"/>
              <a:t> </a:t>
            </a:r>
            <a:r>
              <a:rPr lang="sv-SE" sz="2800" dirty="0" err="1"/>
              <a:t>great</a:t>
            </a:r>
            <a:r>
              <a:rPr lang="sv-SE" sz="2800" dirty="0"/>
              <a:t>. </a:t>
            </a:r>
          </a:p>
        </p:txBody>
      </p:sp>
      <p:pic>
        <p:nvPicPr>
          <p:cNvPr id="1026" name="Picture 2" descr="three young developers of diverse genders involved in a heated discussion about naming conventions for database objects">
            <a:extLst>
              <a:ext uri="{FF2B5EF4-FFF2-40B4-BE49-F238E27FC236}">
                <a16:creationId xmlns:a16="http://schemas.microsoft.com/office/drawing/2014/main" id="{DF7438DD-98AC-06D4-D67D-6CDF04B7D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32"/>
          <a:stretch/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ECC294F-E1EE-B8FF-9081-BDD359E5B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r>
              <a:rPr lang="sv-SE" sz="1900" dirty="0"/>
              <a:t>Prefix </a:t>
            </a:r>
            <a:r>
              <a:rPr lang="sv-SE" sz="1900" dirty="0" err="1"/>
              <a:t>objects</a:t>
            </a:r>
            <a:r>
              <a:rPr lang="sv-SE" sz="1900" dirty="0"/>
              <a:t> to </a:t>
            </a:r>
            <a:r>
              <a:rPr lang="sv-SE" sz="1900" dirty="0" err="1"/>
              <a:t>know</a:t>
            </a:r>
            <a:r>
              <a:rPr lang="sv-SE" sz="1900" dirty="0"/>
              <a:t> </a:t>
            </a:r>
            <a:r>
              <a:rPr lang="sv-SE" sz="1900" dirty="0" err="1"/>
              <a:t>what</a:t>
            </a:r>
            <a:r>
              <a:rPr lang="sv-SE" sz="1900" dirty="0"/>
              <a:t> </a:t>
            </a:r>
            <a:r>
              <a:rPr lang="sv-SE" sz="1900" dirty="0" err="1"/>
              <a:t>they</a:t>
            </a:r>
            <a:r>
              <a:rPr lang="sv-SE" sz="1900" dirty="0"/>
              <a:t> </a:t>
            </a:r>
            <a:r>
              <a:rPr lang="sv-SE" sz="1900" dirty="0" err="1"/>
              <a:t>are</a:t>
            </a:r>
            <a:endParaRPr lang="sv-SE" sz="1900" dirty="0"/>
          </a:p>
          <a:p>
            <a:pPr lvl="1"/>
            <a:r>
              <a:rPr lang="sv-SE" sz="1900" dirty="0" err="1"/>
              <a:t>tbl_tablename</a:t>
            </a:r>
            <a:endParaRPr lang="sv-SE" sz="1900" dirty="0"/>
          </a:p>
          <a:p>
            <a:pPr lvl="1"/>
            <a:r>
              <a:rPr lang="sv-SE" sz="1900" dirty="0" err="1"/>
              <a:t>sp_procedurename</a:t>
            </a:r>
            <a:endParaRPr lang="sv-SE" sz="1900" dirty="0"/>
          </a:p>
          <a:p>
            <a:pPr lvl="1"/>
            <a:r>
              <a:rPr lang="sv-SE" sz="1900" dirty="0" err="1"/>
              <a:t>fn_functionname</a:t>
            </a:r>
            <a:endParaRPr lang="sv-SE" sz="1900" dirty="0"/>
          </a:p>
          <a:p>
            <a:r>
              <a:rPr lang="sv-SE" sz="1900" dirty="0" err="1"/>
              <a:t>Every</a:t>
            </a:r>
            <a:r>
              <a:rPr lang="sv-SE" sz="1900" dirty="0"/>
              <a:t> </a:t>
            </a:r>
            <a:r>
              <a:rPr lang="sv-SE" sz="1900" dirty="0" err="1"/>
              <a:t>year</a:t>
            </a:r>
            <a:r>
              <a:rPr lang="sv-SE" sz="1900" dirty="0"/>
              <a:t>, </a:t>
            </a:r>
            <a:r>
              <a:rPr lang="sv-SE" sz="1900" dirty="0" err="1"/>
              <a:t>change</a:t>
            </a:r>
            <a:r>
              <a:rPr lang="sv-SE" sz="1900" dirty="0"/>
              <a:t> </a:t>
            </a:r>
            <a:r>
              <a:rPr lang="sv-SE" sz="1900" dirty="0" err="1"/>
              <a:t>naming</a:t>
            </a:r>
            <a:r>
              <a:rPr lang="sv-SE" sz="1900" dirty="0"/>
              <a:t> </a:t>
            </a:r>
            <a:r>
              <a:rPr lang="sv-SE" sz="1900" dirty="0" err="1"/>
              <a:t>conventions</a:t>
            </a:r>
            <a:r>
              <a:rPr lang="sv-SE" sz="1900" dirty="0"/>
              <a:t>, </a:t>
            </a:r>
            <a:r>
              <a:rPr lang="sv-SE" sz="1900" dirty="0" err="1"/>
              <a:t>but</a:t>
            </a:r>
            <a:r>
              <a:rPr lang="sv-SE" sz="1900" dirty="0"/>
              <a:t> </a:t>
            </a:r>
            <a:r>
              <a:rPr lang="sv-SE" sz="1900" dirty="0" err="1"/>
              <a:t>don’t</a:t>
            </a:r>
            <a:r>
              <a:rPr lang="sv-SE" sz="1900" dirty="0"/>
              <a:t> </a:t>
            </a:r>
            <a:r>
              <a:rPr lang="sv-SE" sz="1900" dirty="0" err="1"/>
              <a:t>update</a:t>
            </a:r>
            <a:r>
              <a:rPr lang="sv-SE" sz="1900" dirty="0"/>
              <a:t> old </a:t>
            </a:r>
            <a:r>
              <a:rPr lang="sv-SE" sz="1900" dirty="0" err="1"/>
              <a:t>objects</a:t>
            </a:r>
            <a:endParaRPr lang="sv-SE" sz="1900" dirty="0"/>
          </a:p>
          <a:p>
            <a:pPr lvl="1"/>
            <a:r>
              <a:rPr lang="sv-SE" sz="1900" dirty="0" err="1"/>
              <a:t>tbl_tableName</a:t>
            </a:r>
            <a:endParaRPr lang="sv-SE" sz="1900" dirty="0"/>
          </a:p>
          <a:p>
            <a:pPr lvl="1"/>
            <a:r>
              <a:rPr lang="sv-SE" sz="1900" dirty="0" err="1"/>
              <a:t>tbl_TableName</a:t>
            </a:r>
            <a:endParaRPr lang="sv-SE" sz="1900" dirty="0"/>
          </a:p>
          <a:p>
            <a:pPr lvl="1"/>
            <a:r>
              <a:rPr lang="sv-SE" sz="1900" dirty="0" err="1"/>
              <a:t>tblTableName</a:t>
            </a:r>
            <a:endParaRPr lang="sv-SE" sz="1900" dirty="0"/>
          </a:p>
          <a:p>
            <a:pPr lvl="1"/>
            <a:r>
              <a:rPr lang="sv-SE" sz="1900" dirty="0" err="1"/>
              <a:t>tbl_table_name</a:t>
            </a:r>
            <a:endParaRPr lang="sv-SE" sz="1900" dirty="0"/>
          </a:p>
          <a:p>
            <a:pPr lvl="1"/>
            <a:r>
              <a:rPr lang="sv-SE" sz="1900" dirty="0" err="1"/>
              <a:t>TBL_TAbleNAMe</a:t>
            </a:r>
            <a:endParaRPr lang="sv-SE" sz="1900" dirty="0"/>
          </a:p>
          <a:p>
            <a:pPr marL="457200" lvl="1" indent="0">
              <a:buNone/>
            </a:pPr>
            <a:endParaRPr lang="sv-SE" sz="1900" dirty="0"/>
          </a:p>
        </p:txBody>
      </p:sp>
    </p:spTree>
    <p:extLst>
      <p:ext uri="{BB962C8B-B14F-4D97-AF65-F5344CB8AC3E}">
        <p14:creationId xmlns:p14="http://schemas.microsoft.com/office/powerpoint/2010/main" val="170253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9AD5C30-BFB8-32B6-FA55-373B0A70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sv-SE" dirty="0"/>
              <a:t>No, </a:t>
            </a:r>
            <a:r>
              <a:rPr lang="sv-SE" dirty="0" err="1"/>
              <a:t>maybe</a:t>
            </a:r>
            <a:r>
              <a:rPr lang="sv-SE" dirty="0"/>
              <a:t> not.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ECDCA4F-1498-1B33-5356-0A94BAA41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 fontScale="92500" lnSpcReduction="20000"/>
          </a:bodyPr>
          <a:lstStyle/>
          <a:p>
            <a:r>
              <a:rPr lang="sv-SE" sz="1700" dirty="0" err="1"/>
              <a:t>Agree</a:t>
            </a:r>
            <a:r>
              <a:rPr lang="sv-SE" sz="1700" dirty="0"/>
              <a:t> on a </a:t>
            </a:r>
            <a:r>
              <a:rPr lang="sv-SE" sz="1700" dirty="0" err="1"/>
              <a:t>naming</a:t>
            </a:r>
            <a:r>
              <a:rPr lang="sv-SE" sz="1700" dirty="0"/>
              <a:t> </a:t>
            </a:r>
            <a:r>
              <a:rPr lang="sv-SE" sz="1700" dirty="0" err="1"/>
              <a:t>convention</a:t>
            </a:r>
            <a:endParaRPr lang="sv-SE" sz="1700" dirty="0"/>
          </a:p>
          <a:p>
            <a:r>
              <a:rPr lang="sv-SE" sz="1700" dirty="0"/>
              <a:t>Make sure </a:t>
            </a:r>
            <a:r>
              <a:rPr lang="sv-SE" sz="1700" dirty="0" err="1"/>
              <a:t>it’s</a:t>
            </a:r>
            <a:r>
              <a:rPr lang="sv-SE" sz="1700" dirty="0"/>
              <a:t> </a:t>
            </a:r>
            <a:r>
              <a:rPr lang="sv-SE" sz="1700" dirty="0" err="1"/>
              <a:t>followed</a:t>
            </a:r>
            <a:endParaRPr lang="sv-SE" sz="1700" dirty="0"/>
          </a:p>
          <a:p>
            <a:r>
              <a:rPr lang="sv-SE" sz="1700" dirty="0" err="1"/>
              <a:t>Use</a:t>
            </a:r>
            <a:r>
              <a:rPr lang="sv-SE" sz="1700" dirty="0"/>
              <a:t> </a:t>
            </a:r>
            <a:r>
              <a:rPr lang="sv-SE" sz="1700" dirty="0" err="1"/>
              <a:t>any</a:t>
            </a:r>
            <a:r>
              <a:rPr lang="sv-SE" sz="1700" dirty="0"/>
              <a:t> </a:t>
            </a:r>
            <a:r>
              <a:rPr lang="sv-SE" sz="1700" dirty="0" err="1"/>
              <a:t>naming</a:t>
            </a:r>
            <a:r>
              <a:rPr lang="sv-SE" sz="1700" dirty="0"/>
              <a:t> </a:t>
            </a:r>
            <a:r>
              <a:rPr lang="sv-SE" sz="1700" dirty="0" err="1"/>
              <a:t>convention</a:t>
            </a:r>
            <a:r>
              <a:rPr lang="sv-SE" sz="1700" dirty="0"/>
              <a:t>. Camel-</a:t>
            </a:r>
            <a:r>
              <a:rPr lang="sv-SE" sz="1700" dirty="0" err="1"/>
              <a:t>case</a:t>
            </a:r>
            <a:r>
              <a:rPr lang="sv-SE" sz="1700" dirty="0"/>
              <a:t>, Pascal-</a:t>
            </a:r>
            <a:r>
              <a:rPr lang="sv-SE" sz="1700" dirty="0" err="1"/>
              <a:t>case</a:t>
            </a:r>
            <a:r>
              <a:rPr lang="sv-SE" sz="1700" dirty="0"/>
              <a:t>, </a:t>
            </a:r>
            <a:r>
              <a:rPr lang="sv-SE" sz="1700" dirty="0" err="1"/>
              <a:t>whatever-case</a:t>
            </a:r>
            <a:r>
              <a:rPr lang="sv-SE" sz="1700" dirty="0"/>
              <a:t>.</a:t>
            </a:r>
          </a:p>
          <a:p>
            <a:r>
              <a:rPr lang="sv-SE" sz="1700" dirty="0"/>
              <a:t>Prefix </a:t>
            </a:r>
            <a:r>
              <a:rPr lang="sv-SE" sz="1700" dirty="0" err="1"/>
              <a:t>whichever</a:t>
            </a:r>
            <a:r>
              <a:rPr lang="sv-SE" sz="1700" dirty="0"/>
              <a:t> </a:t>
            </a:r>
            <a:r>
              <a:rPr lang="sv-SE" sz="1700" dirty="0" err="1"/>
              <a:t>way</a:t>
            </a:r>
            <a:r>
              <a:rPr lang="sv-SE" sz="1700" dirty="0"/>
              <a:t> </a:t>
            </a:r>
            <a:r>
              <a:rPr lang="sv-SE" sz="1700" dirty="0" err="1"/>
              <a:t>you</a:t>
            </a:r>
            <a:r>
              <a:rPr lang="sv-SE" sz="1700" dirty="0"/>
              <a:t> </a:t>
            </a:r>
            <a:r>
              <a:rPr lang="sv-SE" sz="1700" dirty="0" err="1"/>
              <a:t>want</a:t>
            </a:r>
            <a:r>
              <a:rPr lang="sv-SE" sz="1700" dirty="0"/>
              <a:t>, </a:t>
            </a:r>
            <a:r>
              <a:rPr lang="sv-SE" sz="1700" dirty="0" err="1"/>
              <a:t>but</a:t>
            </a:r>
            <a:r>
              <a:rPr lang="sv-SE" sz="1700" dirty="0"/>
              <a:t> </a:t>
            </a:r>
            <a:r>
              <a:rPr lang="sv-SE" sz="1700" dirty="0" err="1"/>
              <a:t>follow</a:t>
            </a:r>
            <a:r>
              <a:rPr lang="sv-SE" sz="1700" dirty="0"/>
              <a:t> the </a:t>
            </a:r>
            <a:r>
              <a:rPr lang="sv-SE" sz="1700" dirty="0" err="1"/>
              <a:t>conventions</a:t>
            </a:r>
            <a:r>
              <a:rPr lang="sv-SE" sz="1700" dirty="0"/>
              <a:t> </a:t>
            </a:r>
            <a:r>
              <a:rPr lang="sv-SE" sz="1700" dirty="0" err="1"/>
              <a:t>you</a:t>
            </a:r>
            <a:r>
              <a:rPr lang="sv-SE" sz="1700" dirty="0"/>
              <a:t> </a:t>
            </a:r>
            <a:r>
              <a:rPr lang="sv-SE" sz="1700" dirty="0" err="1"/>
              <a:t>decided</a:t>
            </a:r>
            <a:r>
              <a:rPr lang="sv-SE" sz="1700" dirty="0"/>
              <a:t> </a:t>
            </a:r>
            <a:r>
              <a:rPr lang="sv-SE" sz="1700" dirty="0" err="1"/>
              <a:t>upon</a:t>
            </a:r>
            <a:r>
              <a:rPr lang="sv-SE" sz="1700" dirty="0"/>
              <a:t>.</a:t>
            </a:r>
          </a:p>
          <a:p>
            <a:pPr lvl="1"/>
            <a:r>
              <a:rPr lang="sv-SE" sz="1300" dirty="0"/>
              <a:t>(</a:t>
            </a:r>
            <a:r>
              <a:rPr lang="sv-SE" sz="1300" dirty="0" err="1"/>
              <a:t>Even</a:t>
            </a:r>
            <a:r>
              <a:rPr lang="sv-SE" sz="1300" dirty="0"/>
              <a:t> </a:t>
            </a:r>
            <a:r>
              <a:rPr lang="sv-SE" sz="1300" dirty="0" err="1"/>
              <a:t>if</a:t>
            </a:r>
            <a:r>
              <a:rPr lang="sv-SE" sz="1300" dirty="0"/>
              <a:t> </a:t>
            </a:r>
            <a:r>
              <a:rPr lang="sv-SE" sz="1300" dirty="0" err="1"/>
              <a:t>hungarian</a:t>
            </a:r>
            <a:r>
              <a:rPr lang="sv-SE" sz="1300" dirty="0"/>
              <a:t> notation hurts my </a:t>
            </a:r>
            <a:r>
              <a:rPr lang="sv-SE" sz="1300" dirty="0" err="1"/>
              <a:t>eyes</a:t>
            </a:r>
            <a:r>
              <a:rPr lang="sv-SE" sz="1300" dirty="0"/>
              <a:t>)</a:t>
            </a:r>
          </a:p>
          <a:p>
            <a:r>
              <a:rPr lang="sv-SE" sz="1700" dirty="0"/>
              <a:t>BUT NEVER EVER NAME STORED PROCEDURES </a:t>
            </a:r>
            <a:r>
              <a:rPr lang="sv-SE" sz="1700" dirty="0" err="1"/>
              <a:t>sp_procname</a:t>
            </a:r>
            <a:r>
              <a:rPr lang="sv-SE" sz="1700" dirty="0"/>
              <a:t>. </a:t>
            </a:r>
            <a:r>
              <a:rPr lang="sv-SE" sz="1700" dirty="0" err="1"/>
              <a:t>It’s</a:t>
            </a:r>
            <a:r>
              <a:rPr lang="sv-SE" sz="1700" dirty="0"/>
              <a:t> UGLY. </a:t>
            </a:r>
          </a:p>
          <a:p>
            <a:r>
              <a:rPr lang="sv-SE" sz="1700" dirty="0"/>
              <a:t>And it </a:t>
            </a:r>
            <a:r>
              <a:rPr lang="sv-SE" sz="1700" dirty="0" err="1"/>
              <a:t>will</a:t>
            </a:r>
            <a:r>
              <a:rPr lang="sv-SE" sz="1700" dirty="0"/>
              <a:t> </a:t>
            </a:r>
            <a:r>
              <a:rPr lang="sv-SE" sz="1700" dirty="0" err="1"/>
              <a:t>bite</a:t>
            </a:r>
            <a:r>
              <a:rPr lang="sv-SE" sz="1700" dirty="0"/>
              <a:t> </a:t>
            </a:r>
            <a:r>
              <a:rPr lang="sv-SE" sz="1700" dirty="0" err="1"/>
              <a:t>you</a:t>
            </a:r>
            <a:r>
              <a:rPr lang="sv-SE" sz="1700" dirty="0"/>
              <a:t>.</a:t>
            </a:r>
          </a:p>
          <a:p>
            <a:endParaRPr lang="sv-SE" sz="1700" dirty="0"/>
          </a:p>
          <a:p>
            <a:r>
              <a:rPr lang="sv-SE" sz="1700"/>
              <a:t>DEMO!!</a:t>
            </a:r>
            <a:endParaRPr lang="sv-SE" sz="1700" dirty="0"/>
          </a:p>
        </p:txBody>
      </p:sp>
      <p:pic>
        <p:nvPicPr>
          <p:cNvPr id="2050" name="Picture 2" descr="three young developers of diverse genders reviewing the naming convention for database objects they just agreed on, with a whiteboard displaying the conventions">
            <a:extLst>
              <a:ext uri="{FF2B5EF4-FFF2-40B4-BE49-F238E27FC236}">
                <a16:creationId xmlns:a16="http://schemas.microsoft.com/office/drawing/2014/main" id="{9B105F22-70F7-6962-2F0B-C34A2FFBB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4073" y="661916"/>
            <a:ext cx="5557909" cy="5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86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4D436-9639-472D-83D6-09B210D6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GB" sz="4800" dirty="0"/>
              <a:t>Unreadable code</a:t>
            </a:r>
            <a:endParaRPr lang="LID4096" sz="4800" dirty="0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junior developer sweating from stress, overwhelmed by a difficult task and messy code">
            <a:extLst>
              <a:ext uri="{FF2B5EF4-FFF2-40B4-BE49-F238E27FC236}">
                <a16:creationId xmlns:a16="http://schemas.microsoft.com/office/drawing/2014/main" id="{77DB82EE-94D3-EDF0-1F48-AA473C3F8E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/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BC9B-95CD-AA02-A623-055E8329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anchor="t">
            <a:normAutofit lnSpcReduction="10000"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Nested IF’s and ELSE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Code that is no longer in use: Comment it out, so that the stored procedures are all 1.000 lines of comments and 50 lines of actual code.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It takes time to come up with good names for local variables and temporary objects: Use @p1, @myLocalVariable and #tmp</a:t>
            </a:r>
            <a:endParaRPr lang="LID4096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03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4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014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9F51-501E-F679-183E-B4F929F5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GB" sz="3800">
                <a:solidFill>
                  <a:schemeClr val="bg1"/>
                </a:solidFill>
              </a:rPr>
              <a:t>There once was a young(ish) developer</a:t>
            </a:r>
            <a:endParaRPr lang="LID4096" sz="3800">
              <a:solidFill>
                <a:schemeClr val="bg1"/>
              </a:solidFill>
            </a:endParaRP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FB868-47A5-D19E-94C4-D72C1D3F0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Who all of a sudden found out he’s also the DBA.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only DBA</a:t>
            </a:r>
            <a:endParaRPr lang="LID4096" sz="2000" dirty="0">
              <a:solidFill>
                <a:schemeClr val="bg1"/>
              </a:solidFill>
            </a:endParaRPr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a young senior DBA in total control with a messy server room behind him">
            <a:extLst>
              <a:ext uri="{FF2B5EF4-FFF2-40B4-BE49-F238E27FC236}">
                <a16:creationId xmlns:a16="http://schemas.microsoft.com/office/drawing/2014/main" id="{3DD0B9BF-766F-D339-5F7B-AC988A683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5453" y="595726"/>
            <a:ext cx="5666547" cy="566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03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7E4FF-D84B-1C7F-72E0-AA15C3C9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/>
              <a:t>Don’t let your databases grow out of control</a:t>
            </a:r>
            <a:endParaRPr lang="LID4096" sz="4200"/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1320-0D6D-B1FF-B8E1-47C9C6629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dirty="0"/>
              <a:t>Free space in files = evil, right?</a:t>
            </a:r>
          </a:p>
          <a:p>
            <a:r>
              <a:rPr lang="en-GB" sz="2200" dirty="0"/>
              <a:t>Let’s use </a:t>
            </a:r>
            <a:r>
              <a:rPr lang="en-GB" sz="2200" dirty="0" err="1"/>
              <a:t>autoshrink</a:t>
            </a:r>
            <a:endParaRPr lang="en-GB" sz="2200" dirty="0"/>
          </a:p>
          <a:p>
            <a:r>
              <a:rPr lang="en-GB" sz="2200" dirty="0"/>
              <a:t>Or at least shrink them manually once per day..</a:t>
            </a:r>
          </a:p>
          <a:p>
            <a:r>
              <a:rPr lang="en-GB" sz="2200" dirty="0"/>
              <a:t>Index maintenance tends to grow the transaction log file. SHRINK IT IMMEDIATELY AFTER</a:t>
            </a:r>
          </a:p>
          <a:p>
            <a:r>
              <a:rPr lang="en-GB" sz="900" dirty="0"/>
              <a:t>You do know I’m kidding, right?</a:t>
            </a:r>
            <a:endParaRPr lang="LID4096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E5EA77-0E73-55CA-AA4D-3DDC63D538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44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E4FF-D84B-1C7F-72E0-AA15C3C9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GB" sz="4200" dirty="0"/>
              <a:t>Some shrink actions you should take on a regular basis</a:t>
            </a:r>
            <a:endParaRPr lang="LID4096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1320-0D6D-B1FF-B8E1-47C9C6629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77500" lnSpcReduction="20000"/>
          </a:bodyPr>
          <a:lstStyle/>
          <a:p>
            <a:r>
              <a:rPr lang="en-GB" sz="2200" dirty="0"/>
              <a:t>Don’t shrink the database.</a:t>
            </a:r>
          </a:p>
          <a:p>
            <a:r>
              <a:rPr lang="en-GB" sz="2200" dirty="0"/>
              <a:t>Don’t shrink the logfile.</a:t>
            </a:r>
          </a:p>
          <a:p>
            <a:r>
              <a:rPr lang="en-GB" sz="2200" dirty="0"/>
              <a:t>Don’t even think about shrinking your </a:t>
            </a:r>
            <a:r>
              <a:rPr lang="en-GB" sz="2200" dirty="0" err="1"/>
              <a:t>tempdb</a:t>
            </a:r>
            <a:r>
              <a:rPr lang="en-GB" sz="2200" dirty="0"/>
              <a:t>.</a:t>
            </a:r>
          </a:p>
          <a:p>
            <a:r>
              <a:rPr lang="en-GB" sz="2200" dirty="0"/>
              <a:t>If you purge last year’s data from the database and see a lot of free space: DO NOTHING AT ALL, DON’T TOUCH, LEAVE IT BE!</a:t>
            </a:r>
          </a:p>
          <a:p>
            <a:r>
              <a:rPr lang="en-GB" sz="2200" dirty="0"/>
              <a:t>If your storage admin tells you the databases consume A LOT of disk, these are some proper responses:</a:t>
            </a:r>
          </a:p>
          <a:p>
            <a:pPr lvl="1"/>
            <a:r>
              <a:rPr lang="en-GB" sz="1800" dirty="0"/>
              <a:t>Uh, yeah? What about it?</a:t>
            </a:r>
          </a:p>
          <a:p>
            <a:pPr lvl="1"/>
            <a:r>
              <a:rPr lang="en-GB" sz="1800" dirty="0"/>
              <a:t>Yes, so you probably need to make sure we have more disk to allocate from our SAN.</a:t>
            </a:r>
            <a:endParaRPr lang="LID4096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E5EA77-0E73-55CA-AA4D-3DDC63D538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3545C1-02A3-D5CF-2E86-0D2645A5A42F}"/>
              </a:ext>
            </a:extLst>
          </p:cNvPr>
          <p:cNvCxnSpPr>
            <a:cxnSpLocks/>
          </p:cNvCxnSpPr>
          <p:nvPr/>
        </p:nvCxnSpPr>
        <p:spPr>
          <a:xfrm>
            <a:off x="6468762" y="0"/>
            <a:ext cx="5723238" cy="68580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BCACAD-D7C4-67B5-F052-0296E337DCDF}"/>
              </a:ext>
            </a:extLst>
          </p:cNvPr>
          <p:cNvCxnSpPr>
            <a:cxnSpLocks/>
          </p:cNvCxnSpPr>
          <p:nvPr/>
        </p:nvCxnSpPr>
        <p:spPr>
          <a:xfrm flipH="1">
            <a:off x="5902908" y="0"/>
            <a:ext cx="6287569" cy="68579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8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FB92DFE-CBAD-B81E-0B3F-29763559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sv-SE" sz="5000"/>
              <a:t>Taking backups is pretty cool.</a:t>
            </a:r>
          </a:p>
        </p:txBody>
      </p:sp>
      <p:sp>
        <p:nvSpPr>
          <p:cNvPr id="104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2DDA1D0-D19C-C73B-AD74-7031964DA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v-SE" sz="2200" dirty="0" err="1"/>
              <a:t>Being</a:t>
            </a:r>
            <a:r>
              <a:rPr lang="sv-SE" sz="2200" dirty="0"/>
              <a:t> </a:t>
            </a:r>
            <a:r>
              <a:rPr lang="sv-SE" sz="2200" dirty="0" err="1"/>
              <a:t>able</a:t>
            </a:r>
            <a:r>
              <a:rPr lang="sv-SE" sz="2200" dirty="0"/>
              <a:t> to </a:t>
            </a:r>
            <a:r>
              <a:rPr lang="sv-SE" sz="2200" dirty="0" err="1"/>
              <a:t>restore</a:t>
            </a:r>
            <a:r>
              <a:rPr lang="sv-SE" sz="2200" dirty="0"/>
              <a:t> backups is </a:t>
            </a:r>
            <a:r>
              <a:rPr lang="sv-SE" sz="2200" dirty="0" err="1"/>
              <a:t>way</a:t>
            </a:r>
            <a:r>
              <a:rPr lang="sv-SE" sz="2200" dirty="0"/>
              <a:t> </a:t>
            </a:r>
            <a:r>
              <a:rPr lang="sv-SE" sz="2200" dirty="0" err="1"/>
              <a:t>cooler</a:t>
            </a:r>
            <a:r>
              <a:rPr lang="sv-SE" sz="2200" dirty="0"/>
              <a:t>.</a:t>
            </a:r>
          </a:p>
          <a:p>
            <a:pPr marL="0" indent="0">
              <a:buNone/>
            </a:pPr>
            <a:endParaRPr lang="sv-SE" sz="2200" dirty="0"/>
          </a:p>
          <a:p>
            <a:pPr>
              <a:buFontTx/>
              <a:buChar char="-"/>
            </a:pPr>
            <a:r>
              <a:rPr lang="sv-SE" sz="2200" dirty="0"/>
              <a:t>The backup </a:t>
            </a:r>
            <a:r>
              <a:rPr lang="sv-SE" sz="2200" dirty="0" err="1"/>
              <a:t>job</a:t>
            </a:r>
            <a:r>
              <a:rPr lang="sv-SE" sz="2200" dirty="0"/>
              <a:t> </a:t>
            </a:r>
            <a:r>
              <a:rPr lang="sv-SE" sz="2200" dirty="0" err="1"/>
              <a:t>finished</a:t>
            </a:r>
            <a:r>
              <a:rPr lang="sv-SE" sz="2200" dirty="0"/>
              <a:t> </a:t>
            </a:r>
            <a:r>
              <a:rPr lang="sv-SE" sz="2200" dirty="0" err="1"/>
              <a:t>successfully</a:t>
            </a:r>
            <a:r>
              <a:rPr lang="sv-SE" sz="2200" dirty="0"/>
              <a:t>. </a:t>
            </a:r>
            <a:r>
              <a:rPr lang="sv-SE" sz="2200" dirty="0" err="1"/>
              <a:t>Did</a:t>
            </a:r>
            <a:r>
              <a:rPr lang="sv-SE" sz="2200" dirty="0"/>
              <a:t> it do </a:t>
            </a:r>
            <a:r>
              <a:rPr lang="sv-SE" sz="2200" dirty="0" err="1"/>
              <a:t>anything</a:t>
            </a:r>
            <a:r>
              <a:rPr lang="sv-SE" sz="2200" dirty="0"/>
              <a:t>?</a:t>
            </a:r>
          </a:p>
          <a:p>
            <a:pPr>
              <a:buFontTx/>
              <a:buChar char="-"/>
            </a:pPr>
            <a:r>
              <a:rPr lang="sv-SE" sz="2200" dirty="0" err="1"/>
              <a:t>Where</a:t>
            </a:r>
            <a:r>
              <a:rPr lang="sv-SE" sz="2200" dirty="0"/>
              <a:t> do </a:t>
            </a:r>
            <a:r>
              <a:rPr lang="sv-SE" sz="2200" dirty="0" err="1"/>
              <a:t>you</a:t>
            </a:r>
            <a:r>
              <a:rPr lang="sv-SE" sz="2200" dirty="0"/>
              <a:t> store backups?</a:t>
            </a:r>
          </a:p>
          <a:p>
            <a:pPr>
              <a:buFontTx/>
              <a:buChar char="-"/>
            </a:pPr>
            <a:r>
              <a:rPr lang="sv-SE" sz="2200" dirty="0" err="1"/>
              <a:t>Where</a:t>
            </a:r>
            <a:r>
              <a:rPr lang="sv-SE" sz="2200" dirty="0"/>
              <a:t> do </a:t>
            </a:r>
            <a:r>
              <a:rPr lang="sv-SE" sz="2200" dirty="0" err="1"/>
              <a:t>you</a:t>
            </a:r>
            <a:r>
              <a:rPr lang="sv-SE" sz="2200" dirty="0"/>
              <a:t> test backups?</a:t>
            </a:r>
          </a:p>
          <a:p>
            <a:pPr lvl="1">
              <a:buFontTx/>
              <a:buChar char="-"/>
            </a:pPr>
            <a:r>
              <a:rPr lang="sv-SE" sz="2200" dirty="0" err="1"/>
              <a:t>Yes</a:t>
            </a:r>
            <a:r>
              <a:rPr lang="sv-SE" sz="2200" dirty="0"/>
              <a:t>. </a:t>
            </a:r>
            <a:r>
              <a:rPr lang="sv-SE" sz="2200" dirty="0" err="1"/>
              <a:t>That’s</a:t>
            </a:r>
            <a:r>
              <a:rPr lang="sv-SE" sz="2200" dirty="0"/>
              <a:t> a </a:t>
            </a:r>
            <a:r>
              <a:rPr lang="sv-SE" sz="2200" dirty="0" err="1"/>
              <a:t>thing</a:t>
            </a:r>
            <a:r>
              <a:rPr lang="sv-SE" sz="2200" dirty="0"/>
              <a:t>. It </a:t>
            </a:r>
            <a:r>
              <a:rPr lang="sv-SE" sz="2200" dirty="0" err="1"/>
              <a:t>really</a:t>
            </a:r>
            <a:r>
              <a:rPr lang="sv-SE" sz="2200" dirty="0"/>
              <a:t> is.</a:t>
            </a:r>
            <a:endParaRPr lang="sv-SE" sz="2600" dirty="0"/>
          </a:p>
          <a:p>
            <a:pPr marL="0" indent="0">
              <a:buNone/>
            </a:pPr>
            <a:endParaRPr lang="sv-SE" sz="2200" dirty="0"/>
          </a:p>
        </p:txBody>
      </p:sp>
      <p:pic>
        <p:nvPicPr>
          <p:cNvPr id="1028" name="Picture 4" descr="a database ripping his hair in agony after a database restore has failed">
            <a:extLst>
              <a:ext uri="{FF2B5EF4-FFF2-40B4-BE49-F238E27FC236}">
                <a16:creationId xmlns:a16="http://schemas.microsoft.com/office/drawing/2014/main" id="{E0F8E64D-48BB-82B8-AE7F-DF43149E8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42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34BEF-1BED-AA80-37B4-1422F024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dirty="0"/>
              <a:t>Demo</a:t>
            </a:r>
            <a:endParaRPr lang="LID4096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40E0F-A661-AC05-35FA-B22C01DF0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 dirty="0"/>
              <a:t>Crash</a:t>
            </a:r>
          </a:p>
          <a:p>
            <a:r>
              <a:rPr lang="en-GB" sz="2000" dirty="0"/>
              <a:t>Boom</a:t>
            </a:r>
          </a:p>
          <a:p>
            <a:r>
              <a:rPr lang="en-GB" sz="2000" dirty="0"/>
              <a:t>Bang</a:t>
            </a:r>
            <a:endParaRPr lang="LID4096" sz="2000" dirty="0"/>
          </a:p>
        </p:txBody>
      </p:sp>
      <p:pic>
        <p:nvPicPr>
          <p:cNvPr id="5" name="Picture 4" descr="Shadow of a person welding">
            <a:extLst>
              <a:ext uri="{FF2B5EF4-FFF2-40B4-BE49-F238E27FC236}">
                <a16:creationId xmlns:a16="http://schemas.microsoft.com/office/drawing/2014/main" id="{10EE314F-E5BF-FC35-E94E-E13F063C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07" r="25916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75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FB92DFE-CBAD-B81E-0B3F-29763559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sv-SE" sz="3600" dirty="0" err="1"/>
              <a:t>But</a:t>
            </a:r>
            <a:r>
              <a:rPr lang="sv-SE" sz="3600" dirty="0"/>
              <a:t> Magnus, </a:t>
            </a:r>
            <a:r>
              <a:rPr lang="sv-SE" sz="3600" dirty="0" err="1"/>
              <a:t>that</a:t>
            </a:r>
            <a:r>
              <a:rPr lang="sv-SE" sz="3600" dirty="0"/>
              <a:t> </a:t>
            </a:r>
            <a:r>
              <a:rPr lang="sv-SE" sz="3600" dirty="0" err="1"/>
              <a:t>would</a:t>
            </a:r>
            <a:r>
              <a:rPr lang="sv-SE" sz="3600" dirty="0"/>
              <a:t> never </a:t>
            </a:r>
            <a:r>
              <a:rPr lang="sv-SE" sz="3600" dirty="0" err="1"/>
              <a:t>happen</a:t>
            </a:r>
            <a:r>
              <a:rPr lang="sv-SE" sz="3600" dirty="0"/>
              <a:t> in a ”real shop”, right?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2DDA1D0-D19C-C73B-AD74-7031964DA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964159"/>
            <a:ext cx="4243589" cy="1568472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sv-SE" sz="2200" dirty="0" err="1"/>
              <a:t>Take</a:t>
            </a:r>
            <a:r>
              <a:rPr lang="sv-SE" sz="2200" dirty="0"/>
              <a:t> a backup</a:t>
            </a:r>
          </a:p>
          <a:p>
            <a:pPr>
              <a:buFontTx/>
              <a:buChar char="-"/>
            </a:pPr>
            <a:r>
              <a:rPr lang="sv-SE" sz="2200" dirty="0"/>
              <a:t>Test it</a:t>
            </a:r>
          </a:p>
          <a:p>
            <a:pPr>
              <a:buFontTx/>
              <a:buChar char="-"/>
            </a:pPr>
            <a:r>
              <a:rPr lang="sv-SE" sz="2200" dirty="0"/>
              <a:t>Store it as far from </a:t>
            </a:r>
            <a:r>
              <a:rPr lang="sv-SE" sz="2200" dirty="0" err="1"/>
              <a:t>your</a:t>
            </a:r>
            <a:r>
              <a:rPr lang="sv-SE" sz="2200" dirty="0"/>
              <a:t> data </a:t>
            </a:r>
            <a:r>
              <a:rPr lang="sv-SE" sz="2200" dirty="0" err="1"/>
              <a:t>files</a:t>
            </a:r>
            <a:r>
              <a:rPr lang="sv-SE" sz="2200" dirty="0"/>
              <a:t> as </a:t>
            </a:r>
            <a:r>
              <a:rPr lang="sv-SE" sz="2200" dirty="0" err="1"/>
              <a:t>you</a:t>
            </a:r>
            <a:r>
              <a:rPr lang="sv-SE" sz="2200" dirty="0"/>
              <a:t> </a:t>
            </a:r>
            <a:r>
              <a:rPr lang="sv-SE" sz="2200" dirty="0" err="1"/>
              <a:t>possibly</a:t>
            </a:r>
            <a:r>
              <a:rPr lang="sv-SE" sz="2200" dirty="0"/>
              <a:t> </a:t>
            </a:r>
            <a:r>
              <a:rPr lang="sv-SE" sz="2200" dirty="0" err="1"/>
              <a:t>can</a:t>
            </a:r>
            <a:r>
              <a:rPr lang="sv-SE" sz="2200" dirty="0"/>
              <a:t>!</a:t>
            </a:r>
          </a:p>
        </p:txBody>
      </p:sp>
      <p:pic>
        <p:nvPicPr>
          <p:cNvPr id="1028" name="Picture 4" descr="a database ripping his hair in agony after a database restore has failed">
            <a:extLst>
              <a:ext uri="{FF2B5EF4-FFF2-40B4-BE49-F238E27FC236}">
                <a16:creationId xmlns:a16="http://schemas.microsoft.com/office/drawing/2014/main" id="{E0F8E64D-48BB-82B8-AE7F-DF43149E8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6C575C17-AB25-D24C-15BB-7D20D304C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16377"/>
              </p:ext>
            </p:extLst>
          </p:nvPr>
        </p:nvGraphicFramePr>
        <p:xfrm>
          <a:off x="114662" y="2953366"/>
          <a:ext cx="5045530" cy="1678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106">
                  <a:extLst>
                    <a:ext uri="{9D8B030D-6E8A-4147-A177-3AD203B41FA5}">
                      <a16:colId xmlns:a16="http://schemas.microsoft.com/office/drawing/2014/main" val="4054115538"/>
                    </a:ext>
                  </a:extLst>
                </a:gridCol>
                <a:gridCol w="1009106">
                  <a:extLst>
                    <a:ext uri="{9D8B030D-6E8A-4147-A177-3AD203B41FA5}">
                      <a16:colId xmlns:a16="http://schemas.microsoft.com/office/drawing/2014/main" val="262542270"/>
                    </a:ext>
                  </a:extLst>
                </a:gridCol>
                <a:gridCol w="1009106">
                  <a:extLst>
                    <a:ext uri="{9D8B030D-6E8A-4147-A177-3AD203B41FA5}">
                      <a16:colId xmlns:a16="http://schemas.microsoft.com/office/drawing/2014/main" val="2496504217"/>
                    </a:ext>
                  </a:extLst>
                </a:gridCol>
                <a:gridCol w="1009106">
                  <a:extLst>
                    <a:ext uri="{9D8B030D-6E8A-4147-A177-3AD203B41FA5}">
                      <a16:colId xmlns:a16="http://schemas.microsoft.com/office/drawing/2014/main" val="3018041008"/>
                    </a:ext>
                  </a:extLst>
                </a:gridCol>
                <a:gridCol w="1009106">
                  <a:extLst>
                    <a:ext uri="{9D8B030D-6E8A-4147-A177-3AD203B41FA5}">
                      <a16:colId xmlns:a16="http://schemas.microsoft.com/office/drawing/2014/main" val="3295760725"/>
                    </a:ext>
                  </a:extLst>
                </a:gridCol>
              </a:tblGrid>
              <a:tr h="703164">
                <a:tc>
                  <a:txBody>
                    <a:bodyPr/>
                    <a:lstStyle/>
                    <a:p>
                      <a:r>
                        <a:rPr lang="sv-SE" sz="1300" dirty="0" err="1"/>
                        <a:t>Organi-sations</a:t>
                      </a:r>
                      <a:r>
                        <a:rPr lang="sv-SE" sz="1300" dirty="0"/>
                        <a:t> </a:t>
                      </a:r>
                      <a:r>
                        <a:rPr lang="sv-SE" sz="1300" dirty="0" err="1"/>
                        <a:t>affected</a:t>
                      </a:r>
                      <a:endParaRPr lang="sv-S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Data loss incidents per </a:t>
                      </a:r>
                      <a:r>
                        <a:rPr lang="sv-SE" sz="1300" dirty="0" err="1"/>
                        <a:t>year</a:t>
                      </a:r>
                      <a:endParaRPr lang="sv-S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Business dis-</a:t>
                      </a:r>
                      <a:r>
                        <a:rPr lang="sv-SE" sz="1300" dirty="0" err="1"/>
                        <a:t>ruptions</a:t>
                      </a:r>
                      <a:endParaRPr lang="sv-S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Reputation </a:t>
                      </a:r>
                      <a:r>
                        <a:rPr lang="sv-SE" sz="1300" dirty="0" err="1"/>
                        <a:t>setback</a:t>
                      </a:r>
                      <a:endParaRPr lang="sv-SE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 err="1"/>
                        <a:t>Issued</a:t>
                      </a:r>
                      <a:r>
                        <a:rPr lang="sv-SE" sz="1300" dirty="0"/>
                        <a:t> </a:t>
                      </a:r>
                      <a:r>
                        <a:rPr lang="sv-SE" sz="1300" dirty="0" err="1"/>
                        <a:t>regulatory</a:t>
                      </a:r>
                      <a:r>
                        <a:rPr lang="sv-SE" sz="1300" dirty="0"/>
                        <a:t> fines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202949"/>
                  </a:ext>
                </a:extLst>
              </a:tr>
              <a:tr h="226827">
                <a:tc>
                  <a:txBody>
                    <a:bodyPr/>
                    <a:lstStyle/>
                    <a:p>
                      <a:r>
                        <a:rPr lang="sv-SE" sz="1300" dirty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300" dirty="0"/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011495"/>
                  </a:ext>
                </a:extLst>
              </a:tr>
              <a:tr h="226827">
                <a:tc gridSpan="5">
                  <a:txBody>
                    <a:bodyPr/>
                    <a:lstStyle/>
                    <a:p>
                      <a:r>
                        <a:rPr lang="sv-SE" sz="1300" dirty="0" err="1"/>
                        <a:t>Proofpoint</a:t>
                      </a:r>
                      <a:r>
                        <a:rPr lang="sv-SE" sz="1300" dirty="0"/>
                        <a:t> 2024 Data Loss Landscape </a:t>
                      </a:r>
                      <a:r>
                        <a:rPr lang="sv-SE" sz="1300" dirty="0" err="1"/>
                        <a:t>report</a:t>
                      </a:r>
                      <a:r>
                        <a:rPr lang="sv-SE" sz="1300" dirty="0"/>
                        <a:t>.</a:t>
                      </a:r>
                      <a:br>
                        <a:rPr lang="sv-SE" sz="1300" dirty="0"/>
                      </a:br>
                      <a:r>
                        <a:rPr lang="sv-SE" sz="1300" dirty="0">
                          <a:hlinkClick r:id="rId3"/>
                        </a:rPr>
                        <a:t>https://www.proofpoint.com/us/blog/information-protection/2024-data-loss-landscape-report-dlp</a:t>
                      </a:r>
                      <a:r>
                        <a:rPr lang="sv-SE" sz="13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68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35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3" name="Rectangle 209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FEB17B7-D27D-D44D-D772-E6DC1AC4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sv-SE" sz="5400" dirty="0"/>
              <a:t>If </a:t>
            </a:r>
            <a:r>
              <a:rPr lang="sv-SE" sz="5400" dirty="0" err="1"/>
              <a:t>you</a:t>
            </a:r>
            <a:r>
              <a:rPr lang="sv-SE" sz="5400" dirty="0"/>
              <a:t> </a:t>
            </a:r>
            <a:r>
              <a:rPr lang="sv-SE" sz="5400" dirty="0" err="1"/>
              <a:t>don’t</a:t>
            </a:r>
            <a:r>
              <a:rPr lang="sv-SE" sz="5400" dirty="0"/>
              <a:t> </a:t>
            </a:r>
            <a:r>
              <a:rPr lang="sv-SE" sz="5400" dirty="0" err="1"/>
              <a:t>know</a:t>
            </a:r>
            <a:r>
              <a:rPr lang="sv-SE" sz="5400" dirty="0"/>
              <a:t>, </a:t>
            </a:r>
            <a:r>
              <a:rPr lang="sv-SE" sz="5400" dirty="0" err="1"/>
              <a:t>don’t</a:t>
            </a:r>
            <a:r>
              <a:rPr lang="sv-SE" sz="5400" dirty="0"/>
              <a:t> </a:t>
            </a:r>
            <a:r>
              <a:rPr lang="sv-SE" sz="5400" dirty="0" err="1"/>
              <a:t>change</a:t>
            </a:r>
            <a:endParaRPr lang="sv-SE" sz="5400" dirty="0"/>
          </a:p>
        </p:txBody>
      </p:sp>
      <p:sp>
        <p:nvSpPr>
          <p:cNvPr id="209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541EF0E-5017-5500-041C-A16AF3E9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sv-SE" sz="2200" dirty="0"/>
              <a:t>If </a:t>
            </a:r>
            <a:r>
              <a:rPr lang="sv-SE" sz="2200" dirty="0" err="1"/>
              <a:t>you</a:t>
            </a:r>
            <a:r>
              <a:rPr lang="sv-SE" sz="2200" dirty="0"/>
              <a:t> </a:t>
            </a:r>
            <a:r>
              <a:rPr lang="sv-SE" sz="2200" dirty="0" err="1"/>
              <a:t>googled</a:t>
            </a:r>
            <a:r>
              <a:rPr lang="sv-SE" sz="2200" dirty="0"/>
              <a:t> for </a:t>
            </a:r>
            <a:r>
              <a:rPr lang="sv-SE" sz="2200" dirty="0" err="1"/>
              <a:t>some</a:t>
            </a:r>
            <a:r>
              <a:rPr lang="sv-SE" sz="2200" dirty="0"/>
              <a:t> </a:t>
            </a:r>
            <a:r>
              <a:rPr lang="sv-SE" sz="2200" dirty="0" err="1"/>
              <a:t>advice</a:t>
            </a:r>
            <a:r>
              <a:rPr lang="sv-SE" sz="2200" dirty="0"/>
              <a:t>, </a:t>
            </a:r>
            <a:r>
              <a:rPr lang="sv-SE" sz="2200" dirty="0" err="1"/>
              <a:t>found</a:t>
            </a:r>
            <a:r>
              <a:rPr lang="sv-SE" sz="2200" dirty="0"/>
              <a:t> it </a:t>
            </a:r>
            <a:r>
              <a:rPr lang="sv-SE" sz="2200" dirty="0" err="1"/>
              <a:t>but</a:t>
            </a:r>
            <a:r>
              <a:rPr lang="sv-SE" sz="2200" dirty="0"/>
              <a:t> </a:t>
            </a:r>
            <a:r>
              <a:rPr lang="sv-SE" sz="2200" dirty="0" err="1"/>
              <a:t>didn’t</a:t>
            </a:r>
            <a:r>
              <a:rPr lang="sv-SE" sz="2200" dirty="0"/>
              <a:t> </a:t>
            </a:r>
            <a:r>
              <a:rPr lang="sv-SE" sz="2200" dirty="0" err="1"/>
              <a:t>really</a:t>
            </a:r>
            <a:r>
              <a:rPr lang="sv-SE" sz="2200" dirty="0"/>
              <a:t> understand the reasoning </a:t>
            </a:r>
            <a:r>
              <a:rPr lang="sv-SE" sz="2200" dirty="0" err="1"/>
              <a:t>behind</a:t>
            </a:r>
            <a:r>
              <a:rPr lang="sv-SE" sz="2200" dirty="0"/>
              <a:t> it: </a:t>
            </a:r>
            <a:r>
              <a:rPr lang="sv-SE" sz="2200" dirty="0" err="1"/>
              <a:t>You</a:t>
            </a:r>
            <a:r>
              <a:rPr lang="sv-SE" sz="2200" dirty="0"/>
              <a:t> still </a:t>
            </a:r>
            <a:r>
              <a:rPr lang="sv-SE" sz="2200" dirty="0" err="1"/>
              <a:t>don’t</a:t>
            </a:r>
            <a:r>
              <a:rPr lang="sv-SE" sz="2200" dirty="0"/>
              <a:t> </a:t>
            </a:r>
            <a:r>
              <a:rPr lang="sv-SE" sz="2200" dirty="0" err="1"/>
              <a:t>know</a:t>
            </a:r>
            <a:r>
              <a:rPr lang="sv-SE" sz="2200" dirty="0"/>
              <a:t>. Hands off!</a:t>
            </a:r>
          </a:p>
          <a:p>
            <a:pPr marL="0" indent="0">
              <a:buNone/>
            </a:pPr>
            <a:r>
              <a:rPr lang="sv-SE" sz="2200" dirty="0" err="1"/>
              <a:t>This</a:t>
            </a:r>
            <a:r>
              <a:rPr lang="sv-SE" sz="2200" dirty="0"/>
              <a:t> </a:t>
            </a:r>
            <a:r>
              <a:rPr lang="sv-SE" sz="2200" dirty="0" err="1"/>
              <a:t>includes</a:t>
            </a:r>
            <a:r>
              <a:rPr lang="sv-SE" sz="2200" dirty="0"/>
              <a:t>, </a:t>
            </a:r>
            <a:r>
              <a:rPr lang="sv-SE" sz="2200" dirty="0" err="1"/>
              <a:t>but</a:t>
            </a:r>
            <a:r>
              <a:rPr lang="sv-SE" sz="2200" dirty="0"/>
              <a:t> is not </a:t>
            </a:r>
            <a:r>
              <a:rPr lang="sv-SE" sz="2200" dirty="0" err="1"/>
              <a:t>limited</a:t>
            </a:r>
            <a:r>
              <a:rPr lang="sv-SE" sz="2200" dirty="0"/>
              <a:t> to:</a:t>
            </a:r>
          </a:p>
          <a:p>
            <a:pPr>
              <a:buFontTx/>
              <a:buChar char="-"/>
            </a:pPr>
            <a:r>
              <a:rPr lang="sv-SE" sz="2200" dirty="0" err="1"/>
              <a:t>Database</a:t>
            </a:r>
            <a:r>
              <a:rPr lang="sv-SE" sz="2200" dirty="0"/>
              <a:t> </a:t>
            </a:r>
            <a:r>
              <a:rPr lang="sv-SE" sz="2200" dirty="0" err="1"/>
              <a:t>Recovery</a:t>
            </a:r>
            <a:r>
              <a:rPr lang="sv-SE" sz="2200" dirty="0"/>
              <a:t> </a:t>
            </a:r>
            <a:r>
              <a:rPr lang="sv-SE" sz="2200" dirty="0" err="1"/>
              <a:t>Model</a:t>
            </a:r>
            <a:endParaRPr lang="sv-SE" sz="2200" dirty="0"/>
          </a:p>
          <a:p>
            <a:pPr>
              <a:buFontTx/>
              <a:buChar char="-"/>
            </a:pPr>
            <a:r>
              <a:rPr lang="sv-SE" sz="2200" dirty="0" err="1"/>
              <a:t>Fillfactor</a:t>
            </a:r>
            <a:r>
              <a:rPr lang="sv-SE" sz="2200" dirty="0"/>
              <a:t> </a:t>
            </a:r>
          </a:p>
          <a:p>
            <a:pPr>
              <a:buFontTx/>
              <a:buChar char="-"/>
            </a:pPr>
            <a:r>
              <a:rPr lang="sv-SE" sz="2200" dirty="0" err="1"/>
              <a:t>Delayed</a:t>
            </a:r>
            <a:r>
              <a:rPr lang="sv-SE" sz="2200" dirty="0"/>
              <a:t> </a:t>
            </a:r>
            <a:r>
              <a:rPr lang="sv-SE" sz="2200" dirty="0" err="1"/>
              <a:t>Durability</a:t>
            </a:r>
            <a:endParaRPr lang="sv-SE" sz="2200" dirty="0"/>
          </a:p>
          <a:p>
            <a:pPr marL="0" indent="0">
              <a:buNone/>
            </a:pPr>
            <a:r>
              <a:rPr lang="sv-SE" sz="2200" dirty="0"/>
              <a:t>(I </a:t>
            </a:r>
            <a:r>
              <a:rPr lang="sv-SE" sz="2200" dirty="0" err="1"/>
              <a:t>touched</a:t>
            </a:r>
            <a:r>
              <a:rPr lang="sv-SE" sz="2200" dirty="0"/>
              <a:t> a </a:t>
            </a:r>
            <a:r>
              <a:rPr lang="sv-SE" sz="2200" dirty="0" err="1"/>
              <a:t>couple</a:t>
            </a:r>
            <a:r>
              <a:rPr lang="sv-SE" sz="2200" dirty="0"/>
              <a:t> </a:t>
            </a:r>
            <a:r>
              <a:rPr lang="sv-SE" sz="2200" dirty="0" err="1"/>
              <a:t>of</a:t>
            </a:r>
            <a:r>
              <a:rPr lang="sv-SE" sz="2200" dirty="0"/>
              <a:t> </a:t>
            </a:r>
            <a:r>
              <a:rPr lang="sv-SE" sz="2200" dirty="0" err="1"/>
              <a:t>these</a:t>
            </a:r>
            <a:r>
              <a:rPr lang="sv-SE" sz="2200" dirty="0"/>
              <a:t> </a:t>
            </a:r>
            <a:r>
              <a:rPr lang="sv-SE" sz="2200" dirty="0" err="1"/>
              <a:t>settings</a:t>
            </a:r>
            <a:r>
              <a:rPr lang="sv-SE" sz="2200" dirty="0"/>
              <a:t> </a:t>
            </a:r>
            <a:r>
              <a:rPr lang="sv-SE" sz="2200" dirty="0" err="1"/>
              <a:t>without</a:t>
            </a:r>
            <a:r>
              <a:rPr lang="sv-SE" sz="2200" dirty="0"/>
              <a:t> </a:t>
            </a:r>
            <a:r>
              <a:rPr lang="sv-SE" sz="2200" dirty="0" err="1"/>
              <a:t>having</a:t>
            </a:r>
            <a:r>
              <a:rPr lang="sv-SE" sz="2200" dirty="0"/>
              <a:t> </a:t>
            </a:r>
            <a:r>
              <a:rPr lang="sv-SE" sz="2200" dirty="0" err="1"/>
              <a:t>any</a:t>
            </a:r>
            <a:r>
              <a:rPr lang="sv-SE" sz="2200" dirty="0"/>
              <a:t> </a:t>
            </a:r>
            <a:r>
              <a:rPr lang="sv-SE" sz="2200" dirty="0" err="1"/>
              <a:t>idea</a:t>
            </a:r>
            <a:r>
              <a:rPr lang="sv-SE" sz="2200" dirty="0"/>
              <a:t> </a:t>
            </a:r>
            <a:r>
              <a:rPr lang="sv-SE" sz="2200" dirty="0" err="1"/>
              <a:t>what</a:t>
            </a:r>
            <a:r>
              <a:rPr lang="sv-SE" sz="2200" dirty="0"/>
              <a:t> </a:t>
            </a:r>
            <a:r>
              <a:rPr lang="sv-SE" sz="2200" dirty="0" err="1"/>
              <a:t>they</a:t>
            </a:r>
            <a:r>
              <a:rPr lang="sv-SE" sz="2200" dirty="0"/>
              <a:t> </a:t>
            </a:r>
            <a:r>
              <a:rPr lang="sv-SE" sz="2200" dirty="0" err="1"/>
              <a:t>did</a:t>
            </a:r>
            <a:r>
              <a:rPr lang="sv-SE" sz="2200" dirty="0"/>
              <a:t>)</a:t>
            </a:r>
          </a:p>
          <a:p>
            <a:endParaRPr lang="sv-SE" sz="2200" dirty="0"/>
          </a:p>
          <a:p>
            <a:pPr marL="0" indent="0">
              <a:buNone/>
            </a:pPr>
            <a:endParaRPr lang="sv-SE" sz="2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2BBB67-4EA5-5D07-2160-F9C0DF0E23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2" b="-3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7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C4080-874F-2EA6-8519-8C5D4A77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en-GB" sz="2800"/>
              <a:t>But by all means, do figure out what some of the settings mean</a:t>
            </a:r>
            <a:endParaRPr lang="LID4096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80AD-D393-AD48-2B8D-AAECE8242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3908586"/>
          </a:xfrm>
        </p:spPr>
        <p:txBody>
          <a:bodyPr>
            <a:normAutofit/>
          </a:bodyPr>
          <a:lstStyle/>
          <a:p>
            <a:r>
              <a:rPr lang="en-GB" sz="2000" dirty="0"/>
              <a:t>Default settings, they suck</a:t>
            </a:r>
          </a:p>
          <a:p>
            <a:r>
              <a:rPr lang="en-GB" sz="2000" dirty="0"/>
              <a:t>Look at MAXDOP</a:t>
            </a:r>
          </a:p>
          <a:p>
            <a:r>
              <a:rPr lang="en-GB" sz="2000" dirty="0"/>
              <a:t>Look at Cost Threshold for parallelism</a:t>
            </a:r>
          </a:p>
          <a:p>
            <a:r>
              <a:rPr lang="en-GB" sz="2000" dirty="0"/>
              <a:t>Look at auto growth settings</a:t>
            </a:r>
          </a:p>
          <a:p>
            <a:r>
              <a:rPr lang="en-GB" sz="2000" dirty="0"/>
              <a:t>Call someone who knows!</a:t>
            </a:r>
            <a:endParaRPr lang="LID4096" sz="2000" dirty="0"/>
          </a:p>
        </p:txBody>
      </p:sp>
      <p:pic>
        <p:nvPicPr>
          <p:cNvPr id="3074" name="Picture 2" descr="an IT-technician happily finishing a next-next-next-installation of software">
            <a:extLst>
              <a:ext uri="{FF2B5EF4-FFF2-40B4-BE49-F238E27FC236}">
                <a16:creationId xmlns:a16="http://schemas.microsoft.com/office/drawing/2014/main" id="{98135397-FBC5-33C1-D1D6-C18668D88D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329"/>
          <a:stretch/>
        </p:blipFill>
        <p:spPr bwMode="auto"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24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0CC4C72-5F75-8BBD-CEB9-91FF8949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sv-SE" sz="3700"/>
              <a:t>.NET </a:t>
            </a:r>
            <a:r>
              <a:rPr lang="sv-SE" sz="3700" err="1"/>
              <a:t>developers</a:t>
            </a:r>
            <a:r>
              <a:rPr lang="sv-SE" sz="3700"/>
              <a:t> </a:t>
            </a:r>
            <a:r>
              <a:rPr lang="sv-SE" sz="3700" err="1"/>
              <a:t>use</a:t>
            </a:r>
            <a:r>
              <a:rPr lang="sv-SE" sz="3700"/>
              <a:t> </a:t>
            </a:r>
            <a:r>
              <a:rPr lang="sv-SE" sz="3700" err="1"/>
              <a:t>git</a:t>
            </a:r>
            <a:r>
              <a:rPr lang="sv-SE" sz="3700"/>
              <a:t> and pipelines. </a:t>
            </a:r>
            <a:r>
              <a:rPr lang="sv-SE" sz="3700" err="1"/>
              <a:t>Databases</a:t>
            </a:r>
            <a:r>
              <a:rPr lang="sv-SE" sz="3700"/>
              <a:t> </a:t>
            </a:r>
            <a:r>
              <a:rPr lang="sv-SE" sz="3700" err="1"/>
              <a:t>are</a:t>
            </a:r>
            <a:r>
              <a:rPr lang="sv-SE" sz="3700"/>
              <a:t> different, right?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DDBA883-2636-1608-7418-AEBB3030B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 fontScale="77500" lnSpcReduction="20000"/>
          </a:bodyPr>
          <a:lstStyle/>
          <a:p>
            <a:r>
              <a:rPr lang="sv-SE" sz="2000" dirty="0"/>
              <a:t>NOOOOOOOOOO</a:t>
            </a:r>
          </a:p>
          <a:p>
            <a:r>
              <a:rPr lang="sv-SE" sz="2000" dirty="0"/>
              <a:t>If </a:t>
            </a:r>
            <a:r>
              <a:rPr lang="sv-SE" sz="2000" dirty="0" err="1"/>
              <a:t>you</a:t>
            </a:r>
            <a:r>
              <a:rPr lang="sv-SE" sz="2000" dirty="0"/>
              <a:t> </a:t>
            </a:r>
            <a:r>
              <a:rPr lang="sv-SE" sz="2000" dirty="0" err="1"/>
              <a:t>write</a:t>
            </a:r>
            <a:r>
              <a:rPr lang="sv-SE" sz="2000" dirty="0"/>
              <a:t> </a:t>
            </a:r>
            <a:r>
              <a:rPr lang="sv-SE" sz="2000" dirty="0" err="1"/>
              <a:t>database</a:t>
            </a:r>
            <a:r>
              <a:rPr lang="sv-SE" sz="2000" dirty="0"/>
              <a:t> </a:t>
            </a:r>
            <a:r>
              <a:rPr lang="sv-SE" sz="2000" dirty="0" err="1"/>
              <a:t>code</a:t>
            </a:r>
            <a:r>
              <a:rPr lang="sv-SE" sz="2000" dirty="0"/>
              <a:t>, </a:t>
            </a:r>
            <a:r>
              <a:rPr lang="sv-SE" sz="2000" dirty="0" err="1"/>
              <a:t>you</a:t>
            </a:r>
            <a:r>
              <a:rPr lang="sv-SE" sz="2000" dirty="0"/>
              <a:t> </a:t>
            </a:r>
            <a:r>
              <a:rPr lang="sv-SE" sz="2000" dirty="0" err="1"/>
              <a:t>are</a:t>
            </a:r>
            <a:r>
              <a:rPr lang="sv-SE" sz="2000" dirty="0"/>
              <a:t> a </a:t>
            </a:r>
            <a:r>
              <a:rPr lang="sv-SE" sz="2000" dirty="0" err="1"/>
              <a:t>developer</a:t>
            </a:r>
            <a:r>
              <a:rPr lang="sv-SE" sz="2000" dirty="0"/>
              <a:t>.</a:t>
            </a:r>
          </a:p>
          <a:p>
            <a:r>
              <a:rPr lang="sv-SE" sz="2000" dirty="0" err="1"/>
              <a:t>Code</a:t>
            </a:r>
            <a:r>
              <a:rPr lang="sv-SE" sz="2000" dirty="0"/>
              <a:t> goes </a:t>
            </a:r>
            <a:r>
              <a:rPr lang="sv-SE" sz="2000" dirty="0" err="1"/>
              <a:t>into</a:t>
            </a:r>
            <a:r>
              <a:rPr lang="sv-SE" sz="2000" dirty="0"/>
              <a:t> </a:t>
            </a:r>
            <a:r>
              <a:rPr lang="sv-SE" sz="2000" dirty="0" err="1"/>
              <a:t>git</a:t>
            </a:r>
            <a:r>
              <a:rPr lang="sv-SE" sz="2000" dirty="0"/>
              <a:t>. Not </a:t>
            </a:r>
            <a:r>
              <a:rPr lang="sv-SE" sz="2000" dirty="0" err="1"/>
              <a:t>into</a:t>
            </a:r>
            <a:r>
              <a:rPr lang="sv-SE" sz="2000" dirty="0"/>
              <a:t> </a:t>
            </a:r>
            <a:r>
              <a:rPr lang="sv-SE" sz="2000" dirty="0" err="1"/>
              <a:t>your</a:t>
            </a:r>
            <a:r>
              <a:rPr lang="sv-SE" sz="2000" dirty="0"/>
              <a:t> </a:t>
            </a:r>
            <a:r>
              <a:rPr lang="sv-SE" sz="2000" dirty="0" err="1"/>
              <a:t>OneDrive</a:t>
            </a:r>
            <a:r>
              <a:rPr lang="sv-SE" sz="2000" dirty="0"/>
              <a:t>. Not </a:t>
            </a:r>
            <a:r>
              <a:rPr lang="sv-SE" sz="2000" dirty="0" err="1"/>
              <a:t>into</a:t>
            </a:r>
            <a:r>
              <a:rPr lang="sv-SE" sz="2000" dirty="0"/>
              <a:t> an e-mail </a:t>
            </a:r>
            <a:r>
              <a:rPr lang="sv-SE" sz="2000" dirty="0" err="1"/>
              <a:t>thread</a:t>
            </a:r>
            <a:r>
              <a:rPr lang="sv-SE" sz="2000" dirty="0"/>
              <a:t>.</a:t>
            </a:r>
          </a:p>
          <a:p>
            <a:r>
              <a:rPr lang="sv-SE" sz="2000" dirty="0"/>
              <a:t>If </a:t>
            </a:r>
            <a:r>
              <a:rPr lang="sv-SE" sz="2000" dirty="0" err="1"/>
              <a:t>this</a:t>
            </a:r>
            <a:r>
              <a:rPr lang="sv-SE" sz="2000" dirty="0"/>
              <a:t> </a:t>
            </a:r>
            <a:r>
              <a:rPr lang="sv-SE" sz="2000" dirty="0" err="1"/>
              <a:t>database</a:t>
            </a:r>
            <a:r>
              <a:rPr lang="sv-SE" sz="2000" dirty="0"/>
              <a:t> </a:t>
            </a:r>
            <a:r>
              <a:rPr lang="sv-SE" sz="2000" dirty="0" err="1"/>
              <a:t>code</a:t>
            </a:r>
            <a:r>
              <a:rPr lang="sv-SE" sz="2000" dirty="0"/>
              <a:t> </a:t>
            </a:r>
            <a:r>
              <a:rPr lang="sv-SE" sz="2000" dirty="0" err="1"/>
              <a:t>happens</a:t>
            </a:r>
            <a:r>
              <a:rPr lang="sv-SE" sz="2000" dirty="0"/>
              <a:t> to be DBA-</a:t>
            </a:r>
            <a:r>
              <a:rPr lang="sv-SE" sz="2000" dirty="0" err="1"/>
              <a:t>thingamajigs</a:t>
            </a:r>
            <a:r>
              <a:rPr lang="sv-SE" sz="2000" dirty="0"/>
              <a:t>, IT IS STILL CODE. </a:t>
            </a:r>
            <a:r>
              <a:rPr lang="sv-SE" sz="2000" dirty="0" err="1"/>
              <a:t>Code</a:t>
            </a:r>
            <a:r>
              <a:rPr lang="sv-SE" sz="2000" dirty="0"/>
              <a:t> goes </a:t>
            </a:r>
            <a:r>
              <a:rPr lang="sv-SE" sz="2000" dirty="0" err="1"/>
              <a:t>into</a:t>
            </a:r>
            <a:r>
              <a:rPr lang="sv-SE" sz="2000" dirty="0"/>
              <a:t> </a:t>
            </a:r>
            <a:r>
              <a:rPr lang="sv-SE" sz="2000" dirty="0" err="1"/>
              <a:t>git</a:t>
            </a:r>
            <a:r>
              <a:rPr lang="sv-SE" sz="2000" dirty="0"/>
              <a:t>.</a:t>
            </a:r>
          </a:p>
          <a:p>
            <a:pPr lvl="1"/>
            <a:r>
              <a:rPr lang="sv-SE" sz="1600" dirty="0"/>
              <a:t>(Or </a:t>
            </a:r>
            <a:r>
              <a:rPr lang="sv-SE" sz="1600" dirty="0" err="1"/>
              <a:t>svn</a:t>
            </a:r>
            <a:r>
              <a:rPr lang="sv-SE" sz="1600" dirty="0"/>
              <a:t> or </a:t>
            </a:r>
            <a:r>
              <a:rPr lang="sv-SE" sz="1600" dirty="0" err="1"/>
              <a:t>whatever</a:t>
            </a:r>
            <a:r>
              <a:rPr lang="sv-SE" sz="1600" dirty="0"/>
              <a:t> source </a:t>
            </a:r>
            <a:r>
              <a:rPr lang="sv-SE" sz="1600" dirty="0" err="1"/>
              <a:t>control</a:t>
            </a:r>
            <a:r>
              <a:rPr lang="sv-SE" sz="1600" dirty="0"/>
              <a:t> system </a:t>
            </a:r>
            <a:r>
              <a:rPr lang="sv-SE" sz="1600" dirty="0" err="1"/>
              <a:t>you</a:t>
            </a:r>
            <a:r>
              <a:rPr lang="sv-SE" sz="1600" dirty="0"/>
              <a:t> </a:t>
            </a:r>
            <a:r>
              <a:rPr lang="sv-SE" sz="1600" dirty="0" err="1"/>
              <a:t>use</a:t>
            </a:r>
            <a:r>
              <a:rPr lang="sv-SE" sz="1600" dirty="0"/>
              <a:t>.</a:t>
            </a:r>
          </a:p>
          <a:p>
            <a:r>
              <a:rPr lang="sv-SE" sz="2000" dirty="0" err="1"/>
              <a:t>Deploy</a:t>
            </a:r>
            <a:r>
              <a:rPr lang="sv-SE" sz="2000" dirty="0"/>
              <a:t> </a:t>
            </a:r>
            <a:r>
              <a:rPr lang="sv-SE" sz="2000" dirty="0" err="1"/>
              <a:t>code</a:t>
            </a:r>
            <a:r>
              <a:rPr lang="sv-SE" sz="2000" dirty="0"/>
              <a:t> </a:t>
            </a:r>
            <a:r>
              <a:rPr lang="sv-SE" sz="2000" dirty="0" err="1"/>
              <a:t>using</a:t>
            </a:r>
            <a:r>
              <a:rPr lang="sv-SE" sz="2000" dirty="0"/>
              <a:t> </a:t>
            </a:r>
            <a:r>
              <a:rPr lang="sv-SE" sz="2000" dirty="0" err="1"/>
              <a:t>deployment</a:t>
            </a:r>
            <a:r>
              <a:rPr lang="sv-SE" sz="2000" dirty="0"/>
              <a:t> </a:t>
            </a:r>
            <a:r>
              <a:rPr lang="sv-SE" sz="2000" dirty="0" err="1"/>
              <a:t>tools</a:t>
            </a:r>
            <a:r>
              <a:rPr lang="sv-SE" sz="2000" dirty="0"/>
              <a:t>. </a:t>
            </a:r>
            <a:r>
              <a:rPr lang="sv-SE" sz="2000" dirty="0" err="1"/>
              <a:t>Database</a:t>
            </a:r>
            <a:r>
              <a:rPr lang="sv-SE" sz="2000" dirty="0"/>
              <a:t> </a:t>
            </a:r>
            <a:r>
              <a:rPr lang="sv-SE" sz="2000" dirty="0" err="1"/>
              <a:t>code</a:t>
            </a:r>
            <a:r>
              <a:rPr lang="sv-SE" sz="2000" dirty="0"/>
              <a:t> </a:t>
            </a:r>
            <a:r>
              <a:rPr lang="sv-SE" sz="2000" dirty="0" err="1"/>
              <a:t>too</a:t>
            </a:r>
            <a:r>
              <a:rPr lang="sv-SE" sz="2000" dirty="0"/>
              <a:t>.</a:t>
            </a:r>
          </a:p>
          <a:p>
            <a:r>
              <a:rPr lang="sv-SE" sz="2000" dirty="0"/>
              <a:t>If </a:t>
            </a:r>
            <a:r>
              <a:rPr lang="sv-SE" sz="2000" dirty="0" err="1"/>
              <a:t>you</a:t>
            </a:r>
            <a:r>
              <a:rPr lang="sv-SE" sz="2000" dirty="0"/>
              <a:t> as a DBA </a:t>
            </a:r>
            <a:r>
              <a:rPr lang="sv-SE" sz="2000" dirty="0" err="1"/>
              <a:t>create</a:t>
            </a:r>
            <a:r>
              <a:rPr lang="sv-SE" sz="2000" dirty="0"/>
              <a:t> a </a:t>
            </a:r>
            <a:r>
              <a:rPr lang="sv-SE" sz="2000" dirty="0" err="1"/>
              <a:t>utility</a:t>
            </a:r>
            <a:r>
              <a:rPr lang="sv-SE" sz="2000" dirty="0"/>
              <a:t> </a:t>
            </a:r>
            <a:r>
              <a:rPr lang="sv-SE" sz="2000" dirty="0" err="1"/>
              <a:t>database</a:t>
            </a:r>
            <a:r>
              <a:rPr lang="sv-SE" sz="2000" dirty="0"/>
              <a:t> </a:t>
            </a:r>
            <a:r>
              <a:rPr lang="sv-SE" sz="2000" dirty="0" err="1"/>
              <a:t>that</a:t>
            </a:r>
            <a:r>
              <a:rPr lang="sv-SE" sz="2000" dirty="0"/>
              <a:t> </a:t>
            </a:r>
            <a:r>
              <a:rPr lang="sv-SE" sz="2000" dirty="0" err="1"/>
              <a:t>only</a:t>
            </a:r>
            <a:r>
              <a:rPr lang="sv-SE" sz="2000" dirty="0"/>
              <a:t> </a:t>
            </a:r>
            <a:r>
              <a:rPr lang="sv-SE" sz="2000" dirty="0" err="1"/>
              <a:t>DBAs</a:t>
            </a:r>
            <a:r>
              <a:rPr lang="sv-SE" sz="2000" dirty="0"/>
              <a:t> </a:t>
            </a:r>
            <a:r>
              <a:rPr lang="sv-SE" sz="2000" dirty="0" err="1"/>
              <a:t>ever</a:t>
            </a:r>
            <a:r>
              <a:rPr lang="sv-SE" sz="2000" dirty="0"/>
              <a:t> </a:t>
            </a:r>
            <a:r>
              <a:rPr lang="sv-SE" sz="2000" dirty="0" err="1"/>
              <a:t>use</a:t>
            </a:r>
            <a:r>
              <a:rPr lang="sv-SE" sz="2000" dirty="0"/>
              <a:t>, </a:t>
            </a:r>
            <a:r>
              <a:rPr lang="sv-SE" sz="2000" dirty="0" err="1"/>
              <a:t>that</a:t>
            </a:r>
            <a:r>
              <a:rPr lang="sv-SE" sz="2000" dirty="0"/>
              <a:t> is still a </a:t>
            </a:r>
            <a:r>
              <a:rPr lang="sv-SE" sz="2000" dirty="0" err="1"/>
              <a:t>user</a:t>
            </a:r>
            <a:r>
              <a:rPr lang="sv-SE" sz="2000" dirty="0"/>
              <a:t> </a:t>
            </a:r>
            <a:r>
              <a:rPr lang="sv-SE" sz="2000" dirty="0" err="1"/>
              <a:t>database</a:t>
            </a:r>
            <a:r>
              <a:rPr lang="sv-SE" sz="2000" dirty="0"/>
              <a:t>.</a:t>
            </a:r>
          </a:p>
          <a:p>
            <a:pPr lvl="1"/>
            <a:r>
              <a:rPr lang="sv-SE" sz="1600" dirty="0"/>
              <a:t>Test </a:t>
            </a:r>
            <a:r>
              <a:rPr lang="sv-SE" sz="1600" dirty="0" err="1"/>
              <a:t>code</a:t>
            </a:r>
            <a:r>
              <a:rPr lang="sv-SE" sz="1600" dirty="0"/>
              <a:t> </a:t>
            </a:r>
            <a:r>
              <a:rPr lang="sv-SE" sz="1600" dirty="0" err="1"/>
              <a:t>before</a:t>
            </a:r>
            <a:r>
              <a:rPr lang="sv-SE" sz="1600" dirty="0"/>
              <a:t> </a:t>
            </a:r>
            <a:r>
              <a:rPr lang="sv-SE" sz="1600" dirty="0" err="1"/>
              <a:t>deploying</a:t>
            </a:r>
            <a:r>
              <a:rPr lang="sv-SE" sz="1600" dirty="0"/>
              <a:t> to </a:t>
            </a:r>
            <a:r>
              <a:rPr lang="sv-SE" sz="1600" dirty="0" err="1"/>
              <a:t>production</a:t>
            </a:r>
            <a:endParaRPr lang="sv-SE" sz="1600" dirty="0"/>
          </a:p>
          <a:p>
            <a:pPr lvl="1"/>
            <a:r>
              <a:rPr lang="sv-SE" sz="1600" dirty="0" err="1"/>
              <a:t>Deploy</a:t>
            </a:r>
            <a:r>
              <a:rPr lang="sv-SE" sz="1600" dirty="0"/>
              <a:t> </a:t>
            </a:r>
            <a:r>
              <a:rPr lang="sv-SE" sz="1600" dirty="0" err="1"/>
              <a:t>using</a:t>
            </a:r>
            <a:r>
              <a:rPr lang="sv-SE" sz="1600" dirty="0"/>
              <a:t> standard </a:t>
            </a:r>
            <a:r>
              <a:rPr lang="sv-SE" sz="1600" dirty="0" err="1"/>
              <a:t>deployment</a:t>
            </a:r>
            <a:r>
              <a:rPr lang="sv-SE" sz="1600" dirty="0"/>
              <a:t> </a:t>
            </a:r>
            <a:r>
              <a:rPr lang="sv-SE" sz="1600" dirty="0" err="1"/>
              <a:t>methods</a:t>
            </a:r>
            <a:r>
              <a:rPr lang="sv-SE" sz="1600" dirty="0"/>
              <a:t> (I </a:t>
            </a:r>
            <a:r>
              <a:rPr lang="sv-SE" sz="1600" dirty="0" err="1"/>
              <a:t>prefer</a:t>
            </a:r>
            <a:r>
              <a:rPr lang="sv-SE" sz="1600" dirty="0"/>
              <a:t> </a:t>
            </a:r>
            <a:r>
              <a:rPr lang="sv-SE" sz="1600" dirty="0" err="1"/>
              <a:t>database</a:t>
            </a:r>
            <a:r>
              <a:rPr lang="sv-SE" sz="1600" dirty="0"/>
              <a:t> </a:t>
            </a:r>
            <a:r>
              <a:rPr lang="sv-SE" sz="1600" dirty="0" err="1"/>
              <a:t>projects</a:t>
            </a:r>
            <a:r>
              <a:rPr lang="sv-SE" sz="1600" dirty="0"/>
              <a:t>, </a:t>
            </a:r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prefer</a:t>
            </a:r>
            <a:r>
              <a:rPr lang="sv-SE" sz="1600" dirty="0"/>
              <a:t> migrations </a:t>
            </a:r>
            <a:r>
              <a:rPr lang="sv-SE" sz="1600" dirty="0" err="1"/>
              <a:t>based</a:t>
            </a:r>
            <a:r>
              <a:rPr lang="sv-SE" sz="1600" dirty="0"/>
              <a:t> </a:t>
            </a:r>
            <a:r>
              <a:rPr lang="sv-SE" sz="1600" dirty="0" err="1"/>
              <a:t>tools</a:t>
            </a:r>
            <a:r>
              <a:rPr lang="sv-SE" sz="1600" dirty="0"/>
              <a:t> like </a:t>
            </a:r>
            <a:r>
              <a:rPr lang="sv-SE" sz="1600" dirty="0" err="1"/>
              <a:t>Flyway</a:t>
            </a:r>
            <a:r>
              <a:rPr lang="sv-SE" sz="1600" dirty="0"/>
              <a:t> </a:t>
            </a:r>
            <a:r>
              <a:rPr lang="sv-SE" sz="1600" dirty="0" err="1"/>
              <a:t>etc</a:t>
            </a:r>
            <a:r>
              <a:rPr lang="sv-SE" sz="1600" dirty="0"/>
              <a:t>)</a:t>
            </a:r>
          </a:p>
        </p:txBody>
      </p:sp>
      <p:pic>
        <p:nvPicPr>
          <p:cNvPr id="3074" name="Picture 2" descr="an overworked DBA deploying directly to production">
            <a:extLst>
              <a:ext uri="{FF2B5EF4-FFF2-40B4-BE49-F238E27FC236}">
                <a16:creationId xmlns:a16="http://schemas.microsoft.com/office/drawing/2014/main" id="{9125AC9A-34F2-3A6D-8FFB-EDD2D7D5A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54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8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n bild som visar inomhus, klädsel, person, möbler&#10;&#10;Automatiskt genererad beskrivning">
            <a:extLst>
              <a:ext uri="{FF2B5EF4-FFF2-40B4-BE49-F238E27FC236}">
                <a16:creationId xmlns:a16="http://schemas.microsoft.com/office/drawing/2014/main" id="{C3AC07DD-5280-D520-A2FA-44A5B832C2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79" r="9089" b="-2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97D046C-8378-99B4-92AE-619EA6DF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Test environments – build them, use them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9C3B7A-DB97-0C2B-874B-AF6CB3588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This is when Magnus tells you about when he went from working with databases to becoming a DBA.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06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Widescreen</PresentationFormat>
  <Paragraphs>118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Oswald</vt:lpstr>
      <vt:lpstr>Office Theme</vt:lpstr>
      <vt:lpstr>1_Office Theme</vt:lpstr>
      <vt:lpstr>SQL Server Worst Practices</vt:lpstr>
      <vt:lpstr>PowerPoint Presentation</vt:lpstr>
      <vt:lpstr>Developer oriented</vt:lpstr>
      <vt:lpstr>Bring your C# knowledge into your T-SQL programming</vt:lpstr>
      <vt:lpstr>Be in total control</vt:lpstr>
      <vt:lpstr>Demo</vt:lpstr>
      <vt:lpstr>Naming conventions are great. </vt:lpstr>
      <vt:lpstr>No, maybe not.</vt:lpstr>
      <vt:lpstr>Unreadable code</vt:lpstr>
      <vt:lpstr>There once was a young(ish) developer</vt:lpstr>
      <vt:lpstr>Don’t let your databases grow out of control</vt:lpstr>
      <vt:lpstr>Some shrink actions you should take on a regular basis</vt:lpstr>
      <vt:lpstr>Taking backups is pretty cool.</vt:lpstr>
      <vt:lpstr>Demo</vt:lpstr>
      <vt:lpstr>But Magnus, that would never happen in a ”real shop”, right?</vt:lpstr>
      <vt:lpstr>If you don’t know, don’t change</vt:lpstr>
      <vt:lpstr>But by all means, do figure out what some of the settings mean</vt:lpstr>
      <vt:lpstr>.NET developers use git and pipelines. Databases are different, right?</vt:lpstr>
      <vt:lpstr>Test environments – build them, use them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Magnus Ahlkvist</dc:creator>
  <cp:lastModifiedBy>Magnus Ahlkvist</cp:lastModifiedBy>
  <cp:revision>21</cp:revision>
  <dcterms:created xsi:type="dcterms:W3CDTF">2024-04-18T18:52:54Z</dcterms:created>
  <dcterms:modified xsi:type="dcterms:W3CDTF">2025-10-17T09:41:49Z</dcterms:modified>
</cp:coreProperties>
</file>